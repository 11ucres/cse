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notesMasterIdLst>
    <p:notesMasterId r:id="rId75"/>
  </p:notesMasterIdLst>
  <p:sldIdLst>
    <p:sldId id="256" r:id="rId2"/>
    <p:sldId id="258" r:id="rId3"/>
    <p:sldId id="257"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6" r:id="rId21"/>
    <p:sldId id="277" r:id="rId22"/>
    <p:sldId id="279" r:id="rId23"/>
    <p:sldId id="278" r:id="rId24"/>
    <p:sldId id="280" r:id="rId25"/>
    <p:sldId id="281" r:id="rId26"/>
    <p:sldId id="282" r:id="rId27"/>
    <p:sldId id="283" r:id="rId28"/>
    <p:sldId id="284" r:id="rId29"/>
    <p:sldId id="285" r:id="rId30"/>
    <p:sldId id="286" r:id="rId31"/>
    <p:sldId id="287" r:id="rId32"/>
    <p:sldId id="288" r:id="rId33"/>
    <p:sldId id="289" r:id="rId34"/>
    <p:sldId id="290" r:id="rId35"/>
    <p:sldId id="291" r:id="rId36"/>
    <p:sldId id="292" r:id="rId37"/>
    <p:sldId id="293" r:id="rId38"/>
    <p:sldId id="295" r:id="rId39"/>
    <p:sldId id="332" r:id="rId40"/>
    <p:sldId id="294" r:id="rId41"/>
    <p:sldId id="296" r:id="rId42"/>
    <p:sldId id="297" r:id="rId43"/>
    <p:sldId id="323" r:id="rId44"/>
    <p:sldId id="326" r:id="rId45"/>
    <p:sldId id="324" r:id="rId46"/>
    <p:sldId id="327" r:id="rId47"/>
    <p:sldId id="325" r:id="rId48"/>
    <p:sldId id="298" r:id="rId49"/>
    <p:sldId id="299" r:id="rId50"/>
    <p:sldId id="300" r:id="rId51"/>
    <p:sldId id="301" r:id="rId52"/>
    <p:sldId id="304" r:id="rId53"/>
    <p:sldId id="305" r:id="rId54"/>
    <p:sldId id="330" r:id="rId55"/>
    <p:sldId id="306" r:id="rId56"/>
    <p:sldId id="307" r:id="rId57"/>
    <p:sldId id="309" r:id="rId58"/>
    <p:sldId id="310" r:id="rId59"/>
    <p:sldId id="311" r:id="rId60"/>
    <p:sldId id="312" r:id="rId61"/>
    <p:sldId id="313" r:id="rId62"/>
    <p:sldId id="314" r:id="rId63"/>
    <p:sldId id="315" r:id="rId64"/>
    <p:sldId id="316" r:id="rId65"/>
    <p:sldId id="317" r:id="rId66"/>
    <p:sldId id="318" r:id="rId67"/>
    <p:sldId id="319" r:id="rId68"/>
    <p:sldId id="320" r:id="rId69"/>
    <p:sldId id="321" r:id="rId70"/>
    <p:sldId id="328" r:id="rId71"/>
    <p:sldId id="329" r:id="rId72"/>
    <p:sldId id="331" r:id="rId73"/>
    <p:sldId id="322" r:id="rId74"/>
  </p:sldIdLst>
  <p:sldSz cx="12192000" cy="6858000"/>
  <p:notesSz cx="7315200" cy="96012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1338" autoAdjust="0"/>
    <p:restoredTop sz="94660"/>
  </p:normalViewPr>
  <p:slideViewPr>
    <p:cSldViewPr snapToGrid="0">
      <p:cViewPr varScale="1">
        <p:scale>
          <a:sx n="85" d="100"/>
          <a:sy n="85" d="100"/>
        </p:scale>
        <p:origin x="758"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slide" Target="slides/slide67.xml"/><Relationship Id="rId76" Type="http://schemas.openxmlformats.org/officeDocument/2006/relationships/presProps" Target="presProps.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tableStyles" Target="tableStyles.xml"/><Relationship Id="rId5" Type="http://schemas.openxmlformats.org/officeDocument/2006/relationships/slide" Target="slides/slide4.xml"/><Relationship Id="rId61" Type="http://schemas.openxmlformats.org/officeDocument/2006/relationships/slide" Target="slides/slide60.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169920" cy="481727"/>
          </a:xfrm>
          <a:prstGeom prst="rect">
            <a:avLst/>
          </a:prstGeom>
        </p:spPr>
        <p:txBody>
          <a:bodyPr vert="horz" lIns="96661" tIns="48331" rIns="96661" bIns="48331" rtlCol="0"/>
          <a:lstStyle>
            <a:lvl1pPr algn="l">
              <a:defRPr sz="1300"/>
            </a:lvl1pPr>
          </a:lstStyle>
          <a:p>
            <a:endParaRPr lang="en-US"/>
          </a:p>
        </p:txBody>
      </p:sp>
      <p:sp>
        <p:nvSpPr>
          <p:cNvPr id="3" name="Date Placeholder 2"/>
          <p:cNvSpPr>
            <a:spLocks noGrp="1"/>
          </p:cNvSpPr>
          <p:nvPr>
            <p:ph type="dt" idx="1"/>
          </p:nvPr>
        </p:nvSpPr>
        <p:spPr>
          <a:xfrm>
            <a:off x="4143587" y="0"/>
            <a:ext cx="3169920" cy="481727"/>
          </a:xfrm>
          <a:prstGeom prst="rect">
            <a:avLst/>
          </a:prstGeom>
        </p:spPr>
        <p:txBody>
          <a:bodyPr vert="horz" lIns="96661" tIns="48331" rIns="96661" bIns="48331" rtlCol="0"/>
          <a:lstStyle>
            <a:lvl1pPr algn="r">
              <a:defRPr sz="1300"/>
            </a:lvl1pPr>
          </a:lstStyle>
          <a:p>
            <a:fld id="{0B46EAF0-859B-4A70-9E6B-A9BBF9F53CD8}" type="datetimeFigureOut">
              <a:rPr lang="en-US" smtClean="0"/>
              <a:t>03-Apr-26</a:t>
            </a:fld>
            <a:endParaRPr lang="en-US"/>
          </a:p>
        </p:txBody>
      </p:sp>
      <p:sp>
        <p:nvSpPr>
          <p:cNvPr id="4" name="Slide Image Placeholder 3"/>
          <p:cNvSpPr>
            <a:spLocks noGrp="1" noRot="1" noChangeAspect="1"/>
          </p:cNvSpPr>
          <p:nvPr>
            <p:ph type="sldImg" idx="2"/>
          </p:nvPr>
        </p:nvSpPr>
        <p:spPr>
          <a:xfrm>
            <a:off x="777875" y="1200150"/>
            <a:ext cx="5759450" cy="3240088"/>
          </a:xfrm>
          <a:prstGeom prst="rect">
            <a:avLst/>
          </a:prstGeom>
          <a:noFill/>
          <a:ln w="12700">
            <a:solidFill>
              <a:prstClr val="black"/>
            </a:solidFill>
          </a:ln>
        </p:spPr>
        <p:txBody>
          <a:bodyPr vert="horz" lIns="96661" tIns="48331" rIns="96661" bIns="48331" rtlCol="0" anchor="ctr"/>
          <a:lstStyle/>
          <a:p>
            <a:endParaRPr lang="en-US"/>
          </a:p>
        </p:txBody>
      </p:sp>
      <p:sp>
        <p:nvSpPr>
          <p:cNvPr id="5" name="Notes Placeholder 4"/>
          <p:cNvSpPr>
            <a:spLocks noGrp="1"/>
          </p:cNvSpPr>
          <p:nvPr>
            <p:ph type="body" sz="quarter" idx="3"/>
          </p:nvPr>
        </p:nvSpPr>
        <p:spPr>
          <a:xfrm>
            <a:off x="731520" y="4620577"/>
            <a:ext cx="5852160" cy="3780473"/>
          </a:xfrm>
          <a:prstGeom prst="rect">
            <a:avLst/>
          </a:prstGeom>
        </p:spPr>
        <p:txBody>
          <a:bodyPr vert="horz" lIns="96661" tIns="48331" rIns="96661" bIns="48331"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9119474"/>
            <a:ext cx="3169920" cy="481726"/>
          </a:xfrm>
          <a:prstGeom prst="rect">
            <a:avLst/>
          </a:prstGeom>
        </p:spPr>
        <p:txBody>
          <a:bodyPr vert="horz" lIns="96661" tIns="48331" rIns="96661" bIns="48331" rtlCol="0" anchor="b"/>
          <a:lstStyle>
            <a:lvl1pPr algn="l">
              <a:defRPr sz="1300"/>
            </a:lvl1pPr>
          </a:lstStyle>
          <a:p>
            <a:endParaRPr lang="en-US"/>
          </a:p>
        </p:txBody>
      </p:sp>
      <p:sp>
        <p:nvSpPr>
          <p:cNvPr id="7" name="Slide Number Placeholder 6"/>
          <p:cNvSpPr>
            <a:spLocks noGrp="1"/>
          </p:cNvSpPr>
          <p:nvPr>
            <p:ph type="sldNum" sz="quarter" idx="5"/>
          </p:nvPr>
        </p:nvSpPr>
        <p:spPr>
          <a:xfrm>
            <a:off x="4143587" y="9119474"/>
            <a:ext cx="3169920" cy="481726"/>
          </a:xfrm>
          <a:prstGeom prst="rect">
            <a:avLst/>
          </a:prstGeom>
        </p:spPr>
        <p:txBody>
          <a:bodyPr vert="horz" lIns="96661" tIns="48331" rIns="96661" bIns="48331" rtlCol="0" anchor="b"/>
          <a:lstStyle>
            <a:lvl1pPr algn="r">
              <a:defRPr sz="1300"/>
            </a:lvl1pPr>
          </a:lstStyle>
          <a:p>
            <a:fld id="{6A0EAACB-4B68-4EA7-A0F8-376C1878F797}" type="slidenum">
              <a:rPr lang="en-US" smtClean="0"/>
              <a:t>‹#›</a:t>
            </a:fld>
            <a:endParaRPr lang="en-US"/>
          </a:p>
        </p:txBody>
      </p:sp>
    </p:spTree>
    <p:extLst>
      <p:ext uri="{BB962C8B-B14F-4D97-AF65-F5344CB8AC3E}">
        <p14:creationId xmlns:p14="http://schemas.microsoft.com/office/powerpoint/2010/main" val="60935141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6A0EAACB-4B68-4EA7-A0F8-376C1878F797}" type="slidenum">
              <a:rPr lang="en-US" smtClean="0"/>
              <a:t>1</a:t>
            </a:fld>
            <a:endParaRPr lang="en-US"/>
          </a:p>
        </p:txBody>
      </p:sp>
    </p:spTree>
    <p:extLst>
      <p:ext uri="{BB962C8B-B14F-4D97-AF65-F5344CB8AC3E}">
        <p14:creationId xmlns:p14="http://schemas.microsoft.com/office/powerpoint/2010/main" val="2028758291"/>
      </p:ext>
    </p:extLst>
  </p:cSld>
  <p:clrMapOvr>
    <a:masterClrMapping/>
  </p:clrMapOvr>
</p:notes>
</file>

<file path=ppt/slideLayouts/_rels/slideLayout1.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920834" y="1346946"/>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920834" y="4299696"/>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175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920834" y="1484779"/>
            <a:ext cx="10222992" cy="2743200"/>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grpSp>
        <p:nvGrpSpPr>
          <p:cNvPr id="10" name="Group 9"/>
          <p:cNvGrpSpPr/>
          <p:nvPr/>
        </p:nvGrpSpPr>
        <p:grpSpPr>
          <a:xfrm>
            <a:off x="9649215" y="4068923"/>
            <a:ext cx="1080904" cy="1080902"/>
            <a:chOff x="9685338" y="4460675"/>
            <a:chExt cx="1080904" cy="1080902"/>
          </a:xfrm>
        </p:grpSpPr>
        <p:sp>
          <p:nvSpPr>
            <p:cNvPr id="11" name="Oval 10"/>
            <p:cNvSpPr/>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sp>
        <p:sp>
          <p:nvSpPr>
            <p:cNvPr id="12" name="Oval 11"/>
            <p:cNvSpPr/>
            <p:nvPr/>
          </p:nvSpPr>
          <p:spPr>
            <a:xfrm>
              <a:off x="9793429" y="4568765"/>
              <a:ext cx="864723" cy="864722"/>
            </a:xfrm>
            <a:prstGeom prst="ellipse">
              <a:avLst/>
            </a:prstGeom>
            <a:noFill/>
            <a:ln w="25400" cap="flat" cmpd="sng" algn="ctr">
              <a:solidFill>
                <a:sysClr val="window" lastClr="FFFFFF"/>
              </a:solidFill>
              <a:prstDash val="solid"/>
            </a:ln>
            <a:effectLst/>
          </p:spPr>
        </p:sp>
      </p:grpSp>
      <p:sp>
        <p:nvSpPr>
          <p:cNvPr id="2" name="Title 1"/>
          <p:cNvSpPr>
            <a:spLocks noGrp="1"/>
          </p:cNvSpPr>
          <p:nvPr>
            <p:ph type="ctrTitle"/>
          </p:nvPr>
        </p:nvSpPr>
        <p:spPr>
          <a:xfrm>
            <a:off x="1051560" y="1432223"/>
            <a:ext cx="9966960" cy="3035808"/>
          </a:xfrm>
        </p:spPr>
        <p:txBody>
          <a:bodyPr anchor="ctr">
            <a:noAutofit/>
          </a:bodyPr>
          <a:lstStyle>
            <a:lvl1pPr algn="l">
              <a:lnSpc>
                <a:spcPct val="80000"/>
              </a:lnSpc>
              <a:defRPr sz="9600" cap="all" baseline="0">
                <a:blipFill dpi="0" rotWithShape="1">
                  <a:blip r:embed="rId4"/>
                  <a:srcRect/>
                  <a:tile tx="6350" ty="-127000" sx="65000" sy="64000" flip="none" algn="tl"/>
                </a:blipFill>
              </a:defRPr>
            </a:lvl1pPr>
          </a:lstStyle>
          <a:p>
            <a:r>
              <a:rPr lang="en-US"/>
              <a:t>Click to edit Master title style</a:t>
            </a:r>
            <a:endParaRPr lang="en-US" dirty="0"/>
          </a:p>
        </p:txBody>
      </p:sp>
      <p:sp>
        <p:nvSpPr>
          <p:cNvPr id="3" name="Subtitle 2"/>
          <p:cNvSpPr>
            <a:spLocks noGrp="1"/>
          </p:cNvSpPr>
          <p:nvPr>
            <p:ph type="subTitle" idx="1"/>
          </p:nvPr>
        </p:nvSpPr>
        <p:spPr>
          <a:xfrm>
            <a:off x="1069848" y="4389120"/>
            <a:ext cx="7891272" cy="1069848"/>
          </a:xfrm>
        </p:spPr>
        <p:txBody>
          <a:bodyPr>
            <a:normAutofit/>
          </a:bodyPr>
          <a:lstStyle>
            <a:lvl1pPr marL="0" indent="0" algn="l">
              <a:buNone/>
              <a:defRPr sz="2200">
                <a:solidFill>
                  <a:schemeClr val="tx1"/>
                </a:solidFill>
              </a:defRPr>
            </a:lvl1pPr>
            <a:lvl2pPr marL="457200" indent="0" algn="ctr">
              <a:buNone/>
              <a:defRPr sz="2200"/>
            </a:lvl2pPr>
            <a:lvl3pPr marL="914400" indent="0" algn="ctr">
              <a:buNone/>
              <a:defRPr sz="22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DA553282-A89B-4525-A42C-621A6D5A5BE6}" type="datetime1">
              <a:rPr lang="en-US" smtClean="0"/>
              <a:t>03-Apr-26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9592733" y="4289334"/>
            <a:ext cx="1193868" cy="640080"/>
          </a:xfrm>
        </p:spPr>
        <p:txBody>
          <a:bodyPr/>
          <a:lstStyle>
            <a:lvl1pPr>
              <a:defRPr sz="2800"/>
            </a:lvl1pPr>
          </a:lstStyle>
          <a:p>
            <a:fld id="{380846C1-CD93-4AE4-8DA9-0A1941B6C5F9}" type="slidenum">
              <a:rPr lang="en-US" smtClean="0"/>
              <a:t>‹#›</a:t>
            </a:fld>
            <a:endParaRPr lang="en-US"/>
          </a:p>
        </p:txBody>
      </p:sp>
    </p:spTree>
    <p:extLst>
      <p:ext uri="{BB962C8B-B14F-4D97-AF65-F5344CB8AC3E}">
        <p14:creationId xmlns:p14="http://schemas.microsoft.com/office/powerpoint/2010/main" val="32278327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FAD83F-E2AD-44AA-89CE-925ED866D527}" type="datetime1">
              <a:rPr lang="en-US" smtClean="0"/>
              <a:t>03-Apr-26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80846C1-CD93-4AE4-8DA9-0A1941B6C5F9}" type="slidenum">
              <a:rPr lang="en-US" smtClean="0"/>
              <a:t>‹#›</a:t>
            </a:fld>
            <a:endParaRPr lang="en-US"/>
          </a:p>
        </p:txBody>
      </p:sp>
    </p:spTree>
    <p:extLst>
      <p:ext uri="{BB962C8B-B14F-4D97-AF65-F5344CB8AC3E}">
        <p14:creationId xmlns:p14="http://schemas.microsoft.com/office/powerpoint/2010/main" val="40512247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7" name="Rectangle 6"/>
          <p:cNvSpPr/>
          <p:nvPr/>
        </p:nvSpPr>
        <p:spPr>
          <a:xfrm>
            <a:off x="0" y="4917989"/>
            <a:ext cx="12192000" cy="1940010"/>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2167128" y="1225296"/>
            <a:ext cx="9281160" cy="3520440"/>
          </a:xfrm>
        </p:spPr>
        <p:txBody>
          <a:bodyPr anchor="ctr">
            <a:normAutofit/>
          </a:bodyPr>
          <a:lstStyle>
            <a:lvl1pPr>
              <a:lnSpc>
                <a:spcPct val="80000"/>
              </a:lnSpc>
              <a:defRPr sz="8000" b="0"/>
            </a:lvl1pPr>
          </a:lstStyle>
          <a:p>
            <a:r>
              <a:rPr lang="en-US"/>
              <a:t>Click to edit Master title style</a:t>
            </a:r>
            <a:endParaRPr lang="en-US" dirty="0"/>
          </a:p>
        </p:txBody>
      </p:sp>
      <p:sp>
        <p:nvSpPr>
          <p:cNvPr id="3" name="Text Placeholder 2"/>
          <p:cNvSpPr>
            <a:spLocks noGrp="1"/>
          </p:cNvSpPr>
          <p:nvPr>
            <p:ph type="body" idx="1"/>
          </p:nvPr>
        </p:nvSpPr>
        <p:spPr>
          <a:xfrm>
            <a:off x="2165774" y="5020056"/>
            <a:ext cx="9052560" cy="1066800"/>
          </a:xfrm>
        </p:spPr>
        <p:txBody>
          <a:bodyPr anchor="t">
            <a:normAutofit/>
          </a:bodyPr>
          <a:lstStyle>
            <a:lvl1pPr marL="0" indent="0">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8593667" y="6272784"/>
            <a:ext cx="2644309" cy="365125"/>
          </a:xfrm>
        </p:spPr>
        <p:txBody>
          <a:bodyPr/>
          <a:lstStyle/>
          <a:p>
            <a:fld id="{5899B94C-C259-4B79-BC7B-32D9123BCD1A}" type="datetime1">
              <a:rPr lang="en-US" smtClean="0"/>
              <a:t>03-Apr-26</a:t>
            </a:fld>
            <a:endParaRPr lang="en-US"/>
          </a:p>
        </p:txBody>
      </p:sp>
      <p:sp>
        <p:nvSpPr>
          <p:cNvPr id="5" name="Footer Placeholder 4"/>
          <p:cNvSpPr>
            <a:spLocks noGrp="1"/>
          </p:cNvSpPr>
          <p:nvPr>
            <p:ph type="ftr" sz="quarter" idx="11"/>
          </p:nvPr>
        </p:nvSpPr>
        <p:spPr>
          <a:xfrm>
            <a:off x="2182708" y="6272784"/>
            <a:ext cx="6327648" cy="365125"/>
          </a:xfrm>
        </p:spPr>
        <p:txBody>
          <a:bodyPr/>
          <a:lstStyle/>
          <a:p>
            <a:endParaRPr lang="en-US"/>
          </a:p>
        </p:txBody>
      </p:sp>
      <p:grpSp>
        <p:nvGrpSpPr>
          <p:cNvPr id="8" name="Group 7"/>
          <p:cNvGrpSpPr/>
          <p:nvPr/>
        </p:nvGrpSpPr>
        <p:grpSpPr>
          <a:xfrm>
            <a:off x="897399" y="2325848"/>
            <a:ext cx="1080904" cy="1080902"/>
            <a:chOff x="9685338" y="4460675"/>
            <a:chExt cx="1080904" cy="1080902"/>
          </a:xfrm>
        </p:grpSpPr>
        <p:sp>
          <p:nvSpPr>
            <p:cNvPr id="9" name="Oval 8"/>
            <p:cNvSpPr/>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sp>
        <p:sp>
          <p:nvSpPr>
            <p:cNvPr id="10" name="Oval 9"/>
            <p:cNvSpPr/>
            <p:nvPr/>
          </p:nvSpPr>
          <p:spPr>
            <a:xfrm>
              <a:off x="9793429" y="4568765"/>
              <a:ext cx="864723" cy="864722"/>
            </a:xfrm>
            <a:prstGeom prst="ellipse">
              <a:avLst/>
            </a:prstGeom>
            <a:noFill/>
            <a:ln w="25400" cap="flat" cmpd="sng" algn="ctr">
              <a:solidFill>
                <a:sysClr val="window" lastClr="FFFFFF"/>
              </a:solidFill>
              <a:prstDash val="solid"/>
            </a:ln>
            <a:effectLst/>
          </p:spPr>
        </p:sp>
      </p:grpSp>
      <p:sp>
        <p:nvSpPr>
          <p:cNvPr id="6" name="Slide Number Placeholder 5"/>
          <p:cNvSpPr>
            <a:spLocks noGrp="1"/>
          </p:cNvSpPr>
          <p:nvPr>
            <p:ph type="sldNum" sz="quarter" idx="12"/>
          </p:nvPr>
        </p:nvSpPr>
        <p:spPr>
          <a:xfrm>
            <a:off x="843702" y="2506133"/>
            <a:ext cx="1188298" cy="720332"/>
          </a:xfrm>
        </p:spPr>
        <p:txBody>
          <a:bodyPr/>
          <a:lstStyle>
            <a:lvl1pPr>
              <a:defRPr sz="2800"/>
            </a:lvl1pPr>
          </a:lstStyle>
          <a:p>
            <a:fld id="{380846C1-CD93-4AE4-8DA9-0A1941B6C5F9}" type="slidenum">
              <a:rPr lang="en-US" smtClean="0"/>
              <a:t>‹#›</a:t>
            </a:fld>
            <a:endParaRPr lang="en-US"/>
          </a:p>
        </p:txBody>
      </p:sp>
    </p:spTree>
    <p:extLst>
      <p:ext uri="{BB962C8B-B14F-4D97-AF65-F5344CB8AC3E}">
        <p14:creationId xmlns:p14="http://schemas.microsoft.com/office/powerpoint/2010/main" val="58922322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069848" y="2194560"/>
            <a:ext cx="4754880" cy="39776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364224" y="2194560"/>
            <a:ext cx="4754880" cy="39776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776EBED0-8E18-446C-A1CD-3409F27A9F6C}" type="datetime1">
              <a:rPr lang="en-US" smtClean="0"/>
              <a:t>03-Apr-26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80846C1-CD93-4AE4-8DA9-0A1941B6C5F9}" type="slidenum">
              <a:rPr lang="en-US" smtClean="0"/>
              <a:t>‹#›</a:t>
            </a:fld>
            <a:endParaRPr lang="en-US"/>
          </a:p>
        </p:txBody>
      </p:sp>
    </p:spTree>
    <p:extLst>
      <p:ext uri="{BB962C8B-B14F-4D97-AF65-F5344CB8AC3E}">
        <p14:creationId xmlns:p14="http://schemas.microsoft.com/office/powerpoint/2010/main" val="183057414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066800" y="2048256"/>
            <a:ext cx="4754880" cy="640080"/>
          </a:xfrm>
        </p:spPr>
        <p:txBody>
          <a:bodyPr anchor="ctr">
            <a:normAutofit/>
          </a:bodyPr>
          <a:lstStyle>
            <a:lvl1pPr marL="0" indent="0">
              <a:buNone/>
              <a:defRPr sz="2000" b="1">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69848" y="2743200"/>
            <a:ext cx="4754880" cy="32918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364224" y="2048256"/>
            <a:ext cx="4754880" cy="640080"/>
          </a:xfrm>
        </p:spPr>
        <p:txBody>
          <a:bodyPr anchor="ctr">
            <a:normAutofit/>
          </a:bodyPr>
          <a:lstStyle>
            <a:lvl1pPr marL="0" indent="0">
              <a:buNone/>
              <a:defRPr sz="2000" b="1">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364224" y="2743200"/>
            <a:ext cx="4754880" cy="32918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08D50A6D-CA6E-4E46-B079-1F1D21DCEBF5}" type="datetime1">
              <a:rPr lang="en-US" smtClean="0"/>
              <a:t>03-Apr-26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80846C1-CD93-4AE4-8DA9-0A1941B6C5F9}" type="slidenum">
              <a:rPr lang="en-US" smtClean="0"/>
              <a:t>‹#›</a:t>
            </a:fld>
            <a:endParaRPr lang="en-US"/>
          </a:p>
        </p:txBody>
      </p:sp>
    </p:spTree>
    <p:extLst>
      <p:ext uri="{BB962C8B-B14F-4D97-AF65-F5344CB8AC3E}">
        <p14:creationId xmlns:p14="http://schemas.microsoft.com/office/powerpoint/2010/main" val="221047100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FCB9AC1F-3DA3-4340-ACD9-8E5E5963780E}" type="datetime1">
              <a:rPr lang="en-US" smtClean="0"/>
              <a:t>03-Apr-26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80846C1-CD93-4AE4-8DA9-0A1941B6C5F9}" type="slidenum">
              <a:rPr lang="en-US" smtClean="0"/>
              <a:t>‹#›</a:t>
            </a:fld>
            <a:endParaRPr lang="en-US"/>
          </a:p>
        </p:txBody>
      </p:sp>
    </p:spTree>
    <p:extLst>
      <p:ext uri="{BB962C8B-B14F-4D97-AF65-F5344CB8AC3E}">
        <p14:creationId xmlns:p14="http://schemas.microsoft.com/office/powerpoint/2010/main" val="47257552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6E780FE-87CA-4A01-8393-9CF6AE9DED7B}" type="datetime1">
              <a:rPr lang="en-US" smtClean="0"/>
              <a:t>03-Apr-26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80846C1-CD93-4AE4-8DA9-0A1941B6C5F9}" type="slidenum">
              <a:rPr lang="en-US" smtClean="0"/>
              <a:t>‹#›</a:t>
            </a:fld>
            <a:endParaRPr lang="en-US"/>
          </a:p>
        </p:txBody>
      </p:sp>
    </p:spTree>
    <p:extLst>
      <p:ext uri="{BB962C8B-B14F-4D97-AF65-F5344CB8AC3E}">
        <p14:creationId xmlns:p14="http://schemas.microsoft.com/office/powerpoint/2010/main" val="178092873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8303740" y="0"/>
            <a:ext cx="3888259"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549640" y="685800"/>
            <a:ext cx="3200400" cy="1737360"/>
          </a:xfrm>
        </p:spPr>
        <p:txBody>
          <a:bodyPr anchor="b">
            <a:normAutofit/>
          </a:bodyPr>
          <a:lstStyle>
            <a:lvl1pPr>
              <a:defRPr sz="3200" b="1"/>
            </a:lvl1pPr>
          </a:lstStyle>
          <a:p>
            <a:r>
              <a:rPr lang="en-US"/>
              <a:t>Click to edit Master title style</a:t>
            </a:r>
            <a:endParaRPr lang="en-US" dirty="0"/>
          </a:p>
        </p:txBody>
      </p:sp>
      <p:sp>
        <p:nvSpPr>
          <p:cNvPr id="3" name="Content Placeholder 2"/>
          <p:cNvSpPr>
            <a:spLocks noGrp="1"/>
          </p:cNvSpPr>
          <p:nvPr>
            <p:ph idx="1"/>
          </p:nvPr>
        </p:nvSpPr>
        <p:spPr>
          <a:xfrm>
            <a:off x="838200" y="685800"/>
            <a:ext cx="6711696" cy="5020056"/>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549640" y="2423160"/>
            <a:ext cx="3200400" cy="3291840"/>
          </a:xfrm>
        </p:spPr>
        <p:txBody>
          <a:bodyPr>
            <a:normAutofit/>
          </a:bodyPr>
          <a:lstStyle>
            <a:lvl1pPr marL="0" indent="0">
              <a:lnSpc>
                <a:spcPct val="100000"/>
              </a:lnSpc>
              <a:spcBef>
                <a:spcPts val="1000"/>
              </a:spcBef>
              <a:buNone/>
              <a:defRPr sz="1400">
                <a:solidFill>
                  <a:schemeClr val="accent1">
                    <a:lumMod val="7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191B42E-5B8C-4A49-B0EB-B7118170D095}" type="datetime1">
              <a:rPr lang="en-US" smtClean="0"/>
              <a:t>03-Apr-26</a:t>
            </a:fld>
            <a:endParaRPr lang="en-US"/>
          </a:p>
        </p:txBody>
      </p:sp>
      <p:sp>
        <p:nvSpPr>
          <p:cNvPr id="6" name="Footer Placeholder 5"/>
          <p:cNvSpPr>
            <a:spLocks noGrp="1"/>
          </p:cNvSpPr>
          <p:nvPr>
            <p:ph type="ftr" sz="quarter" idx="11"/>
          </p:nvPr>
        </p:nvSpPr>
        <p:spPr/>
        <p:txBody>
          <a:bodyPr/>
          <a:lstStyle/>
          <a:p>
            <a:endParaRPr lang="en-US"/>
          </a:p>
        </p:txBody>
      </p:sp>
      <p:grpSp>
        <p:nvGrpSpPr>
          <p:cNvPr id="9" name="Group 8"/>
          <p:cNvGrpSpPr>
            <a:grpSpLocks noChangeAspect="1"/>
          </p:cNvGrpSpPr>
          <p:nvPr/>
        </p:nvGrpSpPr>
        <p:grpSpPr>
          <a:xfrm>
            <a:off x="11401725" y="6229681"/>
            <a:ext cx="457200" cy="457200"/>
            <a:chOff x="11361456" y="6195813"/>
            <a:chExt cx="548640" cy="548640"/>
          </a:xfrm>
        </p:grpSpPr>
        <p:sp>
          <p:nvSpPr>
            <p:cNvPr id="10" name="Oval 9"/>
            <p:cNvSpPr/>
            <p:nvPr/>
          </p:nvSpPr>
          <p:spPr>
            <a:xfrm>
              <a:off x="11361456" y="6195813"/>
              <a:ext cx="548640" cy="548640"/>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11" name="Oval 10"/>
            <p:cNvSpPr/>
            <p:nvPr/>
          </p:nvSpPr>
          <p:spPr>
            <a:xfrm>
              <a:off x="11396488" y="6230844"/>
              <a:ext cx="478576" cy="478578"/>
            </a:xfrm>
            <a:prstGeom prst="ellipse">
              <a:avLst/>
            </a:prstGeom>
            <a:noFill/>
            <a:ln w="12700" cap="flat" cmpd="sng" algn="ctr">
              <a:solidFill>
                <a:sysClr val="window" lastClr="FFFFFF"/>
              </a:solidFill>
              <a:prstDash val="solid"/>
            </a:ln>
            <a:effectLst/>
          </p:spPr>
        </p:sp>
      </p:grpSp>
      <p:sp>
        <p:nvSpPr>
          <p:cNvPr id="7" name="Slide Number Placeholder 6"/>
          <p:cNvSpPr>
            <a:spLocks noGrp="1"/>
          </p:cNvSpPr>
          <p:nvPr>
            <p:ph type="sldNum" sz="quarter" idx="12"/>
          </p:nvPr>
        </p:nvSpPr>
        <p:spPr/>
        <p:txBody>
          <a:bodyPr/>
          <a:lstStyle/>
          <a:p>
            <a:fld id="{380846C1-CD93-4AE4-8DA9-0A1941B6C5F9}" type="slidenum">
              <a:rPr lang="en-US" smtClean="0"/>
              <a:t>‹#›</a:t>
            </a:fld>
            <a:endParaRPr lang="en-US"/>
          </a:p>
        </p:txBody>
      </p:sp>
    </p:spTree>
    <p:extLst>
      <p:ext uri="{BB962C8B-B14F-4D97-AF65-F5344CB8AC3E}">
        <p14:creationId xmlns:p14="http://schemas.microsoft.com/office/powerpoint/2010/main" val="352296207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11" name="Rectangle 10"/>
          <p:cNvSpPr/>
          <p:nvPr/>
        </p:nvSpPr>
        <p:spPr>
          <a:xfrm>
            <a:off x="8303740" y="0"/>
            <a:ext cx="3888259"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549640" y="685800"/>
            <a:ext cx="3200400" cy="1737360"/>
          </a:xfrm>
        </p:spPr>
        <p:txBody>
          <a:bodyPr anchor="b">
            <a:normAutofit/>
          </a:bodyPr>
          <a:lstStyle>
            <a:lvl1pPr>
              <a:defRPr sz="3200" b="1"/>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0"/>
            <a:ext cx="8303740" cy="6858000"/>
          </a:xfrm>
          <a:solidFill>
            <a:schemeClr val="tx2">
              <a:lumMod val="20000"/>
              <a:lumOff val="80000"/>
            </a:schemeClr>
          </a:solidFill>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549640" y="2423160"/>
            <a:ext cx="3200400" cy="3291840"/>
          </a:xfrm>
        </p:spPr>
        <p:txBody>
          <a:bodyPr>
            <a:normAutofit/>
          </a:bodyPr>
          <a:lstStyle>
            <a:lvl1pPr marL="0" indent="0">
              <a:lnSpc>
                <a:spcPct val="100000"/>
              </a:lnSpc>
              <a:spcBef>
                <a:spcPts val="1000"/>
              </a:spcBef>
              <a:buNone/>
              <a:defRPr sz="1400">
                <a:solidFill>
                  <a:schemeClr val="accent1">
                    <a:lumMod val="7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A095CF1-4CD5-4825-B06E-DFF2DEE74945}" type="datetime1">
              <a:rPr lang="en-US" smtClean="0"/>
              <a:t>03-Apr-26</a:t>
            </a:fld>
            <a:endParaRPr lang="en-US"/>
          </a:p>
        </p:txBody>
      </p:sp>
      <p:grpSp>
        <p:nvGrpSpPr>
          <p:cNvPr id="8" name="Group 7"/>
          <p:cNvGrpSpPr>
            <a:grpSpLocks noChangeAspect="1"/>
          </p:cNvGrpSpPr>
          <p:nvPr/>
        </p:nvGrpSpPr>
        <p:grpSpPr>
          <a:xfrm>
            <a:off x="11401725" y="6229681"/>
            <a:ext cx="457200" cy="457200"/>
            <a:chOff x="11361456" y="6195813"/>
            <a:chExt cx="548640" cy="548640"/>
          </a:xfrm>
        </p:grpSpPr>
        <p:sp>
          <p:nvSpPr>
            <p:cNvPr id="9" name="Oval 8"/>
            <p:cNvSpPr/>
            <p:nvPr/>
          </p:nvSpPr>
          <p:spPr>
            <a:xfrm>
              <a:off x="11361456" y="6195813"/>
              <a:ext cx="548640" cy="548640"/>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10" name="Oval 9"/>
            <p:cNvSpPr/>
            <p:nvPr/>
          </p:nvSpPr>
          <p:spPr>
            <a:xfrm>
              <a:off x="11396488" y="6230844"/>
              <a:ext cx="478576" cy="478578"/>
            </a:xfrm>
            <a:prstGeom prst="ellipse">
              <a:avLst/>
            </a:prstGeom>
            <a:noFill/>
            <a:ln w="12700" cap="flat" cmpd="sng" algn="ctr">
              <a:solidFill>
                <a:sysClr val="window" lastClr="FFFFFF"/>
              </a:solidFill>
              <a:prstDash val="solid"/>
            </a:ln>
            <a:effectLst/>
          </p:spPr>
        </p:sp>
      </p:grpSp>
      <p:sp>
        <p:nvSpPr>
          <p:cNvPr id="7" name="Slide Number Placeholder 6"/>
          <p:cNvSpPr>
            <a:spLocks noGrp="1"/>
          </p:cNvSpPr>
          <p:nvPr>
            <p:ph type="sldNum" sz="quarter" idx="12"/>
          </p:nvPr>
        </p:nvSpPr>
        <p:spPr/>
        <p:txBody>
          <a:bodyPr/>
          <a:lstStyle/>
          <a:p>
            <a:fld id="{380846C1-CD93-4AE4-8DA9-0A1941B6C5F9}" type="slidenum">
              <a:rPr lang="en-US" smtClean="0"/>
              <a:t>‹#›</a:t>
            </a:fld>
            <a:endParaRPr lang="en-US"/>
          </a:p>
        </p:txBody>
      </p:sp>
    </p:spTree>
    <p:extLst>
      <p:ext uri="{BB962C8B-B14F-4D97-AF65-F5344CB8AC3E}">
        <p14:creationId xmlns:p14="http://schemas.microsoft.com/office/powerpoint/2010/main" val="260713716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A305D9-BDB8-4B1F-8D07-17F8D55DA2DB}" type="datetime1">
              <a:rPr lang="en-US" smtClean="0"/>
              <a:t>03-Apr-26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80846C1-CD93-4AE4-8DA9-0A1941B6C5F9}" type="slidenum">
              <a:rPr lang="en-US" smtClean="0"/>
              <a:t>‹#›</a:t>
            </a:fld>
            <a:endParaRPr lang="en-US"/>
          </a:p>
        </p:txBody>
      </p:sp>
    </p:spTree>
    <p:extLst>
      <p:ext uri="{BB962C8B-B14F-4D97-AF65-F5344CB8AC3E}">
        <p14:creationId xmlns:p14="http://schemas.microsoft.com/office/powerpoint/2010/main" val="331942814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533400"/>
            <a:ext cx="2552700" cy="56388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066800" y="533400"/>
            <a:ext cx="7505700" cy="56388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3D7D0BF-01F4-4F4B-8FA7-F3961BCA1D67}" type="datetime1">
              <a:rPr lang="en-US" smtClean="0"/>
              <a:t>03-Apr-26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80846C1-CD93-4AE4-8DA9-0A1941B6C5F9}" type="slidenum">
              <a:rPr lang="en-US" smtClean="0"/>
              <a:t>‹#›</a:t>
            </a:fld>
            <a:endParaRPr lang="en-US"/>
          </a:p>
        </p:txBody>
      </p:sp>
    </p:spTree>
    <p:extLst>
      <p:ext uri="{BB962C8B-B14F-4D97-AF65-F5344CB8AC3E}">
        <p14:creationId xmlns:p14="http://schemas.microsoft.com/office/powerpoint/2010/main" val="408824376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3.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microsoft.com/office/2007/relationships/hdphoto" Target="../media/hdphoto1.wdp"/></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69848" y="484632"/>
            <a:ext cx="10058400" cy="1609344"/>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069848" y="2121408"/>
            <a:ext cx="10058400" cy="405079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964424" y="6272784"/>
            <a:ext cx="3273552" cy="365125"/>
          </a:xfrm>
          <a:prstGeom prst="rect">
            <a:avLst/>
          </a:prstGeom>
        </p:spPr>
        <p:txBody>
          <a:bodyPr vert="horz" lIns="91440" tIns="45720" rIns="91440" bIns="45720" rtlCol="0" anchor="ctr"/>
          <a:lstStyle>
            <a:lvl1pPr algn="r">
              <a:defRPr sz="1100">
                <a:solidFill>
                  <a:schemeClr val="tx2"/>
                </a:solidFill>
              </a:defRPr>
            </a:lvl1pPr>
          </a:lstStyle>
          <a:p>
            <a:fld id="{876503D7-1695-414B-8853-89D3FA72FC18}" type="datetime1">
              <a:rPr lang="en-US" smtClean="0"/>
              <a:t>03-Apr-26</a:t>
            </a:fld>
            <a:endParaRPr lang="en-US"/>
          </a:p>
        </p:txBody>
      </p:sp>
      <p:sp>
        <p:nvSpPr>
          <p:cNvPr id="5" name="Footer Placeholder 4"/>
          <p:cNvSpPr>
            <a:spLocks noGrp="1"/>
          </p:cNvSpPr>
          <p:nvPr>
            <p:ph type="ftr" sz="quarter" idx="3"/>
          </p:nvPr>
        </p:nvSpPr>
        <p:spPr>
          <a:xfrm>
            <a:off x="1088136" y="6272784"/>
            <a:ext cx="6327648" cy="365125"/>
          </a:xfrm>
          <a:prstGeom prst="rect">
            <a:avLst/>
          </a:prstGeom>
        </p:spPr>
        <p:txBody>
          <a:bodyPr vert="horz" lIns="91440" tIns="45720" rIns="91440" bIns="45720" rtlCol="0" anchor="ctr"/>
          <a:lstStyle>
            <a:lvl1pPr algn="l">
              <a:defRPr sz="1100">
                <a:solidFill>
                  <a:schemeClr val="tx2"/>
                </a:solidFill>
              </a:defRPr>
            </a:lvl1pPr>
          </a:lstStyle>
          <a:p>
            <a:endParaRPr lang="en-US"/>
          </a:p>
        </p:txBody>
      </p:sp>
      <p:grpSp>
        <p:nvGrpSpPr>
          <p:cNvPr id="7" name="Group 6"/>
          <p:cNvGrpSpPr>
            <a:grpSpLocks noChangeAspect="1"/>
          </p:cNvGrpSpPr>
          <p:nvPr/>
        </p:nvGrpSpPr>
        <p:grpSpPr>
          <a:xfrm>
            <a:off x="11401725" y="6229681"/>
            <a:ext cx="457200" cy="457200"/>
            <a:chOff x="11361456" y="6195813"/>
            <a:chExt cx="548640" cy="548640"/>
          </a:xfrm>
        </p:grpSpPr>
        <p:sp>
          <p:nvSpPr>
            <p:cNvPr id="8" name="Oval 7"/>
            <p:cNvSpPr/>
            <p:nvPr/>
          </p:nvSpPr>
          <p:spPr>
            <a:xfrm>
              <a:off x="11361456" y="6195813"/>
              <a:ext cx="548640" cy="548640"/>
            </a:xfrm>
            <a:prstGeom prst="ellipse">
              <a:avLst/>
            </a:prstGeom>
            <a:blipFill dpi="0" rotWithShape="1">
              <a:blip r:embed="rId13">
                <a:duotone>
                  <a:schemeClr val="accent1">
                    <a:shade val="45000"/>
                    <a:satMod val="135000"/>
                  </a:schemeClr>
                  <a:prstClr val="white"/>
                </a:duotone>
                <a:extLst>
                  <a:ext uri="{BEBA8EAE-BF5A-486C-A8C5-ECC9F3942E4B}">
                    <a14:imgProps xmlns:a14="http://schemas.microsoft.com/office/drawing/2010/main">
                      <a14:imgLayer r:embed="rId14">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9" name="Oval 8"/>
            <p:cNvSpPr/>
            <p:nvPr/>
          </p:nvSpPr>
          <p:spPr>
            <a:xfrm>
              <a:off x="11396488" y="6230844"/>
              <a:ext cx="478576" cy="478578"/>
            </a:xfrm>
            <a:prstGeom prst="ellipse">
              <a:avLst/>
            </a:prstGeom>
            <a:noFill/>
            <a:ln w="12700" cap="flat" cmpd="sng" algn="ctr">
              <a:solidFill>
                <a:srgbClr val="FFFFFF"/>
              </a:solidFill>
              <a:prstDash val="solid"/>
            </a:ln>
            <a:effectLst/>
          </p:spPr>
        </p:sp>
      </p:grpSp>
      <p:sp>
        <p:nvSpPr>
          <p:cNvPr id="6" name="Slide Number Placeholder 5"/>
          <p:cNvSpPr>
            <a:spLocks noGrp="1"/>
          </p:cNvSpPr>
          <p:nvPr>
            <p:ph type="sldNum" sz="quarter" idx="4"/>
          </p:nvPr>
        </p:nvSpPr>
        <p:spPr>
          <a:xfrm>
            <a:off x="11311128" y="6272784"/>
            <a:ext cx="640080" cy="365125"/>
          </a:xfrm>
          <a:prstGeom prst="rect">
            <a:avLst/>
          </a:prstGeom>
        </p:spPr>
        <p:txBody>
          <a:bodyPr vert="horz" lIns="91440" tIns="45720" rIns="91440" bIns="45720" rtlCol="0" anchor="ctr"/>
          <a:lstStyle>
            <a:lvl1pPr algn="ctr">
              <a:defRPr sz="1400" b="1">
                <a:solidFill>
                  <a:srgbClr val="FFFFFF"/>
                </a:solidFill>
                <a:latin typeface="+mj-lt"/>
              </a:defRPr>
            </a:lvl1pPr>
          </a:lstStyle>
          <a:p>
            <a:fld id="{380846C1-CD93-4AE4-8DA9-0A1941B6C5F9}" type="slidenum">
              <a:rPr lang="en-US" smtClean="0"/>
              <a:t>‹#›</a:t>
            </a:fld>
            <a:endParaRPr lang="en-US"/>
          </a:p>
        </p:txBody>
      </p:sp>
    </p:spTree>
    <p:extLst>
      <p:ext uri="{BB962C8B-B14F-4D97-AF65-F5344CB8AC3E}">
        <p14:creationId xmlns:p14="http://schemas.microsoft.com/office/powerpoint/2010/main" val="1190349257"/>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hdr="0" ftr="0" dt="0"/>
  <p:txStyles>
    <p:titleStyle>
      <a:lvl1pPr algn="l" defTabSz="914400" rtl="0" eaLnBrk="1" latinLnBrk="0" hangingPunct="1">
        <a:lnSpc>
          <a:spcPct val="90000"/>
        </a:lnSpc>
        <a:spcBef>
          <a:spcPct val="0"/>
        </a:spcBef>
        <a:buNone/>
        <a:defRPr sz="5400" kern="1200" cap="all" baseline="0">
          <a:blipFill>
            <a:blip r:embed="rId15">
              <a:extLst>
                <a:ext uri="{28A0092B-C50C-407E-A947-70E740481C1C}">
                  <a14:useLocalDpi xmlns:a14="http://schemas.microsoft.com/office/drawing/2010/main" val="0"/>
                </a:ext>
              </a:extLst>
            </a:blip>
            <a:tile tx="6350" ty="-127000" sx="65000" sy="64000" flip="none" algn="tl"/>
          </a:blipFill>
          <a:latin typeface="+mj-lt"/>
          <a:ea typeface="+mj-ea"/>
          <a:cs typeface="+mj-cs"/>
        </a:defRPr>
      </a:lvl1pPr>
    </p:titleStyle>
    <p:bodyStyle>
      <a:lvl1pPr marL="182880" indent="-182880" algn="l" defTabSz="914400" rtl="0" eaLnBrk="1" latinLnBrk="0" hangingPunct="1">
        <a:lnSpc>
          <a:spcPct val="90000"/>
        </a:lnSpc>
        <a:spcBef>
          <a:spcPts val="1200"/>
        </a:spcBef>
        <a:buClr>
          <a:schemeClr val="accent1">
            <a:lumMod val="75000"/>
          </a:schemeClr>
        </a:buClr>
        <a:buSzPct val="85000"/>
        <a:buFont typeface="Wingdings" pitchFamily="2" charset="2"/>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800" kern="1200">
          <a:solidFill>
            <a:schemeClr val="tx1"/>
          </a:solidFill>
          <a:latin typeface="+mn-lt"/>
          <a:ea typeface="+mn-ea"/>
          <a:cs typeface="+mn-cs"/>
        </a:defRPr>
      </a:lvl2pPr>
      <a:lvl3pPr marL="73152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3pPr>
      <a:lvl4pPr marL="100584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4pPr>
      <a:lvl5pPr marL="128016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5pPr>
      <a:lvl6pPr marL="16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6pPr>
      <a:lvl7pPr marL="19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7pPr>
      <a:lvl8pPr marL="22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8pPr>
      <a:lvl9pPr marL="25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7.gif"/><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8.gif"/><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9.gif"/><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hyperlink" Target="https://youtu.be/Hl--6lVpWiI?si=Fcnatn_mBlqmNwdr" TargetMode="External"/><Relationship Id="rId2" Type="http://schemas.openxmlformats.org/officeDocument/2006/relationships/hyperlink" Target="https://youtu.be/vB7brvVyTmc?si=BaZTmMIMfTJYW1RA" TargetMode="External"/><Relationship Id="rId1" Type="http://schemas.openxmlformats.org/officeDocument/2006/relationships/slideLayout" Target="../slideLayouts/slideLayout2.xml"/><Relationship Id="rId5" Type="http://schemas.openxmlformats.org/officeDocument/2006/relationships/hyperlink" Target="https://youtu.be/gIXxWIDbIYk?si=X2xp-Ll3E12jlfJa" TargetMode="External"/><Relationship Id="rId4" Type="http://schemas.openxmlformats.org/officeDocument/2006/relationships/hyperlink" Target="https://youtu.be/3lpiurUy0aQ?si=AjVtqM0el_rH4wLx" TargetMode="External"/></Relationships>
</file>

<file path=ppt/slides/_rels/slide58.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hyperlink" Target="https://youtu.be/LXF-wcoeT0o?si=c7RK2Q1w5cAVJ5gJ" TargetMode="External"/><Relationship Id="rId2" Type="http://schemas.openxmlformats.org/officeDocument/2006/relationships/hyperlink" Target="https://youtu.be/8afbTaA-gOQ?si=ZialNt8fpK5W4008" TargetMode="Externa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US" sz="4800" b="1" dirty="0">
                <a:latin typeface="+mn-lt"/>
              </a:rPr>
              <a:t>Computer Architecture</a:t>
            </a:r>
            <a:br>
              <a:rPr lang="en-US" sz="4800" b="1" dirty="0">
                <a:latin typeface="+mn-lt"/>
              </a:rPr>
            </a:br>
            <a:r>
              <a:rPr lang="en-US" sz="4800" b="1" dirty="0">
                <a:latin typeface="+mn-lt"/>
              </a:rPr>
              <a:t>CSE – 3521</a:t>
            </a:r>
            <a:br>
              <a:rPr lang="en-US" sz="7200" b="1" dirty="0"/>
            </a:br>
            <a:r>
              <a:rPr lang="en-US" sz="2800" i="1" dirty="0" err="1"/>
              <a:t>MID-Term</a:t>
            </a:r>
            <a:endParaRPr lang="en-US" sz="7200" dirty="0"/>
          </a:p>
        </p:txBody>
      </p:sp>
      <p:sp>
        <p:nvSpPr>
          <p:cNvPr id="3" name="Subtitle 2"/>
          <p:cNvSpPr>
            <a:spLocks noGrp="1"/>
          </p:cNvSpPr>
          <p:nvPr>
            <p:ph type="subTitle" idx="1"/>
          </p:nvPr>
        </p:nvSpPr>
        <p:spPr/>
        <p:txBody>
          <a:bodyPr>
            <a:normAutofit/>
          </a:bodyPr>
          <a:lstStyle/>
          <a:p>
            <a:r>
              <a:rPr lang="en-US" b="1" dirty="0" err="1"/>
              <a:t>Mahir</a:t>
            </a:r>
            <a:r>
              <a:rPr lang="en-US" b="1" dirty="0"/>
              <a:t> </a:t>
            </a:r>
            <a:r>
              <a:rPr lang="en-US" b="1" dirty="0" err="1"/>
              <a:t>Shadid</a:t>
            </a:r>
            <a:r>
              <a:rPr lang="en-US" b="1" dirty="0"/>
              <a:t> </a:t>
            </a:r>
            <a:r>
              <a:rPr lang="en-US" b="1"/>
              <a:t>(MAS)</a:t>
            </a:r>
            <a:endParaRPr lang="en-US" dirty="0"/>
          </a:p>
          <a:p>
            <a:r>
              <a:rPr lang="en-US"/>
              <a:t>Lecturer</a:t>
            </a:r>
            <a:r>
              <a:rPr lang="en-US" dirty="0"/>
              <a:t>, Dept. of CSE, IIUC</a:t>
            </a:r>
          </a:p>
          <a:p>
            <a:endParaRPr lang="en-US" dirty="0"/>
          </a:p>
        </p:txBody>
      </p:sp>
      <p:sp>
        <p:nvSpPr>
          <p:cNvPr id="4" name="Slide Number Placeholder 3"/>
          <p:cNvSpPr>
            <a:spLocks noGrp="1"/>
          </p:cNvSpPr>
          <p:nvPr>
            <p:ph type="sldNum" sz="quarter" idx="12"/>
          </p:nvPr>
        </p:nvSpPr>
        <p:spPr/>
        <p:txBody>
          <a:bodyPr/>
          <a:lstStyle/>
          <a:p>
            <a:fld id="{380846C1-CD93-4AE4-8DA9-0A1941B6C5F9}" type="slidenum">
              <a:rPr lang="en-US" smtClean="0"/>
              <a:t>1</a:t>
            </a:fld>
            <a:endParaRPr lang="en-US"/>
          </a:p>
        </p:txBody>
      </p:sp>
    </p:spTree>
    <p:extLst>
      <p:ext uri="{BB962C8B-B14F-4D97-AF65-F5344CB8AC3E}">
        <p14:creationId xmlns:p14="http://schemas.microsoft.com/office/powerpoint/2010/main" val="325381507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7280" y="2088683"/>
            <a:ext cx="10058400" cy="2026123"/>
          </a:xfrm>
          <a:solidFill>
            <a:schemeClr val="bg1"/>
          </a:solidFill>
        </p:spPr>
        <p:txBody>
          <a:bodyPr/>
          <a:lstStyle/>
          <a:p>
            <a:r>
              <a:rPr lang="en-US" b="1" dirty="0"/>
              <a:t>Segment - 1</a:t>
            </a:r>
            <a:endParaRPr lang="en-US" dirty="0"/>
          </a:p>
        </p:txBody>
      </p:sp>
      <p:sp>
        <p:nvSpPr>
          <p:cNvPr id="3" name="Slide Number Placeholder 2"/>
          <p:cNvSpPr>
            <a:spLocks noGrp="1"/>
          </p:cNvSpPr>
          <p:nvPr>
            <p:ph type="sldNum" sz="quarter" idx="12"/>
          </p:nvPr>
        </p:nvSpPr>
        <p:spPr/>
        <p:txBody>
          <a:bodyPr/>
          <a:lstStyle/>
          <a:p>
            <a:fld id="{380846C1-CD93-4AE4-8DA9-0A1941B6C5F9}" type="slidenum">
              <a:rPr lang="en-US" smtClean="0"/>
              <a:t>2</a:t>
            </a:fld>
            <a:endParaRPr lang="en-US"/>
          </a:p>
        </p:txBody>
      </p:sp>
    </p:spTree>
    <p:extLst>
      <p:ext uri="{BB962C8B-B14F-4D97-AF65-F5344CB8AC3E}">
        <p14:creationId xmlns:p14="http://schemas.microsoft.com/office/powerpoint/2010/main" val="324001253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Computer Architecture Basics</a:t>
            </a:r>
            <a:endParaRPr lang="en-US" dirty="0"/>
          </a:p>
        </p:txBody>
      </p:sp>
      <p:sp>
        <p:nvSpPr>
          <p:cNvPr id="3" name="Content Placeholder 2"/>
          <p:cNvSpPr>
            <a:spLocks noGrp="1"/>
          </p:cNvSpPr>
          <p:nvPr>
            <p:ph idx="1"/>
          </p:nvPr>
        </p:nvSpPr>
        <p:spPr/>
        <p:txBody>
          <a:bodyPr/>
          <a:lstStyle/>
          <a:p>
            <a:r>
              <a:rPr lang="en-US" b="1" dirty="0"/>
              <a:t>Computer Architecture</a:t>
            </a:r>
            <a:r>
              <a:rPr lang="en-US" dirty="0"/>
              <a:t>: Design and Organization of computer components to optimize performance.</a:t>
            </a:r>
          </a:p>
          <a:p>
            <a:r>
              <a:rPr lang="en-US" b="1" dirty="0"/>
              <a:t>Computer Organization</a:t>
            </a:r>
            <a:r>
              <a:rPr lang="en-US" dirty="0"/>
              <a:t>:  How a computer’s hardware components work together to execute programs. It includes memory, CPU, and input/output operations.</a:t>
            </a:r>
          </a:p>
          <a:p>
            <a:r>
              <a:rPr lang="en-US" b="1" dirty="0"/>
              <a:t>Abacus</a:t>
            </a:r>
            <a:r>
              <a:rPr lang="en-US" dirty="0"/>
              <a:t>: An ancient counting tool used for basic arithmetic operations, considered one of the first computing devices.</a:t>
            </a:r>
          </a:p>
        </p:txBody>
      </p:sp>
      <p:sp>
        <p:nvSpPr>
          <p:cNvPr id="4" name="Slide Number Placeholder 3"/>
          <p:cNvSpPr>
            <a:spLocks noGrp="1"/>
          </p:cNvSpPr>
          <p:nvPr>
            <p:ph type="sldNum" sz="quarter" idx="12"/>
          </p:nvPr>
        </p:nvSpPr>
        <p:spPr/>
        <p:txBody>
          <a:bodyPr/>
          <a:lstStyle/>
          <a:p>
            <a:fld id="{380846C1-CD93-4AE4-8DA9-0A1941B6C5F9}" type="slidenum">
              <a:rPr lang="en-US" smtClean="0"/>
              <a:t>3</a:t>
            </a:fld>
            <a:endParaRPr lang="en-US"/>
          </a:p>
        </p:txBody>
      </p:sp>
    </p:spTree>
    <p:extLst>
      <p:ext uri="{BB962C8B-B14F-4D97-AF65-F5344CB8AC3E}">
        <p14:creationId xmlns:p14="http://schemas.microsoft.com/office/powerpoint/2010/main" val="9681266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Computer Architecture Basics</a:t>
            </a:r>
            <a:endParaRPr lang="en-US" dirty="0"/>
          </a:p>
        </p:txBody>
      </p:sp>
      <p:sp>
        <p:nvSpPr>
          <p:cNvPr id="3" name="Content Placeholder 2"/>
          <p:cNvSpPr>
            <a:spLocks noGrp="1"/>
          </p:cNvSpPr>
          <p:nvPr>
            <p:ph idx="1"/>
          </p:nvPr>
        </p:nvSpPr>
        <p:spPr/>
        <p:txBody>
          <a:bodyPr>
            <a:normAutofit/>
          </a:bodyPr>
          <a:lstStyle/>
          <a:p>
            <a:r>
              <a:rPr lang="en-US" b="1" dirty="0"/>
              <a:t>History</a:t>
            </a:r>
            <a:r>
              <a:rPr lang="en-US" dirty="0"/>
              <a:t>: Five generations: </a:t>
            </a:r>
          </a:p>
          <a:p>
            <a:pPr marL="617220" lvl="1" indent="-342900" fontAlgn="base">
              <a:buFont typeface="+mj-lt"/>
              <a:buAutoNum type="arabicPeriod"/>
            </a:pPr>
            <a:r>
              <a:rPr lang="en-US" dirty="0"/>
              <a:t>First Gen (1940-1956): Computers used Vacuum Tube containing Cathode (electron emission), Anode (electron collection) and Grid (switch).</a:t>
            </a:r>
          </a:p>
          <a:p>
            <a:pPr lvl="2"/>
            <a:r>
              <a:rPr lang="en-US" sz="1800" i="1" dirty="0"/>
              <a:t>Example</a:t>
            </a:r>
            <a:r>
              <a:rPr lang="en-US" sz="1800" dirty="0"/>
              <a:t>: </a:t>
            </a:r>
            <a:r>
              <a:rPr lang="en-US" sz="1800" b="1" dirty="0"/>
              <a:t>ENIAC (Electronic Numerical Integrator and Computer)</a:t>
            </a:r>
            <a:r>
              <a:rPr lang="en-US" sz="1800" dirty="0"/>
              <a:t> - The first general-purpose electronic computer (built in 1945). It was huge and used vacuum tubes.</a:t>
            </a:r>
          </a:p>
          <a:p>
            <a:pPr marL="617220" lvl="1" indent="-342900" fontAlgn="base">
              <a:buFont typeface="+mj-lt"/>
              <a:buAutoNum type="arabicPeriod"/>
            </a:pPr>
            <a:r>
              <a:rPr lang="en-US" dirty="0"/>
              <a:t>Second Gen (1956-1963): Computers used Transistors (acted as switch)which were smaller and faster containing Emitter, Base and Collector. </a:t>
            </a:r>
          </a:p>
          <a:p>
            <a:pPr marL="617220" lvl="1" indent="-342900" fontAlgn="base">
              <a:buFont typeface="+mj-lt"/>
              <a:buAutoNum type="arabicPeriod"/>
            </a:pPr>
            <a:r>
              <a:rPr lang="en-US" dirty="0"/>
              <a:t>Third Gen (1964-1971): ICs (Integrated Circuits) created on Silicon Chips, which were basically “multiple transistors”.</a:t>
            </a:r>
          </a:p>
          <a:p>
            <a:pPr marL="617220" lvl="1" indent="-342900" fontAlgn="base">
              <a:buFont typeface="+mj-lt"/>
              <a:buAutoNum type="arabicPeriod"/>
            </a:pPr>
            <a:r>
              <a:rPr lang="en-US" dirty="0"/>
              <a:t>Fourth Gen (1971-present): Microprocessors (thousands of transistors), contains CPU, Memory Units etc. Also known as “system on chips”.</a:t>
            </a:r>
          </a:p>
          <a:p>
            <a:pPr marL="617220" lvl="1" indent="-342900" fontAlgn="base">
              <a:buFont typeface="+mj-lt"/>
              <a:buAutoNum type="arabicPeriod"/>
            </a:pPr>
            <a:r>
              <a:rPr lang="en-US" dirty="0"/>
              <a:t>Fifth Gen (Future): AI and quantum computing.</a:t>
            </a:r>
          </a:p>
        </p:txBody>
      </p:sp>
      <p:sp>
        <p:nvSpPr>
          <p:cNvPr id="4" name="Slide Number Placeholder 3"/>
          <p:cNvSpPr>
            <a:spLocks noGrp="1"/>
          </p:cNvSpPr>
          <p:nvPr>
            <p:ph type="sldNum" sz="quarter" idx="12"/>
          </p:nvPr>
        </p:nvSpPr>
        <p:spPr/>
        <p:txBody>
          <a:bodyPr/>
          <a:lstStyle/>
          <a:p>
            <a:fld id="{380846C1-CD93-4AE4-8DA9-0A1941B6C5F9}" type="slidenum">
              <a:rPr lang="en-US" smtClean="0"/>
              <a:t>4</a:t>
            </a:fld>
            <a:endParaRPr lang="en-US"/>
          </a:p>
        </p:txBody>
      </p:sp>
    </p:spTree>
    <p:extLst>
      <p:ext uri="{BB962C8B-B14F-4D97-AF65-F5344CB8AC3E}">
        <p14:creationId xmlns:p14="http://schemas.microsoft.com/office/powerpoint/2010/main" val="235800282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Computer Architecture Basics</a:t>
            </a:r>
            <a:endParaRPr lang="en-US" dirty="0"/>
          </a:p>
        </p:txBody>
      </p:sp>
      <p:sp>
        <p:nvSpPr>
          <p:cNvPr id="3" name="Content Placeholder 2"/>
          <p:cNvSpPr>
            <a:spLocks noGrp="1"/>
          </p:cNvSpPr>
          <p:nvPr>
            <p:ph idx="1"/>
          </p:nvPr>
        </p:nvSpPr>
        <p:spPr/>
        <p:txBody>
          <a:bodyPr>
            <a:normAutofit/>
          </a:bodyPr>
          <a:lstStyle/>
          <a:p>
            <a:r>
              <a:rPr lang="en-US" b="1" dirty="0"/>
              <a:t>Types of Computer Architecture:</a:t>
            </a:r>
            <a:endParaRPr lang="en-US" dirty="0"/>
          </a:p>
          <a:p>
            <a:pPr marL="617220" lvl="1" indent="-342900" fontAlgn="base">
              <a:buFont typeface="+mj-lt"/>
              <a:buAutoNum type="arabicPeriod"/>
            </a:pPr>
            <a:r>
              <a:rPr lang="en-US" dirty="0"/>
              <a:t>Von Neumann (Recent computers).</a:t>
            </a:r>
          </a:p>
          <a:p>
            <a:pPr marL="617220" lvl="1" indent="-342900" fontAlgn="base">
              <a:buFont typeface="+mj-lt"/>
              <a:buAutoNum type="arabicPeriod"/>
            </a:pPr>
            <a:r>
              <a:rPr lang="en-US" dirty="0"/>
              <a:t>Harvard (embedded-systems).</a:t>
            </a:r>
          </a:p>
          <a:p>
            <a:pPr marL="617220" lvl="1" indent="-342900" fontAlgn="base">
              <a:buFont typeface="+mj-lt"/>
              <a:buAutoNum type="arabicPeriod"/>
            </a:pPr>
            <a:r>
              <a:rPr lang="en-US" dirty="0"/>
              <a:t>RISC (Reduced Instruction Set Computer): used in ARM-based devices.</a:t>
            </a:r>
          </a:p>
          <a:p>
            <a:pPr marL="617220" lvl="1" indent="-342900" fontAlgn="base">
              <a:buFont typeface="+mj-lt"/>
              <a:buAutoNum type="arabicPeriod"/>
            </a:pPr>
            <a:r>
              <a:rPr lang="en-US" dirty="0"/>
              <a:t>CISC (Complex Instruction Set Computer): used in x86-based devices.</a:t>
            </a:r>
          </a:p>
          <a:p>
            <a:r>
              <a:rPr lang="en-US" b="1" dirty="0"/>
              <a:t>Von Neumann Architecture: </a:t>
            </a:r>
            <a:r>
              <a:rPr lang="en-US" dirty="0"/>
              <a:t>Components:</a:t>
            </a:r>
          </a:p>
          <a:p>
            <a:pPr marL="617220" lvl="1" indent="-342900" fontAlgn="base">
              <a:buFont typeface="+mj-lt"/>
              <a:buAutoNum type="arabicPeriod"/>
            </a:pPr>
            <a:r>
              <a:rPr lang="en-US" dirty="0"/>
              <a:t>CPU (Central Processing Unit): An electronic circuit (microprocessor) that executes instructions.  </a:t>
            </a:r>
          </a:p>
          <a:p>
            <a:pPr marL="617220" lvl="1" indent="-342900" fontAlgn="base">
              <a:buFont typeface="+mj-lt"/>
              <a:buAutoNum type="arabicPeriod"/>
            </a:pPr>
            <a:r>
              <a:rPr lang="en-US" dirty="0"/>
              <a:t>Control Unit: Controls the operations of ALU (Arithmetic Logic Unit), memory and I/O. Manages data flow.</a:t>
            </a:r>
          </a:p>
          <a:p>
            <a:pPr marL="617220" lvl="1" indent="-342900" fontAlgn="base">
              <a:buFont typeface="+mj-lt"/>
              <a:buAutoNum type="arabicPeriod"/>
            </a:pPr>
            <a:r>
              <a:rPr lang="en-US" dirty="0"/>
              <a:t>Registers (High speed storage cells).</a:t>
            </a:r>
          </a:p>
          <a:p>
            <a:pPr marL="617220" lvl="1" indent="-342900" fontAlgn="base">
              <a:buFont typeface="+mj-lt"/>
              <a:buAutoNum type="arabicPeriod"/>
            </a:pPr>
            <a:r>
              <a:rPr lang="en-US" dirty="0"/>
              <a:t>Memory Unit: primarily consists of RAM.</a:t>
            </a:r>
          </a:p>
          <a:p>
            <a:pPr marL="617220" lvl="1" indent="-342900" fontAlgn="base">
              <a:buFont typeface="+mj-lt"/>
              <a:buAutoNum type="arabicPeriod"/>
            </a:pPr>
            <a:endParaRPr lang="en-US" dirty="0"/>
          </a:p>
        </p:txBody>
      </p:sp>
      <p:sp>
        <p:nvSpPr>
          <p:cNvPr id="4" name="Slide Number Placeholder 3"/>
          <p:cNvSpPr>
            <a:spLocks noGrp="1"/>
          </p:cNvSpPr>
          <p:nvPr>
            <p:ph type="sldNum" sz="quarter" idx="12"/>
          </p:nvPr>
        </p:nvSpPr>
        <p:spPr/>
        <p:txBody>
          <a:bodyPr/>
          <a:lstStyle/>
          <a:p>
            <a:fld id="{380846C1-CD93-4AE4-8DA9-0A1941B6C5F9}" type="slidenum">
              <a:rPr lang="en-US" smtClean="0"/>
              <a:t>5</a:t>
            </a:fld>
            <a:endParaRPr lang="en-US"/>
          </a:p>
        </p:txBody>
      </p:sp>
    </p:spTree>
    <p:extLst>
      <p:ext uri="{BB962C8B-B14F-4D97-AF65-F5344CB8AC3E}">
        <p14:creationId xmlns:p14="http://schemas.microsoft.com/office/powerpoint/2010/main" val="234267498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Von Neumann Architecture</a:t>
            </a:r>
            <a:endParaRPr lang="en-US" dirty="0"/>
          </a:p>
        </p:txBody>
      </p:sp>
      <p:sp>
        <p:nvSpPr>
          <p:cNvPr id="4" name="Slide Number Placeholder 3"/>
          <p:cNvSpPr>
            <a:spLocks noGrp="1"/>
          </p:cNvSpPr>
          <p:nvPr>
            <p:ph type="sldNum" sz="quarter" idx="12"/>
          </p:nvPr>
        </p:nvSpPr>
        <p:spPr/>
        <p:txBody>
          <a:bodyPr/>
          <a:lstStyle/>
          <a:p>
            <a:fld id="{380846C1-CD93-4AE4-8DA9-0A1941B6C5F9}" type="slidenum">
              <a:rPr lang="en-US" smtClean="0"/>
              <a:t>6</a:t>
            </a:fld>
            <a:endParaRPr lang="en-US"/>
          </a:p>
        </p:txBody>
      </p:sp>
      <p:pic>
        <p:nvPicPr>
          <p:cNvPr id="1026" name="Picture 2" descr="https://lh7-rt.googleusercontent.com/docsz/AD_4nXe69It2AEzd1zRKuy1fHTLg34WQg3MSPmCtDvG_zjxMRhqsTQMByNl1rCgh8GK1Kgql4kUMliR6yVb0z0QDPwzSTz4JDnXx5WcIwjASCY2fd0y7W47xyctrhQ4Wupr7HHtNpOGNdw?key=3t1yVFxkmF-Va4PpDyArpCDB"/>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761839" y="2093976"/>
            <a:ext cx="5062712" cy="3543899"/>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p:cNvSpPr/>
          <p:nvPr/>
        </p:nvSpPr>
        <p:spPr>
          <a:xfrm>
            <a:off x="5964294" y="2434764"/>
            <a:ext cx="5569979" cy="2862322"/>
          </a:xfrm>
          <a:prstGeom prst="rect">
            <a:avLst/>
          </a:prstGeom>
        </p:spPr>
        <p:txBody>
          <a:bodyPr wrap="square">
            <a:spAutoFit/>
          </a:bodyPr>
          <a:lstStyle/>
          <a:p>
            <a:r>
              <a:rPr lang="en-US" b="1" i="0" u="none" strike="noStrike" dirty="0">
                <a:solidFill>
                  <a:srgbClr val="000000"/>
                </a:solidFill>
                <a:effectLst/>
              </a:rPr>
              <a:t>PC </a:t>
            </a:r>
            <a:r>
              <a:rPr lang="en-US" b="0" i="0" u="none" strike="noStrike" dirty="0">
                <a:solidFill>
                  <a:srgbClr val="000000"/>
                </a:solidFill>
                <a:effectLst/>
              </a:rPr>
              <a:t>(Program counter): holds the address of next instruction.</a:t>
            </a:r>
            <a:endParaRPr lang="en-US" b="0" dirty="0">
              <a:effectLst/>
            </a:endParaRPr>
          </a:p>
          <a:p>
            <a:r>
              <a:rPr lang="en-US" b="1" i="0" u="none" strike="noStrike" dirty="0">
                <a:solidFill>
                  <a:srgbClr val="000000"/>
                </a:solidFill>
                <a:effectLst/>
              </a:rPr>
              <a:t>AC </a:t>
            </a:r>
            <a:r>
              <a:rPr lang="en-US" b="0" i="0" u="none" strike="noStrike" dirty="0">
                <a:solidFill>
                  <a:srgbClr val="000000"/>
                </a:solidFill>
                <a:effectLst/>
              </a:rPr>
              <a:t>(Accumulator): ALU operations occur here.</a:t>
            </a:r>
            <a:endParaRPr lang="en-US" b="0" dirty="0">
              <a:effectLst/>
            </a:endParaRPr>
          </a:p>
          <a:p>
            <a:r>
              <a:rPr lang="en-US" b="1" i="0" u="none" strike="noStrike" dirty="0">
                <a:solidFill>
                  <a:srgbClr val="000000"/>
                </a:solidFill>
                <a:effectLst/>
              </a:rPr>
              <a:t>MAR </a:t>
            </a:r>
            <a:r>
              <a:rPr lang="en-US" b="0" i="0" u="none" strike="noStrike" dirty="0">
                <a:solidFill>
                  <a:srgbClr val="000000"/>
                </a:solidFill>
                <a:effectLst/>
              </a:rPr>
              <a:t>(Mem. Address Register): stores the address of memory to be accessed (either for fetching an instruction or reading/writing data).</a:t>
            </a:r>
            <a:endParaRPr lang="en-US" b="0" dirty="0">
              <a:effectLst/>
            </a:endParaRPr>
          </a:p>
          <a:p>
            <a:r>
              <a:rPr lang="en-US" b="1" i="0" u="none" strike="noStrike" dirty="0">
                <a:solidFill>
                  <a:srgbClr val="000000"/>
                </a:solidFill>
                <a:effectLst/>
              </a:rPr>
              <a:t>MDR </a:t>
            </a:r>
            <a:r>
              <a:rPr lang="en-US" b="0" i="0" u="none" strike="noStrike" dirty="0">
                <a:solidFill>
                  <a:srgbClr val="000000"/>
                </a:solidFill>
                <a:effectLst/>
              </a:rPr>
              <a:t>(Mem. Data Register): stores the data of an instruction.</a:t>
            </a:r>
            <a:endParaRPr lang="en-US" b="0" dirty="0">
              <a:effectLst/>
            </a:endParaRPr>
          </a:p>
          <a:p>
            <a:r>
              <a:rPr lang="en-US" b="1" i="0" u="none" strike="noStrike" dirty="0">
                <a:solidFill>
                  <a:srgbClr val="000000"/>
                </a:solidFill>
                <a:effectLst/>
              </a:rPr>
              <a:t>CIR </a:t>
            </a:r>
            <a:r>
              <a:rPr lang="en-US" b="0" i="0" u="none" strike="noStrike" dirty="0">
                <a:solidFill>
                  <a:srgbClr val="000000"/>
                </a:solidFill>
                <a:effectLst/>
              </a:rPr>
              <a:t>(Current Instruction Register): holds the current instruction.</a:t>
            </a:r>
            <a:endParaRPr lang="en-US" dirty="0"/>
          </a:p>
        </p:txBody>
      </p:sp>
    </p:spTree>
    <p:extLst>
      <p:ext uri="{BB962C8B-B14F-4D97-AF65-F5344CB8AC3E}">
        <p14:creationId xmlns:p14="http://schemas.microsoft.com/office/powerpoint/2010/main" val="192276636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Von Neumann Architecture</a:t>
            </a:r>
            <a:endParaRPr lang="en-US" dirty="0"/>
          </a:p>
        </p:txBody>
      </p:sp>
      <p:sp>
        <p:nvSpPr>
          <p:cNvPr id="3" name="Content Placeholder 2"/>
          <p:cNvSpPr>
            <a:spLocks noGrp="1"/>
          </p:cNvSpPr>
          <p:nvPr>
            <p:ph idx="1"/>
          </p:nvPr>
        </p:nvSpPr>
        <p:spPr/>
        <p:txBody>
          <a:bodyPr>
            <a:normAutofit/>
          </a:bodyPr>
          <a:lstStyle/>
          <a:p>
            <a:r>
              <a:rPr lang="en-US" dirty="0"/>
              <a:t>Advantages of Von Neumann:</a:t>
            </a:r>
          </a:p>
          <a:p>
            <a:pPr marL="617220" lvl="1" indent="-342900">
              <a:buFont typeface="+mj-lt"/>
              <a:buAutoNum type="arabicPeriod"/>
            </a:pPr>
            <a:r>
              <a:rPr lang="en-US" b="1" dirty="0"/>
              <a:t>Simple &amp; Cost-Effective</a:t>
            </a:r>
            <a:r>
              <a:rPr lang="en-US" dirty="0"/>
              <a:t>: Uses a single memory for both data &amp; instructions, making it easier and cheaper to build.</a:t>
            </a:r>
          </a:p>
          <a:p>
            <a:pPr marL="617220" lvl="1" indent="-342900">
              <a:buFont typeface="+mj-lt"/>
              <a:buAutoNum type="arabicPeriod"/>
            </a:pPr>
            <a:r>
              <a:rPr lang="en-US" b="1" dirty="0"/>
              <a:t>Flexible</a:t>
            </a:r>
            <a:r>
              <a:rPr lang="en-US" dirty="0"/>
              <a:t>: Can execute different programs by just loading new instructions into memory.</a:t>
            </a:r>
          </a:p>
          <a:p>
            <a:pPr marL="617220" lvl="1" indent="-342900">
              <a:buFont typeface="+mj-lt"/>
              <a:buAutoNum type="arabicPeriod"/>
            </a:pPr>
            <a:r>
              <a:rPr lang="en-US" b="1" dirty="0"/>
              <a:t>Efficient Use of Memory</a:t>
            </a:r>
            <a:r>
              <a:rPr lang="en-US" dirty="0"/>
              <a:t>: Same memory can store both code and data dynamically.</a:t>
            </a:r>
          </a:p>
          <a:p>
            <a:pPr marL="617220" lvl="1" indent="-342900">
              <a:buFont typeface="+mj-lt"/>
              <a:buAutoNum type="arabicPeriod"/>
            </a:pPr>
            <a:r>
              <a:rPr lang="en-US" b="1" dirty="0"/>
              <a:t>Widespread Usage</a:t>
            </a:r>
            <a:r>
              <a:rPr lang="en-US" dirty="0"/>
              <a:t>: Most modern computers use this design, making it well-supported.</a:t>
            </a:r>
          </a:p>
          <a:p>
            <a:r>
              <a:rPr lang="en-US" dirty="0"/>
              <a:t>Disadvantages of Von Neumann Architecture:</a:t>
            </a:r>
          </a:p>
          <a:p>
            <a:pPr marL="617220" lvl="1" indent="-342900">
              <a:buFont typeface="+mj-lt"/>
              <a:buAutoNum type="arabicPeriod"/>
            </a:pPr>
            <a:r>
              <a:rPr lang="en-US" b="1" dirty="0"/>
              <a:t>Von Neumann Bottleneck</a:t>
            </a:r>
            <a:r>
              <a:rPr lang="en-US" dirty="0"/>
              <a:t>: The single memory bus limits the speed, as instructions and data share the same path.</a:t>
            </a:r>
          </a:p>
          <a:p>
            <a:pPr marL="617220" lvl="1" indent="-342900">
              <a:buFont typeface="+mj-lt"/>
              <a:buAutoNum type="arabicPeriod"/>
            </a:pPr>
            <a:r>
              <a:rPr lang="en-US" b="1" dirty="0"/>
              <a:t>Slower Execution</a:t>
            </a:r>
            <a:r>
              <a:rPr lang="en-US" dirty="0"/>
              <a:t>: Fetching data and instructions sequentially can slow down performance.</a:t>
            </a:r>
          </a:p>
          <a:p>
            <a:pPr marL="617220" lvl="1" indent="-342900">
              <a:buFont typeface="+mj-lt"/>
              <a:buAutoNum type="arabicPeriod"/>
            </a:pPr>
            <a:r>
              <a:rPr lang="en-US" b="1" dirty="0"/>
              <a:t>Risk of Overwriting</a:t>
            </a:r>
            <a:r>
              <a:rPr lang="en-US" dirty="0"/>
              <a:t>: Since instructions and data share the same memory, a bug can accidentally modify the program.</a:t>
            </a:r>
          </a:p>
        </p:txBody>
      </p:sp>
      <p:sp>
        <p:nvSpPr>
          <p:cNvPr id="4" name="Slide Number Placeholder 3"/>
          <p:cNvSpPr>
            <a:spLocks noGrp="1"/>
          </p:cNvSpPr>
          <p:nvPr>
            <p:ph type="sldNum" sz="quarter" idx="12"/>
          </p:nvPr>
        </p:nvSpPr>
        <p:spPr/>
        <p:txBody>
          <a:bodyPr/>
          <a:lstStyle/>
          <a:p>
            <a:fld id="{380846C1-CD93-4AE4-8DA9-0A1941B6C5F9}" type="slidenum">
              <a:rPr lang="en-US" smtClean="0"/>
              <a:t>7</a:t>
            </a:fld>
            <a:endParaRPr lang="en-US"/>
          </a:p>
        </p:txBody>
      </p:sp>
    </p:spTree>
    <p:extLst>
      <p:ext uri="{BB962C8B-B14F-4D97-AF65-F5344CB8AC3E}">
        <p14:creationId xmlns:p14="http://schemas.microsoft.com/office/powerpoint/2010/main" val="126234612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System bus</a:t>
            </a:r>
          </a:p>
        </p:txBody>
      </p:sp>
      <p:sp>
        <p:nvSpPr>
          <p:cNvPr id="3" name="Content Placeholder 2"/>
          <p:cNvSpPr>
            <a:spLocks noGrp="1"/>
          </p:cNvSpPr>
          <p:nvPr>
            <p:ph idx="1"/>
          </p:nvPr>
        </p:nvSpPr>
        <p:spPr>
          <a:xfrm>
            <a:off x="1069848" y="1867301"/>
            <a:ext cx="10058400" cy="4304899"/>
          </a:xfrm>
        </p:spPr>
        <p:txBody>
          <a:bodyPr/>
          <a:lstStyle/>
          <a:p>
            <a:r>
              <a:rPr lang="en-US" dirty="0"/>
              <a:t>For connecting the components in a computer architecture we use a system</a:t>
            </a:r>
            <a:r>
              <a:rPr lang="en-US" b="1" dirty="0"/>
              <a:t> bus </a:t>
            </a:r>
            <a:r>
              <a:rPr lang="en-US" dirty="0"/>
              <a:t>(set of parallel wires). System Bus consists of:</a:t>
            </a:r>
          </a:p>
          <a:p>
            <a:pPr marL="617220" lvl="1" indent="-342900" fontAlgn="base">
              <a:buFont typeface="+mj-lt"/>
              <a:buAutoNum type="arabicPeriod"/>
            </a:pPr>
            <a:r>
              <a:rPr lang="en-US" dirty="0"/>
              <a:t>Data Bus: bi-directional (two-way data flow), used to carry data and instruction. Transmits data between CPU, Memory and I/O.</a:t>
            </a:r>
          </a:p>
          <a:p>
            <a:pPr marL="617220" lvl="1" indent="-342900" fontAlgn="base">
              <a:buFont typeface="+mj-lt"/>
              <a:buAutoNum type="arabicPeriod"/>
            </a:pPr>
            <a:r>
              <a:rPr lang="en-US" dirty="0"/>
              <a:t>Address Bus: unidirectional (one-way), carries memory location where data needs to be sent. Carries address from CPU to RAM and I/O. </a:t>
            </a:r>
          </a:p>
          <a:p>
            <a:pPr marL="617220" lvl="1" indent="-342900" fontAlgn="base">
              <a:buFont typeface="+mj-lt"/>
              <a:buAutoNum type="arabicPeriod"/>
            </a:pPr>
            <a:r>
              <a:rPr lang="en-US" dirty="0"/>
              <a:t>Control Bus: bi-directional, used to carry control signals (Read, write, interrupt, reset).</a:t>
            </a:r>
          </a:p>
        </p:txBody>
      </p:sp>
      <p:sp>
        <p:nvSpPr>
          <p:cNvPr id="4" name="Slide Number Placeholder 3"/>
          <p:cNvSpPr>
            <a:spLocks noGrp="1"/>
          </p:cNvSpPr>
          <p:nvPr>
            <p:ph type="sldNum" sz="quarter" idx="12"/>
          </p:nvPr>
        </p:nvSpPr>
        <p:spPr/>
        <p:txBody>
          <a:bodyPr/>
          <a:lstStyle/>
          <a:p>
            <a:fld id="{380846C1-CD93-4AE4-8DA9-0A1941B6C5F9}" type="slidenum">
              <a:rPr lang="en-US" smtClean="0"/>
              <a:t>8</a:t>
            </a:fld>
            <a:endParaRPr lang="en-US"/>
          </a:p>
        </p:txBody>
      </p:sp>
      <p:pic>
        <p:nvPicPr>
          <p:cNvPr id="2052" name="Picture 4" descr="https://lh7-rt.googleusercontent.com/docsz/AD_4nXc3KOa9mtVffG_yEdWlKNB-xNx6_6so9TXxNldBFM7-jcHWAOYhs_4QNPxcG8fDGrSRGOZcP6pO5GfET4C6GSnDJT2LfeCYMI6m_scoAN9TXRuZP-zQddGhhqV1p_xCCCQ6viYp7A?key=3t1yVFxkmF-Va4PpDyArpCDB"/>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056871" y="3928309"/>
            <a:ext cx="3499398" cy="256444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8330714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69848" y="484632"/>
            <a:ext cx="10058400" cy="612648"/>
          </a:xfrm>
        </p:spPr>
        <p:txBody>
          <a:bodyPr>
            <a:normAutofit/>
          </a:bodyPr>
          <a:lstStyle/>
          <a:p>
            <a:r>
              <a:rPr lang="en-US" sz="2800" b="1" dirty="0"/>
              <a:t>RISC (Reduced Instruction Set Computer) Architecture</a:t>
            </a:r>
            <a:endParaRPr lang="en-US" sz="2800" dirty="0"/>
          </a:p>
        </p:txBody>
      </p:sp>
      <p:sp>
        <p:nvSpPr>
          <p:cNvPr id="3" name="Content Placeholder 2"/>
          <p:cNvSpPr>
            <a:spLocks noGrp="1"/>
          </p:cNvSpPr>
          <p:nvPr>
            <p:ph idx="1"/>
          </p:nvPr>
        </p:nvSpPr>
        <p:spPr>
          <a:xfrm>
            <a:off x="1069848" y="1232034"/>
            <a:ext cx="10058400" cy="4940166"/>
          </a:xfrm>
        </p:spPr>
        <p:txBody>
          <a:bodyPr>
            <a:normAutofit lnSpcReduction="10000"/>
          </a:bodyPr>
          <a:lstStyle/>
          <a:p>
            <a:r>
              <a:rPr lang="en-US" dirty="0"/>
              <a:t>Small, highly optimized instruction set that executes in a single clock cycle. Instructions set in RISC are fixed-length (usually 32-bits). RISC enables pipelining (executing multiple instructions simultaneously in different stages of the instruction cycle).</a:t>
            </a:r>
          </a:p>
          <a:p>
            <a:r>
              <a:rPr lang="en-US" i="1" dirty="0"/>
              <a:t>Example</a:t>
            </a:r>
            <a:r>
              <a:rPr lang="en-US" dirty="0"/>
              <a:t>: Multiplying 2 values:</a:t>
            </a:r>
          </a:p>
          <a:p>
            <a:pPr marL="617220" lvl="1" indent="-342900">
              <a:buFont typeface="+mj-lt"/>
              <a:buAutoNum type="arabicPeriod"/>
            </a:pPr>
            <a:r>
              <a:rPr lang="en-US" dirty="0"/>
              <a:t>LOAD R1, A ; Load value A into register R1 </a:t>
            </a:r>
          </a:p>
          <a:p>
            <a:pPr marL="617220" lvl="1" indent="-342900">
              <a:buFont typeface="+mj-lt"/>
              <a:buAutoNum type="arabicPeriod"/>
            </a:pPr>
            <a:r>
              <a:rPr lang="en-US" dirty="0"/>
              <a:t>LOAD R2, B ; Load value B into register R2 </a:t>
            </a:r>
          </a:p>
          <a:p>
            <a:pPr marL="617220" lvl="1" indent="-342900">
              <a:buFont typeface="+mj-lt"/>
              <a:buAutoNum type="arabicPeriod"/>
            </a:pPr>
            <a:r>
              <a:rPr lang="en-US" dirty="0"/>
              <a:t>MUL R3, R1, R2 ; Multiply R1 and R2, store in R3 </a:t>
            </a:r>
          </a:p>
          <a:p>
            <a:pPr marL="617220" lvl="1" indent="-342900">
              <a:buFont typeface="+mj-lt"/>
              <a:buAutoNum type="arabicPeriod"/>
            </a:pPr>
            <a:r>
              <a:rPr lang="en-US" dirty="0"/>
              <a:t>STORE R3, C ; Store result in memory location C </a:t>
            </a:r>
          </a:p>
          <a:p>
            <a:pPr marL="457200" indent="-457200">
              <a:spcBef>
                <a:spcPts val="600"/>
              </a:spcBef>
              <a:buFont typeface="+mj-lt"/>
              <a:buAutoNum type="arabicPeriod"/>
            </a:pPr>
            <a:r>
              <a:rPr lang="en-US" b="1" dirty="0"/>
              <a:t>Few, simple instructions</a:t>
            </a:r>
            <a:r>
              <a:rPr lang="en-US" dirty="0"/>
              <a:t>: Each instruction takes one clock cycle.</a:t>
            </a:r>
          </a:p>
          <a:p>
            <a:pPr marL="457200" indent="-457200">
              <a:spcBef>
                <a:spcPts val="600"/>
              </a:spcBef>
              <a:buFont typeface="+mj-lt"/>
              <a:buAutoNum type="arabicPeriod"/>
            </a:pPr>
            <a:r>
              <a:rPr lang="en-US" b="1" dirty="0"/>
              <a:t>Fixed instruction size</a:t>
            </a:r>
            <a:r>
              <a:rPr lang="en-US" dirty="0"/>
              <a:t>: Easy to decode and execute.</a:t>
            </a:r>
          </a:p>
          <a:p>
            <a:pPr marL="457200" indent="-457200">
              <a:spcBef>
                <a:spcPts val="600"/>
              </a:spcBef>
              <a:buFont typeface="+mj-lt"/>
              <a:buAutoNum type="arabicPeriod"/>
            </a:pPr>
            <a:r>
              <a:rPr lang="en-US" b="1" dirty="0"/>
              <a:t>More registers</a:t>
            </a:r>
            <a:r>
              <a:rPr lang="en-US" dirty="0"/>
              <a:t>: Uses registers for computations instead of memory.</a:t>
            </a:r>
          </a:p>
          <a:p>
            <a:pPr marL="457200" indent="-457200">
              <a:spcBef>
                <a:spcPts val="600"/>
              </a:spcBef>
              <a:buFont typeface="+mj-lt"/>
              <a:buAutoNum type="arabicPeriod"/>
            </a:pPr>
            <a:r>
              <a:rPr lang="en-US" b="1" dirty="0"/>
              <a:t>More lines of code</a:t>
            </a:r>
            <a:r>
              <a:rPr lang="en-US" dirty="0"/>
              <a:t>: Simple instructions mean more instructions are needed to complete a task.</a:t>
            </a:r>
          </a:p>
          <a:p>
            <a:pPr marL="457200" indent="-457200">
              <a:spcBef>
                <a:spcPts val="600"/>
              </a:spcBef>
              <a:buFont typeface="+mj-lt"/>
              <a:buAutoNum type="arabicPeriod"/>
            </a:pPr>
            <a:r>
              <a:rPr lang="en-US" b="1" dirty="0"/>
              <a:t>Less complex hardware</a:t>
            </a:r>
            <a:r>
              <a:rPr lang="en-US" dirty="0"/>
              <a:t>: Easier to design and optimize.</a:t>
            </a:r>
          </a:p>
          <a:p>
            <a:pPr marL="457200" indent="-457200">
              <a:spcBef>
                <a:spcPts val="600"/>
              </a:spcBef>
              <a:buFont typeface="+mj-lt"/>
              <a:buAutoNum type="arabicPeriod"/>
            </a:pPr>
            <a:r>
              <a:rPr lang="en-US" b="1" dirty="0"/>
              <a:t>Used in modern processors</a:t>
            </a:r>
            <a:r>
              <a:rPr lang="en-US" dirty="0"/>
              <a:t>: ARM, MIPS.</a:t>
            </a:r>
          </a:p>
        </p:txBody>
      </p:sp>
      <p:sp>
        <p:nvSpPr>
          <p:cNvPr id="4" name="Slide Number Placeholder 3"/>
          <p:cNvSpPr>
            <a:spLocks noGrp="1"/>
          </p:cNvSpPr>
          <p:nvPr>
            <p:ph type="sldNum" sz="quarter" idx="12"/>
          </p:nvPr>
        </p:nvSpPr>
        <p:spPr/>
        <p:txBody>
          <a:bodyPr/>
          <a:lstStyle/>
          <a:p>
            <a:fld id="{380846C1-CD93-4AE4-8DA9-0A1941B6C5F9}" type="slidenum">
              <a:rPr lang="en-US" smtClean="0"/>
              <a:t>9</a:t>
            </a:fld>
            <a:endParaRPr lang="en-US"/>
          </a:p>
        </p:txBody>
      </p:sp>
    </p:spTree>
    <p:extLst>
      <p:ext uri="{BB962C8B-B14F-4D97-AF65-F5344CB8AC3E}">
        <p14:creationId xmlns:p14="http://schemas.microsoft.com/office/powerpoint/2010/main" val="10201838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69848" y="484632"/>
            <a:ext cx="10058400" cy="612648"/>
          </a:xfrm>
        </p:spPr>
        <p:txBody>
          <a:bodyPr>
            <a:normAutofit/>
          </a:bodyPr>
          <a:lstStyle/>
          <a:p>
            <a:r>
              <a:rPr lang="en-US" sz="2800" b="1" dirty="0"/>
              <a:t>CISC (Complex Instruction Set Computer) Architecture:</a:t>
            </a:r>
            <a:endParaRPr lang="en-US" sz="2800" dirty="0"/>
          </a:p>
        </p:txBody>
      </p:sp>
      <p:sp>
        <p:nvSpPr>
          <p:cNvPr id="3" name="Content Placeholder 2"/>
          <p:cNvSpPr>
            <a:spLocks noGrp="1"/>
          </p:cNvSpPr>
          <p:nvPr>
            <p:ph idx="1"/>
          </p:nvPr>
        </p:nvSpPr>
        <p:spPr>
          <a:xfrm>
            <a:off x="1069848" y="1232034"/>
            <a:ext cx="10058400" cy="4940166"/>
          </a:xfrm>
        </p:spPr>
        <p:txBody>
          <a:bodyPr>
            <a:normAutofit/>
          </a:bodyPr>
          <a:lstStyle/>
          <a:p>
            <a:r>
              <a:rPr lang="en-US" dirty="0"/>
              <a:t>Single but complex instruction set, can perform multiple operations, can take multiple clock cycles, has variable-length (8-120 bits).</a:t>
            </a:r>
          </a:p>
          <a:p>
            <a:r>
              <a:rPr lang="en-US" i="1" dirty="0"/>
              <a:t>Example</a:t>
            </a:r>
            <a:r>
              <a:rPr lang="en-US" dirty="0"/>
              <a:t>: Multiplying 2 values:</a:t>
            </a:r>
          </a:p>
          <a:p>
            <a:pPr marL="617220" lvl="1" indent="-342900">
              <a:buFont typeface="+mj-lt"/>
              <a:buAutoNum type="arabicPeriod"/>
            </a:pPr>
            <a:r>
              <a:rPr lang="en-US" dirty="0"/>
              <a:t>MUL A, B, C ; Multiply values at memory locations B and C, store in A</a:t>
            </a:r>
          </a:p>
          <a:p>
            <a:pPr marL="457200" indent="-457200">
              <a:buFont typeface="+mj-lt"/>
              <a:buAutoNum type="arabicPeriod"/>
            </a:pPr>
            <a:r>
              <a:rPr lang="en-US" b="1" dirty="0"/>
              <a:t>Many complex instructions</a:t>
            </a:r>
            <a:r>
              <a:rPr lang="en-US" dirty="0"/>
              <a:t>: One instruction can do multiple tasks.</a:t>
            </a:r>
          </a:p>
          <a:p>
            <a:pPr marL="457200" indent="-457200">
              <a:buFont typeface="+mj-lt"/>
              <a:buAutoNum type="arabicPeriod"/>
            </a:pPr>
            <a:r>
              <a:rPr lang="en-US" b="1" dirty="0"/>
              <a:t>Variable instruction size</a:t>
            </a:r>
            <a:r>
              <a:rPr lang="en-US" dirty="0"/>
              <a:t>: Harder to decode and execute.</a:t>
            </a:r>
          </a:p>
          <a:p>
            <a:pPr marL="457200" indent="-457200">
              <a:buFont typeface="+mj-lt"/>
              <a:buAutoNum type="arabicPeriod"/>
            </a:pPr>
            <a:r>
              <a:rPr lang="en-US" b="1" dirty="0"/>
              <a:t>More memory operations</a:t>
            </a:r>
            <a:r>
              <a:rPr lang="en-US" dirty="0"/>
              <a:t>: Relies more on RAM instead of registers.</a:t>
            </a:r>
          </a:p>
          <a:p>
            <a:pPr marL="457200" indent="-457200">
              <a:buFont typeface="+mj-lt"/>
              <a:buAutoNum type="arabicPeriod"/>
            </a:pPr>
            <a:r>
              <a:rPr lang="en-US" b="1" dirty="0"/>
              <a:t>Fewer lines of code</a:t>
            </a:r>
            <a:r>
              <a:rPr lang="en-US" dirty="0"/>
              <a:t>: One complex instruction does more work.</a:t>
            </a:r>
          </a:p>
          <a:p>
            <a:pPr marL="457200" indent="-457200">
              <a:buFont typeface="+mj-lt"/>
              <a:buAutoNum type="arabicPeriod"/>
            </a:pPr>
            <a:r>
              <a:rPr lang="en-US" b="1" dirty="0"/>
              <a:t>More complex hardware</a:t>
            </a:r>
            <a:r>
              <a:rPr lang="en-US" dirty="0"/>
              <a:t>: Harder to design but powerful.</a:t>
            </a:r>
          </a:p>
          <a:p>
            <a:pPr marL="457200" indent="-457200">
              <a:buFont typeface="+mj-lt"/>
              <a:buAutoNum type="arabicPeriod"/>
            </a:pPr>
            <a:r>
              <a:rPr lang="en-US" b="1" dirty="0"/>
              <a:t>Used in traditional and desktop processors</a:t>
            </a:r>
            <a:r>
              <a:rPr lang="en-US" dirty="0"/>
              <a:t>: Intel x86, AMD.</a:t>
            </a:r>
          </a:p>
        </p:txBody>
      </p:sp>
      <p:sp>
        <p:nvSpPr>
          <p:cNvPr id="4" name="Slide Number Placeholder 3"/>
          <p:cNvSpPr>
            <a:spLocks noGrp="1"/>
          </p:cNvSpPr>
          <p:nvPr>
            <p:ph type="sldNum" sz="quarter" idx="12"/>
          </p:nvPr>
        </p:nvSpPr>
        <p:spPr/>
        <p:txBody>
          <a:bodyPr/>
          <a:lstStyle/>
          <a:p>
            <a:fld id="{380846C1-CD93-4AE4-8DA9-0A1941B6C5F9}" type="slidenum">
              <a:rPr lang="en-US" smtClean="0"/>
              <a:t>10</a:t>
            </a:fld>
            <a:endParaRPr lang="en-US"/>
          </a:p>
        </p:txBody>
      </p:sp>
    </p:spTree>
    <p:extLst>
      <p:ext uri="{BB962C8B-B14F-4D97-AF65-F5344CB8AC3E}">
        <p14:creationId xmlns:p14="http://schemas.microsoft.com/office/powerpoint/2010/main" val="204154014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69848" y="484632"/>
            <a:ext cx="10058400" cy="612648"/>
          </a:xfrm>
        </p:spPr>
        <p:txBody>
          <a:bodyPr>
            <a:normAutofit/>
          </a:bodyPr>
          <a:lstStyle/>
          <a:p>
            <a:r>
              <a:rPr lang="en-US" sz="2800" b="1" dirty="0"/>
              <a:t>Understanding Program Performance</a:t>
            </a:r>
            <a:endParaRPr lang="en-US" sz="2800" dirty="0"/>
          </a:p>
        </p:txBody>
      </p:sp>
      <p:sp>
        <p:nvSpPr>
          <p:cNvPr id="3" name="Content Placeholder 2"/>
          <p:cNvSpPr>
            <a:spLocks noGrp="1"/>
          </p:cNvSpPr>
          <p:nvPr>
            <p:ph idx="1"/>
          </p:nvPr>
        </p:nvSpPr>
        <p:spPr>
          <a:xfrm>
            <a:off x="1069848" y="1232034"/>
            <a:ext cx="10058400" cy="4940166"/>
          </a:xfrm>
        </p:spPr>
        <p:txBody>
          <a:bodyPr>
            <a:normAutofit/>
          </a:bodyPr>
          <a:lstStyle/>
          <a:p>
            <a:r>
              <a:rPr lang="en-US" b="1" dirty="0"/>
              <a:t>Program performance</a:t>
            </a:r>
            <a:r>
              <a:rPr lang="en-US" dirty="0"/>
              <a:t>: ability of a computer program to execute programs efficiently. Measured in execution time and throughput.</a:t>
            </a:r>
          </a:p>
          <a:p>
            <a:r>
              <a:rPr lang="en-US" b="1" dirty="0"/>
              <a:t>Execution time:</a:t>
            </a:r>
            <a:r>
              <a:rPr lang="en-US" dirty="0"/>
              <a:t> time taken to complete a task. Lower, Better. </a:t>
            </a:r>
          </a:p>
          <a:p>
            <a:r>
              <a:rPr lang="en-US" dirty="0"/>
              <a:t>Execution time </a:t>
            </a:r>
          </a:p>
          <a:p>
            <a:pPr marL="731520" lvl="1" indent="-457200">
              <a:buFont typeface="+mj-lt"/>
              <a:buAutoNum type="arabicPeriod"/>
            </a:pPr>
            <a:r>
              <a:rPr lang="en-US" dirty="0"/>
              <a:t>= CPU clock cycles for a program (CPI) * clock cycle time (</a:t>
            </a:r>
            <a:r>
              <a:rPr lang="en-US" i="1" dirty="0"/>
              <a:t>Using Clock Cycle Time</a:t>
            </a:r>
            <a:r>
              <a:rPr lang="en-US" dirty="0"/>
              <a:t>)</a:t>
            </a:r>
          </a:p>
          <a:p>
            <a:pPr marL="731520" lvl="1" indent="-457200">
              <a:buFont typeface="+mj-lt"/>
              <a:buAutoNum type="arabicPeriod"/>
            </a:pPr>
            <a:r>
              <a:rPr lang="en-US" dirty="0"/>
              <a:t>= CPU clock cycles for a program / Clock rate (</a:t>
            </a:r>
            <a:r>
              <a:rPr lang="en-US" i="1" dirty="0"/>
              <a:t>General Formula</a:t>
            </a:r>
            <a:r>
              <a:rPr lang="en-US" dirty="0"/>
              <a:t>)</a:t>
            </a:r>
          </a:p>
          <a:p>
            <a:pPr marL="731520" lvl="1" indent="-457200">
              <a:buFont typeface="+mj-lt"/>
              <a:buAutoNum type="arabicPeriod"/>
            </a:pPr>
            <a:r>
              <a:rPr lang="en-US" dirty="0"/>
              <a:t>= Instruction Count x CPI / Clock Rate (</a:t>
            </a:r>
            <a:r>
              <a:rPr lang="en-US" i="1" dirty="0"/>
              <a:t>Using Instruction Count &amp; CPI</a:t>
            </a:r>
            <a:r>
              <a:rPr lang="en-US" dirty="0"/>
              <a:t>)</a:t>
            </a:r>
          </a:p>
          <a:p>
            <a:r>
              <a:rPr lang="en-US" b="1" dirty="0"/>
              <a:t>Throughput</a:t>
            </a:r>
            <a:r>
              <a:rPr lang="en-US" dirty="0"/>
              <a:t>: number of tasks completed in a given time. Higher, Better.</a:t>
            </a:r>
          </a:p>
          <a:p>
            <a:r>
              <a:rPr lang="en-US" b="1" dirty="0"/>
              <a:t>Speed up ratio:</a:t>
            </a:r>
            <a:r>
              <a:rPr lang="en-US" dirty="0"/>
              <a:t> execution time on slow device/execution time on fast device.</a:t>
            </a:r>
          </a:p>
        </p:txBody>
      </p:sp>
      <p:sp>
        <p:nvSpPr>
          <p:cNvPr id="4" name="Slide Number Placeholder 3"/>
          <p:cNvSpPr>
            <a:spLocks noGrp="1"/>
          </p:cNvSpPr>
          <p:nvPr>
            <p:ph type="sldNum" sz="quarter" idx="12"/>
          </p:nvPr>
        </p:nvSpPr>
        <p:spPr/>
        <p:txBody>
          <a:bodyPr/>
          <a:lstStyle/>
          <a:p>
            <a:fld id="{380846C1-CD93-4AE4-8DA9-0A1941B6C5F9}" type="slidenum">
              <a:rPr lang="en-US" smtClean="0"/>
              <a:t>11</a:t>
            </a:fld>
            <a:endParaRPr lang="en-US"/>
          </a:p>
        </p:txBody>
      </p:sp>
    </p:spTree>
    <p:extLst>
      <p:ext uri="{BB962C8B-B14F-4D97-AF65-F5344CB8AC3E}">
        <p14:creationId xmlns:p14="http://schemas.microsoft.com/office/powerpoint/2010/main" val="334447615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69848" y="484632"/>
            <a:ext cx="10058400" cy="612648"/>
          </a:xfrm>
        </p:spPr>
        <p:txBody>
          <a:bodyPr>
            <a:normAutofit/>
          </a:bodyPr>
          <a:lstStyle/>
          <a:p>
            <a:r>
              <a:rPr lang="en-US" sz="2800" b="1" dirty="0"/>
              <a:t>Understanding Program Performance</a:t>
            </a:r>
            <a:endParaRPr lang="en-US" sz="2800" dirty="0"/>
          </a:p>
        </p:txBody>
      </p:sp>
      <p:sp>
        <p:nvSpPr>
          <p:cNvPr id="3" name="Content Placeholder 2"/>
          <p:cNvSpPr>
            <a:spLocks noGrp="1"/>
          </p:cNvSpPr>
          <p:nvPr>
            <p:ph idx="1"/>
          </p:nvPr>
        </p:nvSpPr>
        <p:spPr>
          <a:xfrm>
            <a:off x="1069848" y="1232034"/>
            <a:ext cx="10058400" cy="4940166"/>
          </a:xfrm>
        </p:spPr>
        <p:txBody>
          <a:bodyPr>
            <a:normAutofit/>
          </a:bodyPr>
          <a:lstStyle/>
          <a:p>
            <a:r>
              <a:rPr lang="en-US" b="1" dirty="0"/>
              <a:t>CPU clock cycle</a:t>
            </a:r>
            <a:r>
              <a:rPr lang="en-US" dirty="0"/>
              <a:t>: It determines how fast the processor executes instructions.</a:t>
            </a:r>
          </a:p>
          <a:p>
            <a:r>
              <a:rPr lang="en-US" b="1" dirty="0"/>
              <a:t>Response time:</a:t>
            </a:r>
            <a:r>
              <a:rPr lang="en-US" dirty="0"/>
              <a:t> The total time from when a user gives an input until the system gives the output.</a:t>
            </a:r>
          </a:p>
          <a:p>
            <a:r>
              <a:rPr lang="en-US" b="1" dirty="0"/>
              <a:t>CPU Time</a:t>
            </a:r>
            <a:r>
              <a:rPr lang="en-US" dirty="0"/>
              <a:t>: The actual time the CPU spends processing a program (excluding time spent waiting for input/output).</a:t>
            </a:r>
          </a:p>
          <a:p>
            <a:r>
              <a:rPr lang="en-US" b="1" dirty="0"/>
              <a:t>System CPU Time:</a:t>
            </a:r>
            <a:r>
              <a:rPr lang="en-US" dirty="0"/>
              <a:t> The time the CPU spends on system-level operations (like managing memory, handling I/O), not just user programs.</a:t>
            </a:r>
          </a:p>
          <a:p>
            <a:r>
              <a:rPr lang="en-US" b="1" dirty="0"/>
              <a:t>Relative Performance</a:t>
            </a:r>
            <a:r>
              <a:rPr lang="en-US" dirty="0"/>
              <a:t>: A comparison of how fast one computer or processor is compared to another. Higher relative performance means a faster system.</a:t>
            </a:r>
          </a:p>
          <a:p>
            <a:r>
              <a:rPr lang="en-US" b="1" dirty="0"/>
              <a:t>CPI (Cycles Per Instruction)</a:t>
            </a:r>
            <a:r>
              <a:rPr lang="en-US" dirty="0"/>
              <a:t>: The average number of clock cycles needed to execute one instruction. Lower CPI means faster performance.</a:t>
            </a:r>
          </a:p>
          <a:p>
            <a:pPr marL="0" indent="0">
              <a:buNone/>
            </a:pPr>
            <a:endParaRPr lang="en-US" dirty="0"/>
          </a:p>
        </p:txBody>
      </p:sp>
      <p:sp>
        <p:nvSpPr>
          <p:cNvPr id="4" name="Slide Number Placeholder 3"/>
          <p:cNvSpPr>
            <a:spLocks noGrp="1"/>
          </p:cNvSpPr>
          <p:nvPr>
            <p:ph type="sldNum" sz="quarter" idx="12"/>
          </p:nvPr>
        </p:nvSpPr>
        <p:spPr/>
        <p:txBody>
          <a:bodyPr/>
          <a:lstStyle/>
          <a:p>
            <a:fld id="{380846C1-CD93-4AE4-8DA9-0A1941B6C5F9}" type="slidenum">
              <a:rPr lang="en-US" smtClean="0"/>
              <a:t>12</a:t>
            </a:fld>
            <a:endParaRPr lang="en-US"/>
          </a:p>
        </p:txBody>
      </p:sp>
    </p:spTree>
    <p:extLst>
      <p:ext uri="{BB962C8B-B14F-4D97-AF65-F5344CB8AC3E}">
        <p14:creationId xmlns:p14="http://schemas.microsoft.com/office/powerpoint/2010/main" val="380687266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69848" y="484632"/>
            <a:ext cx="10058400" cy="612648"/>
          </a:xfrm>
        </p:spPr>
        <p:txBody>
          <a:bodyPr>
            <a:normAutofit/>
          </a:bodyPr>
          <a:lstStyle/>
          <a:p>
            <a:r>
              <a:rPr lang="en-US" sz="2800" b="1" dirty="0"/>
              <a:t>Understanding Program Performance</a:t>
            </a:r>
            <a:endParaRPr lang="en-US" sz="2800" dirty="0"/>
          </a:p>
        </p:txBody>
      </p:sp>
      <p:sp>
        <p:nvSpPr>
          <p:cNvPr id="3" name="Content Placeholder 2"/>
          <p:cNvSpPr>
            <a:spLocks noGrp="1"/>
          </p:cNvSpPr>
          <p:nvPr>
            <p:ph idx="1"/>
          </p:nvPr>
        </p:nvSpPr>
        <p:spPr>
          <a:xfrm>
            <a:off x="1069848" y="1232034"/>
            <a:ext cx="10058400" cy="4940166"/>
          </a:xfrm>
        </p:spPr>
        <p:txBody>
          <a:bodyPr>
            <a:normAutofit/>
          </a:bodyPr>
          <a:lstStyle/>
          <a:p>
            <a:r>
              <a:rPr lang="en-US" dirty="0"/>
              <a:t>Key </a:t>
            </a:r>
            <a:r>
              <a:rPr lang="en-US" b="1" dirty="0"/>
              <a:t>factors </a:t>
            </a:r>
            <a:r>
              <a:rPr lang="en-US" dirty="0"/>
              <a:t>that affects computer performance:</a:t>
            </a:r>
          </a:p>
          <a:p>
            <a:pPr marL="731520" lvl="1" indent="-457200" fontAlgn="base">
              <a:buFont typeface="+mj-lt"/>
              <a:buAutoNum type="arabicPeriod"/>
            </a:pPr>
            <a:r>
              <a:rPr lang="en-US" dirty="0"/>
              <a:t>Clock Speed (expressed in GHz, instructions processed per second) - 4GHz performs better than 3GHz.</a:t>
            </a:r>
          </a:p>
          <a:p>
            <a:pPr marL="731520" lvl="1" indent="-457200" fontAlgn="base">
              <a:buFont typeface="+mj-lt"/>
              <a:buAutoNum type="arabicPeriod"/>
            </a:pPr>
            <a:r>
              <a:rPr lang="en-US" dirty="0"/>
              <a:t>Instruction count (fewer, faster).</a:t>
            </a:r>
          </a:p>
          <a:p>
            <a:pPr marL="731520" lvl="1" indent="-457200" fontAlgn="base">
              <a:buFont typeface="+mj-lt"/>
              <a:buAutoNum type="arabicPeriod"/>
            </a:pPr>
            <a:r>
              <a:rPr lang="en-US" dirty="0"/>
              <a:t>CPI (how many cycles a CPU takes per instruction).</a:t>
            </a:r>
          </a:p>
        </p:txBody>
      </p:sp>
      <p:sp>
        <p:nvSpPr>
          <p:cNvPr id="4" name="Slide Number Placeholder 3"/>
          <p:cNvSpPr>
            <a:spLocks noGrp="1"/>
          </p:cNvSpPr>
          <p:nvPr>
            <p:ph type="sldNum" sz="quarter" idx="12"/>
          </p:nvPr>
        </p:nvSpPr>
        <p:spPr/>
        <p:txBody>
          <a:bodyPr/>
          <a:lstStyle/>
          <a:p>
            <a:fld id="{380846C1-CD93-4AE4-8DA9-0A1941B6C5F9}" type="slidenum">
              <a:rPr lang="en-US" smtClean="0"/>
              <a:t>13</a:t>
            </a:fld>
            <a:endParaRPr lang="en-US"/>
          </a:p>
        </p:txBody>
      </p:sp>
    </p:spTree>
    <p:extLst>
      <p:ext uri="{BB962C8B-B14F-4D97-AF65-F5344CB8AC3E}">
        <p14:creationId xmlns:p14="http://schemas.microsoft.com/office/powerpoint/2010/main" val="68007752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69848" y="484632"/>
            <a:ext cx="10058400" cy="612648"/>
          </a:xfrm>
        </p:spPr>
        <p:txBody>
          <a:bodyPr>
            <a:normAutofit/>
          </a:bodyPr>
          <a:lstStyle/>
          <a:p>
            <a:r>
              <a:rPr lang="en-US" sz="2800" b="1" i="1" dirty="0"/>
              <a:t>Amdahl’s Law</a:t>
            </a:r>
            <a:endParaRPr lang="en-US" sz="2800" dirty="0"/>
          </a:p>
        </p:txBody>
      </p:sp>
      <p:sp>
        <p:nvSpPr>
          <p:cNvPr id="3" name="Content Placeholder 2"/>
          <p:cNvSpPr>
            <a:spLocks noGrp="1"/>
          </p:cNvSpPr>
          <p:nvPr>
            <p:ph idx="1"/>
          </p:nvPr>
        </p:nvSpPr>
        <p:spPr>
          <a:xfrm>
            <a:off x="1069848" y="1232034"/>
            <a:ext cx="10058400" cy="4940166"/>
          </a:xfrm>
        </p:spPr>
        <p:txBody>
          <a:bodyPr>
            <a:normAutofit/>
          </a:bodyPr>
          <a:lstStyle/>
          <a:p>
            <a:r>
              <a:rPr lang="en-US" dirty="0"/>
              <a:t>Determines maximum possible performance gain by improving one part of the system.</a:t>
            </a:r>
          </a:p>
          <a:p>
            <a:r>
              <a:rPr lang="en-US" dirty="0"/>
              <a:t>Calculated by, Speed Up = 1 / (1-p) + (p/s)</a:t>
            </a:r>
          </a:p>
          <a:p>
            <a:pPr lvl="1"/>
            <a:r>
              <a:rPr lang="en-US" dirty="0"/>
              <a:t>P = fraction of improved task</a:t>
            </a:r>
          </a:p>
          <a:p>
            <a:pPr lvl="1"/>
            <a:r>
              <a:rPr lang="en-US" dirty="0"/>
              <a:t>S = speed up factor / Number of processors </a:t>
            </a:r>
          </a:p>
          <a:p>
            <a:r>
              <a:rPr lang="en-US" i="1" dirty="0"/>
              <a:t>Example</a:t>
            </a:r>
            <a:r>
              <a:rPr lang="en-US" dirty="0"/>
              <a:t>: if 50% of a task is optimized, and speed up is 2x, overall speed up would be,</a:t>
            </a:r>
          </a:p>
          <a:p>
            <a:pPr marL="274320" lvl="1" indent="0">
              <a:buNone/>
            </a:pPr>
            <a:r>
              <a:rPr lang="en-US" dirty="0"/>
              <a:t>			</a:t>
            </a:r>
          </a:p>
          <a:p>
            <a:pPr marL="274320" lvl="1" indent="0">
              <a:buNone/>
            </a:pPr>
            <a:r>
              <a:rPr lang="en-US" dirty="0"/>
              <a:t>			           1 / (1-0.5) + (0.5/2) = 1.33x</a:t>
            </a:r>
          </a:p>
          <a:p>
            <a:pPr marL="0" indent="0">
              <a:buNone/>
            </a:pPr>
            <a:br>
              <a:rPr lang="en-US" dirty="0"/>
            </a:br>
            <a:endParaRPr lang="en-US" dirty="0"/>
          </a:p>
        </p:txBody>
      </p:sp>
      <p:sp>
        <p:nvSpPr>
          <p:cNvPr id="4" name="Slide Number Placeholder 3"/>
          <p:cNvSpPr>
            <a:spLocks noGrp="1"/>
          </p:cNvSpPr>
          <p:nvPr>
            <p:ph type="sldNum" sz="quarter" idx="12"/>
          </p:nvPr>
        </p:nvSpPr>
        <p:spPr/>
        <p:txBody>
          <a:bodyPr/>
          <a:lstStyle/>
          <a:p>
            <a:fld id="{380846C1-CD93-4AE4-8DA9-0A1941B6C5F9}" type="slidenum">
              <a:rPr lang="en-US" smtClean="0"/>
              <a:t>14</a:t>
            </a:fld>
            <a:endParaRPr lang="en-US"/>
          </a:p>
        </p:txBody>
      </p:sp>
    </p:spTree>
    <p:extLst>
      <p:ext uri="{BB962C8B-B14F-4D97-AF65-F5344CB8AC3E}">
        <p14:creationId xmlns:p14="http://schemas.microsoft.com/office/powerpoint/2010/main" val="323464217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69848" y="484632"/>
            <a:ext cx="10058400" cy="612648"/>
          </a:xfrm>
        </p:spPr>
        <p:txBody>
          <a:bodyPr>
            <a:normAutofit/>
          </a:bodyPr>
          <a:lstStyle/>
          <a:p>
            <a:r>
              <a:rPr lang="en-US" sz="2800" b="1" dirty="0"/>
              <a:t>MIPS (Millions Instructions Per Second) - 32 bits</a:t>
            </a:r>
            <a:endParaRPr lang="en-US" sz="2800" dirty="0"/>
          </a:p>
        </p:txBody>
      </p:sp>
      <p:sp>
        <p:nvSpPr>
          <p:cNvPr id="3" name="Content Placeholder 2"/>
          <p:cNvSpPr>
            <a:spLocks noGrp="1"/>
          </p:cNvSpPr>
          <p:nvPr>
            <p:ph idx="1"/>
          </p:nvPr>
        </p:nvSpPr>
        <p:spPr>
          <a:xfrm>
            <a:off x="1069848" y="1232034"/>
            <a:ext cx="10058400" cy="4940166"/>
          </a:xfrm>
        </p:spPr>
        <p:txBody>
          <a:bodyPr>
            <a:normAutofit/>
          </a:bodyPr>
          <a:lstStyle/>
          <a:p>
            <a:r>
              <a:rPr lang="en-US" dirty="0"/>
              <a:t>A metric used to measure the performance of a computer's processor. It refers to how many millions of instructions a processor can execute in one second.</a:t>
            </a:r>
          </a:p>
          <a:p>
            <a:pPr marL="457200" indent="-457200">
              <a:buFont typeface="+mj-lt"/>
              <a:buAutoNum type="arabicPeriod"/>
            </a:pPr>
            <a:r>
              <a:rPr lang="en-US" dirty="0"/>
              <a:t>IPS = Instruction Count / Execution time </a:t>
            </a:r>
          </a:p>
          <a:p>
            <a:pPr marL="457200" indent="-457200">
              <a:buFont typeface="+mj-lt"/>
              <a:buAutoNum type="arabicPeriod"/>
            </a:pPr>
            <a:r>
              <a:rPr lang="en-US" dirty="0"/>
              <a:t>MIPS = (Instruction Count / Execution time) x 10^6</a:t>
            </a:r>
          </a:p>
          <a:p>
            <a:pPr marL="457200" indent="-457200">
              <a:buFont typeface="+mj-lt"/>
              <a:buAutoNum type="arabicPeriod"/>
            </a:pPr>
            <a:r>
              <a:rPr lang="en-US" dirty="0"/>
              <a:t>MIPS = (Clock rate / CPI) x 10^6</a:t>
            </a:r>
          </a:p>
          <a:p>
            <a:pPr marL="457200" indent="-457200">
              <a:buFont typeface="+mj-lt"/>
              <a:buAutoNum type="arabicPeriod"/>
            </a:pPr>
            <a:r>
              <a:rPr lang="en-US" dirty="0"/>
              <a:t>MIPS = Total Instruction / Execution Time</a:t>
            </a:r>
          </a:p>
          <a:p>
            <a:pPr marL="0" indent="0">
              <a:buNone/>
            </a:pPr>
            <a:r>
              <a:rPr lang="en-US" dirty="0"/>
              <a:t>Example:</a:t>
            </a:r>
          </a:p>
          <a:p>
            <a:pPr marL="0" indent="0">
              <a:buNone/>
            </a:pPr>
            <a:br>
              <a:rPr lang="en-US" dirty="0"/>
            </a:br>
            <a:br>
              <a:rPr lang="en-US" dirty="0"/>
            </a:br>
            <a:endParaRPr lang="en-US" dirty="0"/>
          </a:p>
        </p:txBody>
      </p:sp>
      <p:sp>
        <p:nvSpPr>
          <p:cNvPr id="4" name="Slide Number Placeholder 3"/>
          <p:cNvSpPr>
            <a:spLocks noGrp="1"/>
          </p:cNvSpPr>
          <p:nvPr>
            <p:ph type="sldNum" sz="quarter" idx="12"/>
          </p:nvPr>
        </p:nvSpPr>
        <p:spPr/>
        <p:txBody>
          <a:bodyPr/>
          <a:lstStyle/>
          <a:p>
            <a:fld id="{380846C1-CD93-4AE4-8DA9-0A1941B6C5F9}" type="slidenum">
              <a:rPr lang="en-US" smtClean="0"/>
              <a:t>15</a:t>
            </a:fld>
            <a:endParaRPr lang="en-US"/>
          </a:p>
        </p:txBody>
      </p:sp>
      <p:graphicFrame>
        <p:nvGraphicFramePr>
          <p:cNvPr id="5" name="Table 4"/>
          <p:cNvGraphicFramePr>
            <a:graphicFrameLocks noGrp="1"/>
          </p:cNvGraphicFramePr>
          <p:nvPr>
            <p:extLst>
              <p:ext uri="{D42A27DB-BD31-4B8C-83A1-F6EECF244321}">
                <p14:modId xmlns:p14="http://schemas.microsoft.com/office/powerpoint/2010/main" val="1842874145"/>
              </p:ext>
            </p:extLst>
          </p:nvPr>
        </p:nvGraphicFramePr>
        <p:xfrm>
          <a:off x="2035048" y="4250757"/>
          <a:ext cx="8128000" cy="1483360"/>
        </p:xfrm>
        <a:graphic>
          <a:graphicData uri="http://schemas.openxmlformats.org/drawingml/2006/table">
            <a:tbl>
              <a:tblPr firstRow="1" bandRow="1">
                <a:tableStyleId>{5C22544A-7EE6-4342-B048-85BDC9FD1C3A}</a:tableStyleId>
              </a:tblPr>
              <a:tblGrid>
                <a:gridCol w="2032000">
                  <a:extLst>
                    <a:ext uri="{9D8B030D-6E8A-4147-A177-3AD203B41FA5}">
                      <a16:colId xmlns:a16="http://schemas.microsoft.com/office/drawing/2014/main" val="20000"/>
                    </a:ext>
                  </a:extLst>
                </a:gridCol>
                <a:gridCol w="2032000">
                  <a:extLst>
                    <a:ext uri="{9D8B030D-6E8A-4147-A177-3AD203B41FA5}">
                      <a16:colId xmlns:a16="http://schemas.microsoft.com/office/drawing/2014/main" val="20001"/>
                    </a:ext>
                  </a:extLst>
                </a:gridCol>
                <a:gridCol w="2032000">
                  <a:extLst>
                    <a:ext uri="{9D8B030D-6E8A-4147-A177-3AD203B41FA5}">
                      <a16:colId xmlns:a16="http://schemas.microsoft.com/office/drawing/2014/main" val="20002"/>
                    </a:ext>
                  </a:extLst>
                </a:gridCol>
                <a:gridCol w="2032000">
                  <a:extLst>
                    <a:ext uri="{9D8B030D-6E8A-4147-A177-3AD203B41FA5}">
                      <a16:colId xmlns:a16="http://schemas.microsoft.com/office/drawing/2014/main" val="20003"/>
                    </a:ext>
                  </a:extLst>
                </a:gridCol>
              </a:tblGrid>
              <a:tr h="370840">
                <a:tc>
                  <a:txBody>
                    <a:bodyPr/>
                    <a:lstStyle/>
                    <a:p>
                      <a:r>
                        <a:rPr lang="en-US" dirty="0"/>
                        <a:t>Device</a:t>
                      </a:r>
                    </a:p>
                  </a:txBody>
                  <a:tcPr/>
                </a:tc>
                <a:tc gridSpan="3">
                  <a:txBody>
                    <a:bodyPr/>
                    <a:lstStyle/>
                    <a:p>
                      <a:r>
                        <a:rPr lang="en-US" dirty="0"/>
                        <a:t>Instruction Counts in Billions</a:t>
                      </a:r>
                    </a:p>
                  </a:txBody>
                  <a:tcPr/>
                </a:tc>
                <a:tc hMerge="1">
                  <a:txBody>
                    <a:bodyPr/>
                    <a:lstStyle/>
                    <a:p>
                      <a:endParaRPr lang="en-US" dirty="0"/>
                    </a:p>
                  </a:txBody>
                  <a:tcPr/>
                </a:tc>
                <a:tc hMerge="1">
                  <a:txBody>
                    <a:bodyPr/>
                    <a:lstStyle/>
                    <a:p>
                      <a:endParaRPr lang="en-US" dirty="0"/>
                    </a:p>
                  </a:txBody>
                  <a:tcPr/>
                </a:tc>
                <a:extLst>
                  <a:ext uri="{0D108BD9-81ED-4DB2-BD59-A6C34878D82A}">
                    <a16:rowId xmlns:a16="http://schemas.microsoft.com/office/drawing/2014/main" val="10000"/>
                  </a:ext>
                </a:extLst>
              </a:tr>
              <a:tr h="370840">
                <a:tc>
                  <a:txBody>
                    <a:bodyPr/>
                    <a:lstStyle/>
                    <a:p>
                      <a:endParaRPr lang="en-US"/>
                    </a:p>
                  </a:txBody>
                  <a:tcPr/>
                </a:tc>
                <a:tc>
                  <a:txBody>
                    <a:bodyPr/>
                    <a:lstStyle/>
                    <a:p>
                      <a:r>
                        <a:rPr lang="en-US" dirty="0"/>
                        <a:t>A</a:t>
                      </a:r>
                    </a:p>
                  </a:txBody>
                  <a:tcPr/>
                </a:tc>
                <a:tc>
                  <a:txBody>
                    <a:bodyPr/>
                    <a:lstStyle/>
                    <a:p>
                      <a:r>
                        <a:rPr lang="en-US" dirty="0"/>
                        <a:t>B</a:t>
                      </a:r>
                    </a:p>
                  </a:txBody>
                  <a:tcPr/>
                </a:tc>
                <a:tc>
                  <a:txBody>
                    <a:bodyPr/>
                    <a:lstStyle/>
                    <a:p>
                      <a:r>
                        <a:rPr lang="en-US" dirty="0"/>
                        <a:t>C</a:t>
                      </a:r>
                    </a:p>
                  </a:txBody>
                  <a:tcPr/>
                </a:tc>
                <a:extLst>
                  <a:ext uri="{0D108BD9-81ED-4DB2-BD59-A6C34878D82A}">
                    <a16:rowId xmlns:a16="http://schemas.microsoft.com/office/drawing/2014/main" val="10001"/>
                  </a:ext>
                </a:extLst>
              </a:tr>
              <a:tr h="370840">
                <a:tc>
                  <a:txBody>
                    <a:bodyPr/>
                    <a:lstStyle/>
                    <a:p>
                      <a:r>
                        <a:rPr lang="en-US" dirty="0"/>
                        <a:t>Compiler 1</a:t>
                      </a:r>
                    </a:p>
                  </a:txBody>
                  <a:tcPr/>
                </a:tc>
                <a:tc>
                  <a:txBody>
                    <a:bodyPr/>
                    <a:lstStyle/>
                    <a:p>
                      <a:r>
                        <a:rPr lang="en-US" dirty="0"/>
                        <a:t>4</a:t>
                      </a:r>
                    </a:p>
                  </a:txBody>
                  <a:tcPr/>
                </a:tc>
                <a:tc>
                  <a:txBody>
                    <a:bodyPr/>
                    <a:lstStyle/>
                    <a:p>
                      <a:r>
                        <a:rPr lang="en-US" dirty="0"/>
                        <a:t>2</a:t>
                      </a:r>
                    </a:p>
                  </a:txBody>
                  <a:tcPr/>
                </a:tc>
                <a:tc>
                  <a:txBody>
                    <a:bodyPr/>
                    <a:lstStyle/>
                    <a:p>
                      <a:r>
                        <a:rPr lang="en-US" dirty="0"/>
                        <a:t>3</a:t>
                      </a:r>
                    </a:p>
                  </a:txBody>
                  <a:tcPr/>
                </a:tc>
                <a:extLst>
                  <a:ext uri="{0D108BD9-81ED-4DB2-BD59-A6C34878D82A}">
                    <a16:rowId xmlns:a16="http://schemas.microsoft.com/office/drawing/2014/main" val="10002"/>
                  </a:ext>
                </a:extLst>
              </a:tr>
              <a:tr h="370840">
                <a:tc>
                  <a:txBody>
                    <a:bodyPr/>
                    <a:lstStyle/>
                    <a:p>
                      <a:r>
                        <a:rPr lang="en-US" dirty="0"/>
                        <a:t>Compiler 2</a:t>
                      </a:r>
                    </a:p>
                  </a:txBody>
                  <a:tcPr/>
                </a:tc>
                <a:tc>
                  <a:txBody>
                    <a:bodyPr/>
                    <a:lstStyle/>
                    <a:p>
                      <a:r>
                        <a:rPr lang="en-US" dirty="0"/>
                        <a:t>10</a:t>
                      </a:r>
                    </a:p>
                  </a:txBody>
                  <a:tcPr/>
                </a:tc>
                <a:tc>
                  <a:txBody>
                    <a:bodyPr/>
                    <a:lstStyle/>
                    <a:p>
                      <a:r>
                        <a:rPr lang="en-US" dirty="0"/>
                        <a:t>5</a:t>
                      </a:r>
                    </a:p>
                  </a:txBody>
                  <a:tcPr/>
                </a:tc>
                <a:tc>
                  <a:txBody>
                    <a:bodyPr/>
                    <a:lstStyle/>
                    <a:p>
                      <a:r>
                        <a:rPr lang="en-US" dirty="0"/>
                        <a:t>4</a:t>
                      </a:r>
                    </a:p>
                  </a:txBody>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10624084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69848" y="484632"/>
            <a:ext cx="10058400" cy="612648"/>
          </a:xfrm>
        </p:spPr>
        <p:txBody>
          <a:bodyPr>
            <a:normAutofit/>
          </a:bodyPr>
          <a:lstStyle/>
          <a:p>
            <a:r>
              <a:rPr lang="en-US" sz="2800" b="1" dirty="0"/>
              <a:t>MIPS (Millions Instructions Per Second) - 32 bits</a:t>
            </a:r>
            <a:endParaRPr lang="en-US" sz="2800" dirty="0"/>
          </a:p>
        </p:txBody>
      </p:sp>
      <p:sp>
        <p:nvSpPr>
          <p:cNvPr id="3" name="Content Placeholder 2"/>
          <p:cNvSpPr>
            <a:spLocks noGrp="1"/>
          </p:cNvSpPr>
          <p:nvPr>
            <p:ph idx="1"/>
          </p:nvPr>
        </p:nvSpPr>
        <p:spPr>
          <a:xfrm>
            <a:off x="1069848" y="1232034"/>
            <a:ext cx="10058400" cy="4940166"/>
          </a:xfrm>
        </p:spPr>
        <p:txBody>
          <a:bodyPr>
            <a:normAutofit/>
          </a:bodyPr>
          <a:lstStyle/>
          <a:p>
            <a:pPr marL="0" indent="0">
              <a:buNone/>
            </a:pPr>
            <a:br>
              <a:rPr lang="en-US" dirty="0"/>
            </a:br>
            <a:br>
              <a:rPr lang="en-US" dirty="0"/>
            </a:br>
            <a:endParaRPr lang="en-US" dirty="0"/>
          </a:p>
        </p:txBody>
      </p:sp>
      <p:sp>
        <p:nvSpPr>
          <p:cNvPr id="4" name="Slide Number Placeholder 3"/>
          <p:cNvSpPr>
            <a:spLocks noGrp="1"/>
          </p:cNvSpPr>
          <p:nvPr>
            <p:ph type="sldNum" sz="quarter" idx="12"/>
          </p:nvPr>
        </p:nvSpPr>
        <p:spPr/>
        <p:txBody>
          <a:bodyPr/>
          <a:lstStyle/>
          <a:p>
            <a:fld id="{380846C1-CD93-4AE4-8DA9-0A1941B6C5F9}" type="slidenum">
              <a:rPr lang="en-US" smtClean="0"/>
              <a:t>16</a:t>
            </a:fld>
            <a:endParaRPr lang="en-US"/>
          </a:p>
        </p:txBody>
      </p:sp>
      <p:graphicFrame>
        <p:nvGraphicFramePr>
          <p:cNvPr id="5" name="Table 4"/>
          <p:cNvGraphicFramePr>
            <a:graphicFrameLocks noGrp="1"/>
          </p:cNvGraphicFramePr>
          <p:nvPr>
            <p:extLst>
              <p:ext uri="{D42A27DB-BD31-4B8C-83A1-F6EECF244321}">
                <p14:modId xmlns:p14="http://schemas.microsoft.com/office/powerpoint/2010/main" val="1918121230"/>
              </p:ext>
            </p:extLst>
          </p:nvPr>
        </p:nvGraphicFramePr>
        <p:xfrm>
          <a:off x="2035048" y="1232034"/>
          <a:ext cx="8128000" cy="1483360"/>
        </p:xfrm>
        <a:graphic>
          <a:graphicData uri="http://schemas.openxmlformats.org/drawingml/2006/table">
            <a:tbl>
              <a:tblPr firstRow="1" bandRow="1">
                <a:tableStyleId>{5C22544A-7EE6-4342-B048-85BDC9FD1C3A}</a:tableStyleId>
              </a:tblPr>
              <a:tblGrid>
                <a:gridCol w="2032000">
                  <a:extLst>
                    <a:ext uri="{9D8B030D-6E8A-4147-A177-3AD203B41FA5}">
                      <a16:colId xmlns:a16="http://schemas.microsoft.com/office/drawing/2014/main" val="20000"/>
                    </a:ext>
                  </a:extLst>
                </a:gridCol>
                <a:gridCol w="2032000">
                  <a:extLst>
                    <a:ext uri="{9D8B030D-6E8A-4147-A177-3AD203B41FA5}">
                      <a16:colId xmlns:a16="http://schemas.microsoft.com/office/drawing/2014/main" val="20001"/>
                    </a:ext>
                  </a:extLst>
                </a:gridCol>
                <a:gridCol w="2032000">
                  <a:extLst>
                    <a:ext uri="{9D8B030D-6E8A-4147-A177-3AD203B41FA5}">
                      <a16:colId xmlns:a16="http://schemas.microsoft.com/office/drawing/2014/main" val="20002"/>
                    </a:ext>
                  </a:extLst>
                </a:gridCol>
                <a:gridCol w="2032000">
                  <a:extLst>
                    <a:ext uri="{9D8B030D-6E8A-4147-A177-3AD203B41FA5}">
                      <a16:colId xmlns:a16="http://schemas.microsoft.com/office/drawing/2014/main" val="20003"/>
                    </a:ext>
                  </a:extLst>
                </a:gridCol>
              </a:tblGrid>
              <a:tr h="370840">
                <a:tc>
                  <a:txBody>
                    <a:bodyPr/>
                    <a:lstStyle/>
                    <a:p>
                      <a:r>
                        <a:rPr lang="en-US" dirty="0"/>
                        <a:t>Device</a:t>
                      </a:r>
                    </a:p>
                  </a:txBody>
                  <a:tcPr/>
                </a:tc>
                <a:tc gridSpan="3">
                  <a:txBody>
                    <a:bodyPr/>
                    <a:lstStyle/>
                    <a:p>
                      <a:r>
                        <a:rPr lang="en-US" dirty="0"/>
                        <a:t>Instruction Counts in Billions</a:t>
                      </a:r>
                    </a:p>
                  </a:txBody>
                  <a:tcPr/>
                </a:tc>
                <a:tc hMerge="1">
                  <a:txBody>
                    <a:bodyPr/>
                    <a:lstStyle/>
                    <a:p>
                      <a:endParaRPr lang="en-US" dirty="0"/>
                    </a:p>
                  </a:txBody>
                  <a:tcPr/>
                </a:tc>
                <a:tc hMerge="1">
                  <a:txBody>
                    <a:bodyPr/>
                    <a:lstStyle/>
                    <a:p>
                      <a:endParaRPr lang="en-US" dirty="0"/>
                    </a:p>
                  </a:txBody>
                  <a:tcPr/>
                </a:tc>
                <a:extLst>
                  <a:ext uri="{0D108BD9-81ED-4DB2-BD59-A6C34878D82A}">
                    <a16:rowId xmlns:a16="http://schemas.microsoft.com/office/drawing/2014/main" val="10000"/>
                  </a:ext>
                </a:extLst>
              </a:tr>
              <a:tr h="370840">
                <a:tc>
                  <a:txBody>
                    <a:bodyPr/>
                    <a:lstStyle/>
                    <a:p>
                      <a:endParaRPr lang="en-US"/>
                    </a:p>
                  </a:txBody>
                  <a:tcPr/>
                </a:tc>
                <a:tc>
                  <a:txBody>
                    <a:bodyPr/>
                    <a:lstStyle/>
                    <a:p>
                      <a:r>
                        <a:rPr lang="en-US" dirty="0"/>
                        <a:t>A</a:t>
                      </a:r>
                    </a:p>
                  </a:txBody>
                  <a:tcPr/>
                </a:tc>
                <a:tc>
                  <a:txBody>
                    <a:bodyPr/>
                    <a:lstStyle/>
                    <a:p>
                      <a:r>
                        <a:rPr lang="en-US" dirty="0"/>
                        <a:t>B</a:t>
                      </a:r>
                    </a:p>
                  </a:txBody>
                  <a:tcPr/>
                </a:tc>
                <a:tc>
                  <a:txBody>
                    <a:bodyPr/>
                    <a:lstStyle/>
                    <a:p>
                      <a:r>
                        <a:rPr lang="en-US" dirty="0"/>
                        <a:t>C</a:t>
                      </a:r>
                    </a:p>
                  </a:txBody>
                  <a:tcPr/>
                </a:tc>
                <a:extLst>
                  <a:ext uri="{0D108BD9-81ED-4DB2-BD59-A6C34878D82A}">
                    <a16:rowId xmlns:a16="http://schemas.microsoft.com/office/drawing/2014/main" val="10001"/>
                  </a:ext>
                </a:extLst>
              </a:tr>
              <a:tr h="370840">
                <a:tc>
                  <a:txBody>
                    <a:bodyPr/>
                    <a:lstStyle/>
                    <a:p>
                      <a:r>
                        <a:rPr lang="en-US" dirty="0"/>
                        <a:t>Compiler 1</a:t>
                      </a:r>
                    </a:p>
                  </a:txBody>
                  <a:tcPr/>
                </a:tc>
                <a:tc>
                  <a:txBody>
                    <a:bodyPr/>
                    <a:lstStyle/>
                    <a:p>
                      <a:r>
                        <a:rPr lang="en-US" dirty="0"/>
                        <a:t>4</a:t>
                      </a:r>
                    </a:p>
                  </a:txBody>
                  <a:tcPr/>
                </a:tc>
                <a:tc>
                  <a:txBody>
                    <a:bodyPr/>
                    <a:lstStyle/>
                    <a:p>
                      <a:r>
                        <a:rPr lang="en-US" dirty="0"/>
                        <a:t>2</a:t>
                      </a:r>
                    </a:p>
                  </a:txBody>
                  <a:tcPr/>
                </a:tc>
                <a:tc>
                  <a:txBody>
                    <a:bodyPr/>
                    <a:lstStyle/>
                    <a:p>
                      <a:r>
                        <a:rPr lang="en-US" dirty="0"/>
                        <a:t>3</a:t>
                      </a:r>
                    </a:p>
                  </a:txBody>
                  <a:tcPr/>
                </a:tc>
                <a:extLst>
                  <a:ext uri="{0D108BD9-81ED-4DB2-BD59-A6C34878D82A}">
                    <a16:rowId xmlns:a16="http://schemas.microsoft.com/office/drawing/2014/main" val="10002"/>
                  </a:ext>
                </a:extLst>
              </a:tr>
              <a:tr h="370840">
                <a:tc>
                  <a:txBody>
                    <a:bodyPr/>
                    <a:lstStyle/>
                    <a:p>
                      <a:r>
                        <a:rPr lang="en-US" dirty="0"/>
                        <a:t>Compiler 2</a:t>
                      </a:r>
                    </a:p>
                  </a:txBody>
                  <a:tcPr/>
                </a:tc>
                <a:tc>
                  <a:txBody>
                    <a:bodyPr/>
                    <a:lstStyle/>
                    <a:p>
                      <a:r>
                        <a:rPr lang="en-US" dirty="0"/>
                        <a:t>10</a:t>
                      </a:r>
                    </a:p>
                  </a:txBody>
                  <a:tcPr/>
                </a:tc>
                <a:tc>
                  <a:txBody>
                    <a:bodyPr/>
                    <a:lstStyle/>
                    <a:p>
                      <a:r>
                        <a:rPr lang="en-US" dirty="0"/>
                        <a:t>5</a:t>
                      </a:r>
                    </a:p>
                  </a:txBody>
                  <a:tcPr/>
                </a:tc>
                <a:tc>
                  <a:txBody>
                    <a:bodyPr/>
                    <a:lstStyle/>
                    <a:p>
                      <a:r>
                        <a:rPr lang="en-US" dirty="0"/>
                        <a:t>4</a:t>
                      </a:r>
                    </a:p>
                  </a:txBody>
                  <a:tcPr/>
                </a:tc>
                <a:extLst>
                  <a:ext uri="{0D108BD9-81ED-4DB2-BD59-A6C34878D82A}">
                    <a16:rowId xmlns:a16="http://schemas.microsoft.com/office/drawing/2014/main" val="10003"/>
                  </a:ext>
                </a:extLst>
              </a:tr>
            </a:tbl>
          </a:graphicData>
        </a:graphic>
      </p:graphicFrame>
      <p:graphicFrame>
        <p:nvGraphicFramePr>
          <p:cNvPr id="6" name="Table 5"/>
          <p:cNvGraphicFramePr>
            <a:graphicFrameLocks noGrp="1"/>
          </p:cNvGraphicFramePr>
          <p:nvPr>
            <p:extLst>
              <p:ext uri="{D42A27DB-BD31-4B8C-83A1-F6EECF244321}">
                <p14:modId xmlns:p14="http://schemas.microsoft.com/office/powerpoint/2010/main" val="3624699936"/>
              </p:ext>
            </p:extLst>
          </p:nvPr>
        </p:nvGraphicFramePr>
        <p:xfrm>
          <a:off x="2035048" y="3145857"/>
          <a:ext cx="8128000" cy="1483360"/>
        </p:xfrm>
        <a:graphic>
          <a:graphicData uri="http://schemas.openxmlformats.org/drawingml/2006/table">
            <a:tbl>
              <a:tblPr firstRow="1" bandRow="1">
                <a:tableStyleId>{5C22544A-7EE6-4342-B048-85BDC9FD1C3A}</a:tableStyleId>
              </a:tblPr>
              <a:tblGrid>
                <a:gridCol w="4064000">
                  <a:extLst>
                    <a:ext uri="{9D8B030D-6E8A-4147-A177-3AD203B41FA5}">
                      <a16:colId xmlns:a16="http://schemas.microsoft.com/office/drawing/2014/main" val="20000"/>
                    </a:ext>
                  </a:extLst>
                </a:gridCol>
                <a:gridCol w="4064000">
                  <a:extLst>
                    <a:ext uri="{9D8B030D-6E8A-4147-A177-3AD203B41FA5}">
                      <a16:colId xmlns:a16="http://schemas.microsoft.com/office/drawing/2014/main" val="20001"/>
                    </a:ext>
                  </a:extLst>
                </a:gridCol>
              </a:tblGrid>
              <a:tr h="370840">
                <a:tc>
                  <a:txBody>
                    <a:bodyPr/>
                    <a:lstStyle/>
                    <a:p>
                      <a:r>
                        <a:rPr lang="en-US" dirty="0"/>
                        <a:t>Instruction Class</a:t>
                      </a:r>
                    </a:p>
                  </a:txBody>
                  <a:tcPr/>
                </a:tc>
                <a:tc>
                  <a:txBody>
                    <a:bodyPr/>
                    <a:lstStyle/>
                    <a:p>
                      <a:r>
                        <a:rPr lang="en-US" dirty="0"/>
                        <a:t>CPI</a:t>
                      </a:r>
                    </a:p>
                  </a:txBody>
                  <a:tcPr/>
                </a:tc>
                <a:extLst>
                  <a:ext uri="{0D108BD9-81ED-4DB2-BD59-A6C34878D82A}">
                    <a16:rowId xmlns:a16="http://schemas.microsoft.com/office/drawing/2014/main" val="10000"/>
                  </a:ext>
                </a:extLst>
              </a:tr>
              <a:tr h="370840">
                <a:tc>
                  <a:txBody>
                    <a:bodyPr/>
                    <a:lstStyle/>
                    <a:p>
                      <a:r>
                        <a:rPr lang="en-US" dirty="0"/>
                        <a:t>A</a:t>
                      </a:r>
                    </a:p>
                  </a:txBody>
                  <a:tcPr/>
                </a:tc>
                <a:tc>
                  <a:txBody>
                    <a:bodyPr/>
                    <a:lstStyle/>
                    <a:p>
                      <a:r>
                        <a:rPr lang="en-US" dirty="0"/>
                        <a:t>1</a:t>
                      </a:r>
                    </a:p>
                  </a:txBody>
                  <a:tcPr/>
                </a:tc>
                <a:extLst>
                  <a:ext uri="{0D108BD9-81ED-4DB2-BD59-A6C34878D82A}">
                    <a16:rowId xmlns:a16="http://schemas.microsoft.com/office/drawing/2014/main" val="10001"/>
                  </a:ext>
                </a:extLst>
              </a:tr>
              <a:tr h="370840">
                <a:tc>
                  <a:txBody>
                    <a:bodyPr/>
                    <a:lstStyle/>
                    <a:p>
                      <a:r>
                        <a:rPr lang="en-US" dirty="0"/>
                        <a:t>B</a:t>
                      </a:r>
                    </a:p>
                  </a:txBody>
                  <a:tcPr/>
                </a:tc>
                <a:tc>
                  <a:txBody>
                    <a:bodyPr/>
                    <a:lstStyle/>
                    <a:p>
                      <a:r>
                        <a:rPr lang="en-US" dirty="0"/>
                        <a:t>2</a:t>
                      </a:r>
                    </a:p>
                  </a:txBody>
                  <a:tcPr/>
                </a:tc>
                <a:extLst>
                  <a:ext uri="{0D108BD9-81ED-4DB2-BD59-A6C34878D82A}">
                    <a16:rowId xmlns:a16="http://schemas.microsoft.com/office/drawing/2014/main" val="10002"/>
                  </a:ext>
                </a:extLst>
              </a:tr>
              <a:tr h="370840">
                <a:tc>
                  <a:txBody>
                    <a:bodyPr/>
                    <a:lstStyle/>
                    <a:p>
                      <a:r>
                        <a:rPr lang="en-US" dirty="0"/>
                        <a:t>C</a:t>
                      </a:r>
                    </a:p>
                  </a:txBody>
                  <a:tcPr/>
                </a:tc>
                <a:tc>
                  <a:txBody>
                    <a:bodyPr/>
                    <a:lstStyle/>
                    <a:p>
                      <a:r>
                        <a:rPr lang="en-US" dirty="0"/>
                        <a:t>3</a:t>
                      </a:r>
                    </a:p>
                  </a:txBody>
                  <a:tcPr/>
                </a:tc>
                <a:extLst>
                  <a:ext uri="{0D108BD9-81ED-4DB2-BD59-A6C34878D82A}">
                    <a16:rowId xmlns:a16="http://schemas.microsoft.com/office/drawing/2014/main" val="10003"/>
                  </a:ext>
                </a:extLst>
              </a:tr>
            </a:tbl>
          </a:graphicData>
        </a:graphic>
      </p:graphicFrame>
      <p:sp>
        <p:nvSpPr>
          <p:cNvPr id="7" name="TextBox 6"/>
          <p:cNvSpPr txBox="1"/>
          <p:nvPr/>
        </p:nvSpPr>
        <p:spPr>
          <a:xfrm>
            <a:off x="1320104" y="4870382"/>
            <a:ext cx="9557887" cy="646331"/>
          </a:xfrm>
          <a:prstGeom prst="rect">
            <a:avLst/>
          </a:prstGeom>
          <a:noFill/>
        </p:spPr>
        <p:txBody>
          <a:bodyPr wrap="square" rtlCol="0">
            <a:spAutoFit/>
          </a:bodyPr>
          <a:lstStyle/>
          <a:p>
            <a:r>
              <a:rPr lang="en-US" dirty="0"/>
              <a:t>If the computer’s clock rate is 5 GHz, which code sequence will execute faster according to execution time?</a:t>
            </a:r>
          </a:p>
        </p:txBody>
      </p:sp>
    </p:spTree>
    <p:extLst>
      <p:ext uri="{BB962C8B-B14F-4D97-AF65-F5344CB8AC3E}">
        <p14:creationId xmlns:p14="http://schemas.microsoft.com/office/powerpoint/2010/main" val="267674261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69848" y="484632"/>
            <a:ext cx="10058400" cy="612648"/>
          </a:xfrm>
        </p:spPr>
        <p:txBody>
          <a:bodyPr>
            <a:normAutofit/>
          </a:bodyPr>
          <a:lstStyle/>
          <a:p>
            <a:r>
              <a:rPr lang="en-US" sz="2800" b="1" dirty="0"/>
              <a:t>MIPS (Millions Instructions Per Second) - 32 bits</a:t>
            </a:r>
            <a:endParaRPr lang="en-US" sz="2800" dirty="0"/>
          </a:p>
        </p:txBody>
      </p:sp>
      <p:sp>
        <p:nvSpPr>
          <p:cNvPr id="3" name="Content Placeholder 2"/>
          <p:cNvSpPr>
            <a:spLocks noGrp="1"/>
          </p:cNvSpPr>
          <p:nvPr>
            <p:ph idx="1"/>
          </p:nvPr>
        </p:nvSpPr>
        <p:spPr>
          <a:xfrm>
            <a:off x="1069848" y="1232034"/>
            <a:ext cx="10058400" cy="4940166"/>
          </a:xfrm>
        </p:spPr>
        <p:txBody>
          <a:bodyPr>
            <a:normAutofit/>
          </a:bodyPr>
          <a:lstStyle/>
          <a:p>
            <a:pPr marL="0" indent="0">
              <a:buNone/>
            </a:pPr>
            <a:endParaRPr lang="en-US" dirty="0"/>
          </a:p>
          <a:p>
            <a:pPr marL="617220" lvl="1" indent="-342900">
              <a:buFont typeface="+mj-lt"/>
              <a:buAutoNum type="arabicPeriod"/>
            </a:pPr>
            <a:r>
              <a:rPr lang="en-US" dirty="0"/>
              <a:t>Compiler 1’s total cycle = (4 x 1) + (2 x 2) + (3 x 3) = 17 billion cycles</a:t>
            </a:r>
          </a:p>
          <a:p>
            <a:pPr marL="617220" lvl="1" indent="-342900">
              <a:buFont typeface="+mj-lt"/>
              <a:buAutoNum type="arabicPeriod"/>
            </a:pPr>
            <a:r>
              <a:rPr lang="en-US" dirty="0"/>
              <a:t>Compiler 2’s total cycle = (10 x 1) + (5 x 2) + (4 x 3) = 32 billion cycles</a:t>
            </a:r>
          </a:p>
          <a:p>
            <a:pPr marL="0" indent="0">
              <a:buNone/>
            </a:pPr>
            <a:r>
              <a:rPr lang="en-US" dirty="0"/>
              <a:t>Execution time = Total cycle / clock rate</a:t>
            </a:r>
          </a:p>
          <a:p>
            <a:pPr marL="617220" lvl="1" indent="-342900">
              <a:buFont typeface="+mj-lt"/>
              <a:buAutoNum type="arabicPeriod"/>
            </a:pPr>
            <a:r>
              <a:rPr lang="en-US" dirty="0"/>
              <a:t>Compiler 1’s execution time = 17 / 5 = 3.4 s. (5 GHz is given)</a:t>
            </a:r>
          </a:p>
          <a:p>
            <a:pPr marL="617220" lvl="1" indent="-342900">
              <a:buFont typeface="+mj-lt"/>
              <a:buAutoNum type="arabicPeriod"/>
            </a:pPr>
            <a:r>
              <a:rPr lang="en-US" dirty="0"/>
              <a:t>Compiler 2’s execution time = 32 / 5 = 6.4 s. (5 GHz is given)</a:t>
            </a:r>
          </a:p>
          <a:p>
            <a:pPr marL="0" indent="0">
              <a:buNone/>
            </a:pPr>
            <a:r>
              <a:rPr lang="en-US" dirty="0"/>
              <a:t>MIPS = Total instruction / execution time</a:t>
            </a:r>
          </a:p>
          <a:p>
            <a:pPr marL="617220" lvl="1" indent="-342900">
              <a:buFont typeface="+mj-lt"/>
              <a:buAutoNum type="arabicPeriod"/>
            </a:pPr>
            <a:r>
              <a:rPr lang="en-US" dirty="0"/>
              <a:t>Complier 1’s MIPS = </a:t>
            </a:r>
            <a:r>
              <a:rPr lang="en-US" dirty="0">
                <a:solidFill>
                  <a:schemeClr val="bg1">
                    <a:lumMod val="65000"/>
                  </a:schemeClr>
                </a:solidFill>
              </a:rPr>
              <a:t>(4+2+3) = (9 billion x 1000) = </a:t>
            </a:r>
            <a:r>
              <a:rPr lang="en-US" dirty="0"/>
              <a:t>9000 millions instructions / 3.4s = 9000 / 3.4 = 2647 MIPS.</a:t>
            </a:r>
          </a:p>
          <a:p>
            <a:pPr marL="617220" lvl="1" indent="-342900">
              <a:buFont typeface="+mj-lt"/>
              <a:buAutoNum type="arabicPeriod"/>
            </a:pPr>
            <a:r>
              <a:rPr lang="en-US" dirty="0"/>
              <a:t>Complier 2’s MIPS = </a:t>
            </a:r>
            <a:r>
              <a:rPr lang="en-US" dirty="0">
                <a:solidFill>
                  <a:schemeClr val="bg1">
                    <a:lumMod val="65000"/>
                  </a:schemeClr>
                </a:solidFill>
              </a:rPr>
              <a:t>(10+5+4) = (19 billion x 1000) = </a:t>
            </a:r>
            <a:r>
              <a:rPr lang="en-US" dirty="0"/>
              <a:t>19000 millions instructions / 6.4s = 19000 / 6.4 = 2969 MIPS.</a:t>
            </a:r>
          </a:p>
          <a:p>
            <a:pPr marL="0" indent="0">
              <a:buNone/>
            </a:pPr>
            <a:br>
              <a:rPr lang="en-US" dirty="0"/>
            </a:br>
            <a:r>
              <a:rPr lang="en-US" dirty="0" err="1">
                <a:solidFill>
                  <a:schemeClr val="accent1"/>
                </a:solidFill>
              </a:rPr>
              <a:t>Ans</a:t>
            </a:r>
            <a:r>
              <a:rPr lang="en-US" dirty="0">
                <a:solidFill>
                  <a:schemeClr val="accent1"/>
                </a:solidFill>
              </a:rPr>
              <a:t>: </a:t>
            </a:r>
            <a:r>
              <a:rPr lang="en-US" dirty="0"/>
              <a:t>This shows Compiler 2 has a higher MIPS but slower execution time, a classic paradox of MIPS as a performance metric.</a:t>
            </a:r>
          </a:p>
        </p:txBody>
      </p:sp>
      <p:sp>
        <p:nvSpPr>
          <p:cNvPr id="4" name="Slide Number Placeholder 3"/>
          <p:cNvSpPr>
            <a:spLocks noGrp="1"/>
          </p:cNvSpPr>
          <p:nvPr>
            <p:ph type="sldNum" sz="quarter" idx="12"/>
          </p:nvPr>
        </p:nvSpPr>
        <p:spPr/>
        <p:txBody>
          <a:bodyPr/>
          <a:lstStyle/>
          <a:p>
            <a:fld id="{380846C1-CD93-4AE4-8DA9-0A1941B6C5F9}" type="slidenum">
              <a:rPr lang="en-US" smtClean="0"/>
              <a:t>17</a:t>
            </a:fld>
            <a:endParaRPr lang="en-US"/>
          </a:p>
        </p:txBody>
      </p:sp>
      <p:sp>
        <p:nvSpPr>
          <p:cNvPr id="9" name="Rectangle 8"/>
          <p:cNvSpPr/>
          <p:nvPr/>
        </p:nvSpPr>
        <p:spPr>
          <a:xfrm>
            <a:off x="1069848" y="1232034"/>
            <a:ext cx="9931828" cy="369332"/>
          </a:xfrm>
          <a:prstGeom prst="rect">
            <a:avLst/>
          </a:prstGeom>
        </p:spPr>
        <p:txBody>
          <a:bodyPr wrap="square">
            <a:spAutoFit/>
          </a:bodyPr>
          <a:lstStyle/>
          <a:p>
            <a:r>
              <a:rPr lang="en-US" b="0" i="0" u="none" strike="noStrike" dirty="0">
                <a:solidFill>
                  <a:srgbClr val="000000"/>
                </a:solidFill>
                <a:effectLst/>
              </a:rPr>
              <a:t>Total Cycles (Total CPI) = ∑(Instruction count × Cycles per instruction)</a:t>
            </a:r>
            <a:endParaRPr lang="en-US" dirty="0"/>
          </a:p>
        </p:txBody>
      </p:sp>
    </p:spTree>
    <p:extLst>
      <p:ext uri="{BB962C8B-B14F-4D97-AF65-F5344CB8AC3E}">
        <p14:creationId xmlns:p14="http://schemas.microsoft.com/office/powerpoint/2010/main" val="161595932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69848" y="484632"/>
            <a:ext cx="10058400" cy="612648"/>
          </a:xfrm>
        </p:spPr>
        <p:txBody>
          <a:bodyPr>
            <a:normAutofit/>
          </a:bodyPr>
          <a:lstStyle/>
          <a:p>
            <a:r>
              <a:rPr lang="en-US" sz="2800" b="1" dirty="0"/>
              <a:t>MIPS (Millions Instructions Per Second) - 32 bits</a:t>
            </a:r>
            <a:endParaRPr lang="en-US" sz="2800" dirty="0"/>
          </a:p>
        </p:txBody>
      </p:sp>
      <p:sp>
        <p:nvSpPr>
          <p:cNvPr id="3" name="Content Placeholder 2"/>
          <p:cNvSpPr>
            <a:spLocks noGrp="1"/>
          </p:cNvSpPr>
          <p:nvPr>
            <p:ph idx="1"/>
          </p:nvPr>
        </p:nvSpPr>
        <p:spPr>
          <a:xfrm>
            <a:off x="1069848" y="1232034"/>
            <a:ext cx="10058400" cy="4940166"/>
          </a:xfrm>
        </p:spPr>
        <p:txBody>
          <a:bodyPr>
            <a:normAutofit/>
          </a:bodyPr>
          <a:lstStyle/>
          <a:p>
            <a:r>
              <a:rPr lang="en-US" dirty="0"/>
              <a:t>Now try:</a:t>
            </a:r>
          </a:p>
          <a:p>
            <a:pPr lvl="1">
              <a:lnSpc>
                <a:spcPct val="150000"/>
              </a:lnSpc>
            </a:pPr>
            <a:r>
              <a:rPr lang="en-US" dirty="0"/>
              <a:t>Suppose we have two implementations of the same instruction set architecture. Computer1 has a CPI of 3.0 and a clock cycle time of 300 </a:t>
            </a:r>
            <a:r>
              <a:rPr lang="en-US" dirty="0" err="1"/>
              <a:t>ps</a:t>
            </a:r>
            <a:r>
              <a:rPr lang="en-US" dirty="0"/>
              <a:t> for some programs, and Computer2 has a CPI of 4.0 and a clock cycle time of 150 </a:t>
            </a:r>
            <a:r>
              <a:rPr lang="en-US" dirty="0" err="1"/>
              <a:t>ps</a:t>
            </a:r>
            <a:r>
              <a:rPr lang="en-US" dirty="0"/>
              <a:t> for the same programs. Which computer is faster for this program and by how much?</a:t>
            </a:r>
          </a:p>
        </p:txBody>
      </p:sp>
      <p:sp>
        <p:nvSpPr>
          <p:cNvPr id="4" name="Slide Number Placeholder 3"/>
          <p:cNvSpPr>
            <a:spLocks noGrp="1"/>
          </p:cNvSpPr>
          <p:nvPr>
            <p:ph type="sldNum" sz="quarter" idx="12"/>
          </p:nvPr>
        </p:nvSpPr>
        <p:spPr/>
        <p:txBody>
          <a:bodyPr/>
          <a:lstStyle/>
          <a:p>
            <a:fld id="{380846C1-CD93-4AE4-8DA9-0A1941B6C5F9}" type="slidenum">
              <a:rPr lang="en-US" smtClean="0"/>
              <a:t>18</a:t>
            </a:fld>
            <a:endParaRPr lang="en-US"/>
          </a:p>
        </p:txBody>
      </p:sp>
    </p:spTree>
    <p:extLst>
      <p:ext uri="{BB962C8B-B14F-4D97-AF65-F5344CB8AC3E}">
        <p14:creationId xmlns:p14="http://schemas.microsoft.com/office/powerpoint/2010/main" val="122559638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69848" y="484632"/>
            <a:ext cx="10058400" cy="612648"/>
          </a:xfrm>
        </p:spPr>
        <p:txBody>
          <a:bodyPr>
            <a:normAutofit/>
          </a:bodyPr>
          <a:lstStyle/>
          <a:p>
            <a:r>
              <a:rPr lang="en-US" sz="2800" b="1" dirty="0"/>
              <a:t>MIPS (Millions Instructions Per Second) - 32 bits</a:t>
            </a:r>
            <a:endParaRPr lang="en-US" sz="2800" dirty="0"/>
          </a:p>
        </p:txBody>
      </p:sp>
      <p:sp>
        <p:nvSpPr>
          <p:cNvPr id="3" name="Content Placeholder 2"/>
          <p:cNvSpPr>
            <a:spLocks noGrp="1"/>
          </p:cNvSpPr>
          <p:nvPr>
            <p:ph idx="1"/>
          </p:nvPr>
        </p:nvSpPr>
        <p:spPr>
          <a:xfrm>
            <a:off x="1069848" y="1232034"/>
            <a:ext cx="10058400" cy="4940166"/>
          </a:xfrm>
        </p:spPr>
        <p:txBody>
          <a:bodyPr>
            <a:normAutofit/>
          </a:bodyPr>
          <a:lstStyle/>
          <a:p>
            <a:r>
              <a:rPr lang="en-US" dirty="0"/>
              <a:t>Suppose we have two implementations of the same instruction set architecture. Computer1 has a CPI of 3.0 and a clock cycle time of 300 </a:t>
            </a:r>
            <a:r>
              <a:rPr lang="en-US" dirty="0" err="1"/>
              <a:t>ps</a:t>
            </a:r>
            <a:r>
              <a:rPr lang="en-US" dirty="0"/>
              <a:t> for some programs, and Computer2 has a CPI of 4.0 and a clock cycle time of 150 </a:t>
            </a:r>
            <a:r>
              <a:rPr lang="en-US" dirty="0" err="1"/>
              <a:t>ps</a:t>
            </a:r>
            <a:r>
              <a:rPr lang="en-US" dirty="0"/>
              <a:t> for the same programs. Which computer is faster for this program and by how much?</a:t>
            </a:r>
          </a:p>
          <a:p>
            <a:r>
              <a:rPr lang="en-US" dirty="0"/>
              <a:t>Which one is faster?</a:t>
            </a:r>
          </a:p>
          <a:p>
            <a:pPr marL="617220" lvl="1" indent="-342900">
              <a:buFont typeface="+mj-lt"/>
              <a:buAutoNum type="arabicPeriod"/>
            </a:pPr>
            <a:r>
              <a:rPr lang="en-US" dirty="0"/>
              <a:t>Execution time = CPI x Clock cycle time</a:t>
            </a:r>
          </a:p>
          <a:p>
            <a:pPr marL="617220" lvl="1" indent="-342900">
              <a:buFont typeface="+mj-lt"/>
              <a:buAutoNum type="arabicPeriod"/>
            </a:pPr>
            <a:r>
              <a:rPr lang="en-US" dirty="0"/>
              <a:t>Computer1 = 3 x 300 = 900ps</a:t>
            </a:r>
          </a:p>
          <a:p>
            <a:pPr marL="617220" lvl="1" indent="-342900">
              <a:buFont typeface="+mj-lt"/>
              <a:buAutoNum type="arabicPeriod"/>
            </a:pPr>
            <a:r>
              <a:rPr lang="en-US" dirty="0"/>
              <a:t>Computer2 = 4 x 150 = 600ps (Faster)</a:t>
            </a:r>
          </a:p>
          <a:p>
            <a:r>
              <a:rPr lang="en-US" dirty="0"/>
              <a:t>How much faster?</a:t>
            </a:r>
          </a:p>
          <a:p>
            <a:pPr marL="617220" lvl="1" indent="-342900">
              <a:buFont typeface="+mj-lt"/>
              <a:buAutoNum type="arabicPeriod"/>
            </a:pPr>
            <a:r>
              <a:rPr lang="en-US" dirty="0"/>
              <a:t>Speed up ratio = execution time of slow device / execution time of fast device = 900/600 = 1.5.</a:t>
            </a:r>
          </a:p>
          <a:p>
            <a:pPr marL="617220" lvl="1" indent="-342900">
              <a:buFont typeface="+mj-lt"/>
              <a:buAutoNum type="arabicPeriod"/>
            </a:pPr>
            <a:r>
              <a:rPr lang="en-US" dirty="0"/>
              <a:t>Which means Computer2 is 1.5x faster.</a:t>
            </a:r>
          </a:p>
        </p:txBody>
      </p:sp>
      <p:sp>
        <p:nvSpPr>
          <p:cNvPr id="4" name="Slide Number Placeholder 3"/>
          <p:cNvSpPr>
            <a:spLocks noGrp="1"/>
          </p:cNvSpPr>
          <p:nvPr>
            <p:ph type="sldNum" sz="quarter" idx="12"/>
          </p:nvPr>
        </p:nvSpPr>
        <p:spPr/>
        <p:txBody>
          <a:bodyPr/>
          <a:lstStyle/>
          <a:p>
            <a:fld id="{380846C1-CD93-4AE4-8DA9-0A1941B6C5F9}" type="slidenum">
              <a:rPr lang="en-US" smtClean="0"/>
              <a:t>19</a:t>
            </a:fld>
            <a:endParaRPr lang="en-US"/>
          </a:p>
        </p:txBody>
      </p:sp>
    </p:spTree>
    <p:extLst>
      <p:ext uri="{BB962C8B-B14F-4D97-AF65-F5344CB8AC3E}">
        <p14:creationId xmlns:p14="http://schemas.microsoft.com/office/powerpoint/2010/main" val="287330624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69848" y="484632"/>
            <a:ext cx="10058400" cy="612648"/>
          </a:xfrm>
        </p:spPr>
        <p:txBody>
          <a:bodyPr>
            <a:normAutofit/>
          </a:bodyPr>
          <a:lstStyle/>
          <a:p>
            <a:r>
              <a:rPr lang="en-US" sz="2800" b="1" dirty="0"/>
              <a:t>MIPS (Millions Instructions Per Second) - 32 bits</a:t>
            </a:r>
            <a:endParaRPr lang="en-US" sz="2800"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1069848" y="1232034"/>
                <a:ext cx="10058400" cy="4940166"/>
              </a:xfrm>
            </p:spPr>
            <p:txBody>
              <a:bodyPr>
                <a:normAutofit/>
              </a:bodyPr>
              <a:lstStyle/>
              <a:p>
                <a:r>
                  <a:rPr lang="en-US" dirty="0"/>
                  <a:t>What is CPU clock cycle and clock rate? UNIX time command is given </a:t>
                </a:r>
                <a:r>
                  <a:rPr lang="en-US" b="1" dirty="0"/>
                  <a:t>40.4u 10.5s 2:50</a:t>
                </a:r>
                <a:r>
                  <a:rPr lang="en-US" dirty="0"/>
                  <a:t>. Calculate the percentage according to total elapsed time.</a:t>
                </a:r>
              </a:p>
              <a:p>
                <a:r>
                  <a:rPr lang="en-US" b="1" dirty="0"/>
                  <a:t>Given:</a:t>
                </a:r>
                <a:endParaRPr lang="en-US" dirty="0"/>
              </a:p>
              <a:p>
                <a:pPr marL="617220" lvl="1" indent="-342900">
                  <a:buFont typeface="+mj-lt"/>
                  <a:buAutoNum type="arabicPeriod"/>
                </a:pPr>
                <a:r>
                  <a:rPr lang="en-US" dirty="0"/>
                  <a:t>User CPU time = </a:t>
                </a:r>
                <a:r>
                  <a:rPr lang="en-US" b="1" dirty="0"/>
                  <a:t>40.4 s</a:t>
                </a:r>
              </a:p>
              <a:p>
                <a:pPr marL="617220" lvl="1" indent="-342900">
                  <a:buFont typeface="+mj-lt"/>
                  <a:buAutoNum type="arabicPeriod"/>
                </a:pPr>
                <a:r>
                  <a:rPr lang="en-US" dirty="0"/>
                  <a:t>System CPU time = </a:t>
                </a:r>
                <a:r>
                  <a:rPr lang="en-US" b="1" dirty="0"/>
                  <a:t>10.5 s</a:t>
                </a:r>
                <a:endParaRPr lang="en-US" dirty="0"/>
              </a:p>
              <a:p>
                <a:pPr marL="617220" lvl="1" indent="-342900">
                  <a:buFont typeface="+mj-lt"/>
                  <a:buAutoNum type="arabicPeriod"/>
                </a:pPr>
                <a:r>
                  <a:rPr lang="en-US" dirty="0"/>
                  <a:t>Total elapsed time = </a:t>
                </a:r>
                <a:r>
                  <a:rPr lang="en-US" b="1" dirty="0"/>
                  <a:t>2:50</a:t>
                </a:r>
                <a:r>
                  <a:rPr lang="en-US" dirty="0"/>
                  <a:t> = 2×60 + 50 = 170 seconds</a:t>
                </a:r>
              </a:p>
              <a:p>
                <a:r>
                  <a:rPr lang="en-US" dirty="0"/>
                  <a:t>The question says </a:t>
                </a:r>
                <a:r>
                  <a:rPr lang="en-US" i="1" dirty="0"/>
                  <a:t>percentage according to total elapsed time</a:t>
                </a:r>
                <a:r>
                  <a:rPr lang="en-US" dirty="0"/>
                  <a:t>. Usually, this means:</a:t>
                </a:r>
              </a:p>
              <a:p>
                <a:pPr marL="0" indent="0">
                  <a:buNone/>
                </a:pPr>
                <a:endParaRPr lang="en-US" dirty="0"/>
              </a:p>
              <a:p>
                <a:pPr marL="274320" lvl="1" indent="0">
                  <a:buNone/>
                </a:pPr>
                <a:r>
                  <a:rPr lang="en-US" dirty="0"/>
                  <a:t>		</a:t>
                </a:r>
                <a:r>
                  <a:rPr lang="en-US" sz="2000" dirty="0"/>
                  <a:t>Percentage = </a:t>
                </a:r>
                <a14:m>
                  <m:oMath xmlns:m="http://schemas.openxmlformats.org/officeDocument/2006/math">
                    <m:f>
                      <m:fPr>
                        <m:ctrlPr>
                          <a:rPr lang="en-US" sz="2000" i="1" smtClean="0">
                            <a:latin typeface="Cambria Math" panose="02040503050406030204" pitchFamily="18" charset="0"/>
                          </a:rPr>
                        </m:ctrlPr>
                      </m:fPr>
                      <m:num>
                        <m:r>
                          <a:rPr lang="en-US" sz="2000" b="0" i="1" smtClean="0">
                            <a:latin typeface="Cambria Math" panose="02040503050406030204" pitchFamily="18" charset="0"/>
                          </a:rPr>
                          <m:t>𝑇𝑜𝑡𝑎𝑙</m:t>
                        </m:r>
                        <m:r>
                          <a:rPr lang="en-US" sz="2000" b="0" i="1" smtClean="0">
                            <a:latin typeface="Cambria Math" panose="02040503050406030204" pitchFamily="18" charset="0"/>
                          </a:rPr>
                          <m:t> </m:t>
                        </m:r>
                        <m:r>
                          <a:rPr lang="en-US" sz="2000" b="0" i="1" smtClean="0">
                            <a:latin typeface="Cambria Math" panose="02040503050406030204" pitchFamily="18" charset="0"/>
                          </a:rPr>
                          <m:t>𝐶𝑃𝑈</m:t>
                        </m:r>
                        <m:r>
                          <a:rPr lang="en-US" sz="2000" b="0" i="1" smtClean="0">
                            <a:latin typeface="Cambria Math" panose="02040503050406030204" pitchFamily="18" charset="0"/>
                          </a:rPr>
                          <m:t> </m:t>
                        </m:r>
                        <m:r>
                          <a:rPr lang="en-US" sz="2000" b="0" i="1" smtClean="0">
                            <a:latin typeface="Cambria Math" panose="02040503050406030204" pitchFamily="18" charset="0"/>
                          </a:rPr>
                          <m:t>𝑇𝑖𝑚𝑒</m:t>
                        </m:r>
                        <m:r>
                          <a:rPr lang="en-US" sz="2000" b="0" i="1" smtClean="0">
                            <a:latin typeface="Cambria Math" panose="02040503050406030204" pitchFamily="18" charset="0"/>
                          </a:rPr>
                          <m:t> (</m:t>
                        </m:r>
                        <m:r>
                          <a:rPr lang="en-US" sz="2000" b="0" i="1" smtClean="0">
                            <a:latin typeface="Cambria Math" panose="02040503050406030204" pitchFamily="18" charset="0"/>
                          </a:rPr>
                          <m:t>𝑈𝑠𝑒𝑟</m:t>
                        </m:r>
                        <m:r>
                          <a:rPr lang="en-US" sz="2000" b="0" i="1" smtClean="0">
                            <a:latin typeface="Cambria Math" panose="02040503050406030204" pitchFamily="18" charset="0"/>
                          </a:rPr>
                          <m:t> </m:t>
                        </m:r>
                        <m:r>
                          <a:rPr lang="en-US" sz="2000" b="0" i="1" smtClean="0">
                            <a:latin typeface="Cambria Math" panose="02040503050406030204" pitchFamily="18" charset="0"/>
                          </a:rPr>
                          <m:t>𝑎𝑛𝑑</m:t>
                        </m:r>
                        <m:r>
                          <a:rPr lang="en-US" sz="2000" b="0" i="1" smtClean="0">
                            <a:latin typeface="Cambria Math" panose="02040503050406030204" pitchFamily="18" charset="0"/>
                          </a:rPr>
                          <m:t> </m:t>
                        </m:r>
                        <m:r>
                          <a:rPr lang="en-US" sz="2000" b="0" i="1" smtClean="0">
                            <a:latin typeface="Cambria Math" panose="02040503050406030204" pitchFamily="18" charset="0"/>
                          </a:rPr>
                          <m:t>𝑆𝑦𝑠𝑡𝑒𝑚</m:t>
                        </m:r>
                        <m:r>
                          <a:rPr lang="en-US" sz="2000" b="0" i="1" smtClean="0">
                            <a:latin typeface="Cambria Math" panose="02040503050406030204" pitchFamily="18" charset="0"/>
                          </a:rPr>
                          <m:t>)</m:t>
                        </m:r>
                      </m:num>
                      <m:den>
                        <m:r>
                          <a:rPr lang="en-US" sz="2000" b="0" i="1" smtClean="0">
                            <a:latin typeface="Cambria Math" panose="02040503050406030204" pitchFamily="18" charset="0"/>
                          </a:rPr>
                          <m:t>𝑇𝑜𝑡𝑎𝑙</m:t>
                        </m:r>
                        <m:r>
                          <a:rPr lang="en-US" sz="2000" b="0" i="1" smtClean="0">
                            <a:latin typeface="Cambria Math" panose="02040503050406030204" pitchFamily="18" charset="0"/>
                          </a:rPr>
                          <m:t> </m:t>
                        </m:r>
                        <m:r>
                          <a:rPr lang="en-US" sz="2000" b="0" i="1" smtClean="0">
                            <a:latin typeface="Cambria Math" panose="02040503050406030204" pitchFamily="18" charset="0"/>
                          </a:rPr>
                          <m:t>𝐸𝑙𝑎𝑝𝑠𝑒𝑑</m:t>
                        </m:r>
                        <m:r>
                          <a:rPr lang="en-US" sz="2000" b="0" i="1" smtClean="0">
                            <a:latin typeface="Cambria Math" panose="02040503050406030204" pitchFamily="18" charset="0"/>
                          </a:rPr>
                          <m:t> </m:t>
                        </m:r>
                        <m:r>
                          <a:rPr lang="en-US" sz="2000" b="0" i="1" smtClean="0">
                            <a:latin typeface="Cambria Math" panose="02040503050406030204" pitchFamily="18" charset="0"/>
                          </a:rPr>
                          <m:t>𝑇𝑖𝑚𝑒</m:t>
                        </m:r>
                      </m:den>
                    </m:f>
                  </m:oMath>
                </a14:m>
                <a:r>
                  <a:rPr lang="en-US" dirty="0"/>
                  <a:t> x 100</a:t>
                </a:r>
              </a:p>
              <a:p>
                <a:r>
                  <a:rPr lang="en-US" dirty="0"/>
                  <a:t>Total CPU time = 40.4+10.5 = 50.9 s</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1069848" y="1232034"/>
                <a:ext cx="10058400" cy="4940166"/>
              </a:xfrm>
              <a:blipFill rotWithShape="0">
                <a:blip r:embed="rId2"/>
                <a:stretch>
                  <a:fillRect l="-303" t="-1233"/>
                </a:stretch>
              </a:blipFill>
            </p:spPr>
            <p:txBody>
              <a:bodyPr/>
              <a:lstStyle/>
              <a:p>
                <a:r>
                  <a:rPr lang="en-US">
                    <a:noFill/>
                  </a:rPr>
                  <a:t> </a:t>
                </a:r>
              </a:p>
            </p:txBody>
          </p:sp>
        </mc:Fallback>
      </mc:AlternateContent>
      <p:sp>
        <p:nvSpPr>
          <p:cNvPr id="4" name="Slide Number Placeholder 3"/>
          <p:cNvSpPr>
            <a:spLocks noGrp="1"/>
          </p:cNvSpPr>
          <p:nvPr>
            <p:ph type="sldNum" sz="quarter" idx="12"/>
          </p:nvPr>
        </p:nvSpPr>
        <p:spPr/>
        <p:txBody>
          <a:bodyPr/>
          <a:lstStyle/>
          <a:p>
            <a:fld id="{380846C1-CD93-4AE4-8DA9-0A1941B6C5F9}" type="slidenum">
              <a:rPr lang="en-US" smtClean="0"/>
              <a:t>20</a:t>
            </a:fld>
            <a:endParaRPr lang="en-US"/>
          </a:p>
        </p:txBody>
      </p:sp>
    </p:spTree>
    <p:extLst>
      <p:ext uri="{BB962C8B-B14F-4D97-AF65-F5344CB8AC3E}">
        <p14:creationId xmlns:p14="http://schemas.microsoft.com/office/powerpoint/2010/main" val="22428841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69848" y="484632"/>
            <a:ext cx="10058400" cy="612648"/>
          </a:xfrm>
        </p:spPr>
        <p:txBody>
          <a:bodyPr>
            <a:normAutofit/>
          </a:bodyPr>
          <a:lstStyle/>
          <a:p>
            <a:r>
              <a:rPr lang="en-US" sz="2800" b="1" dirty="0"/>
              <a:t>MIPS (Millions Instructions Per Second) - 32 bits</a:t>
            </a:r>
            <a:endParaRPr lang="en-US" sz="2800"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1069848" y="1232034"/>
                <a:ext cx="10058400" cy="4940166"/>
              </a:xfrm>
            </p:spPr>
            <p:txBody>
              <a:bodyPr>
                <a:normAutofit/>
              </a:bodyPr>
              <a:lstStyle/>
              <a:p>
                <a:pPr marL="0" indent="0">
                  <a:buNone/>
                </a:pPr>
                <a:endParaRPr lang="en-US" dirty="0"/>
              </a:p>
              <a:p>
                <a:pPr marL="274320" lvl="1" indent="0">
                  <a:buNone/>
                </a:pPr>
                <a:r>
                  <a:rPr lang="en-US" dirty="0"/>
                  <a:t>		              </a:t>
                </a:r>
                <a:r>
                  <a:rPr lang="en-US" sz="2000" dirty="0"/>
                  <a:t>Percentage = </a:t>
                </a:r>
                <a14:m>
                  <m:oMath xmlns:m="http://schemas.openxmlformats.org/officeDocument/2006/math">
                    <m:f>
                      <m:fPr>
                        <m:ctrlPr>
                          <a:rPr lang="en-US" sz="2000" i="1" smtClean="0">
                            <a:latin typeface="Cambria Math" panose="02040503050406030204" pitchFamily="18" charset="0"/>
                          </a:rPr>
                        </m:ctrlPr>
                      </m:fPr>
                      <m:num>
                        <m:r>
                          <a:rPr lang="en-US" sz="2000" b="0" i="1" smtClean="0">
                            <a:latin typeface="Cambria Math" panose="02040503050406030204" pitchFamily="18" charset="0"/>
                          </a:rPr>
                          <m:t>50.9</m:t>
                        </m:r>
                      </m:num>
                      <m:den>
                        <m:r>
                          <a:rPr lang="en-US" sz="2000" b="0" i="1" smtClean="0">
                            <a:latin typeface="Cambria Math" panose="02040503050406030204" pitchFamily="18" charset="0"/>
                          </a:rPr>
                          <m:t>170</m:t>
                        </m:r>
                      </m:den>
                    </m:f>
                  </m:oMath>
                </a14:m>
                <a:r>
                  <a:rPr lang="en-US" dirty="0"/>
                  <a:t> x 100 = 29.94% (</a:t>
                </a:r>
                <a:r>
                  <a:rPr lang="en-US" dirty="0">
                    <a:solidFill>
                      <a:schemeClr val="accent1"/>
                    </a:solidFill>
                  </a:rPr>
                  <a:t>ANS</a:t>
                </a:r>
                <a:r>
                  <a:rPr lang="en-US" dirty="0"/>
                  <a:t>)</a:t>
                </a:r>
              </a:p>
              <a:p>
                <a:endParaRPr lang="en-US" dirty="0"/>
              </a:p>
              <a:p>
                <a:r>
                  <a:rPr lang="en-US" dirty="0"/>
                  <a:t>MIPS does not always directly indicate performance because:</a:t>
                </a:r>
              </a:p>
              <a:p>
                <a:pPr marL="617220" lvl="1" indent="-342900" fontAlgn="base">
                  <a:buFont typeface="+mj-lt"/>
                  <a:buAutoNum type="arabicPeriod"/>
                </a:pPr>
                <a:r>
                  <a:rPr lang="en-US" b="1" dirty="0"/>
                  <a:t>Different CPI values:</a:t>
                </a:r>
                <a:r>
                  <a:rPr lang="en-US" dirty="0"/>
                  <a:t> A machine with a high MIPS value may have a low CPI, but it does not necessarily mean it completes tasks faster.</a:t>
                </a:r>
              </a:p>
              <a:p>
                <a:pPr marL="617220" lvl="1" indent="-342900" fontAlgn="base">
                  <a:buFont typeface="+mj-lt"/>
                  <a:buAutoNum type="arabicPeriod"/>
                </a:pPr>
                <a:r>
                  <a:rPr lang="en-US" b="1" dirty="0"/>
                  <a:t>Instruction Set Differences:</a:t>
                </a:r>
                <a:r>
                  <a:rPr lang="en-US" dirty="0"/>
                  <a:t> Some architectures may execute instructions in fewer cycles but at a lower MIPS rate.</a:t>
                </a:r>
              </a:p>
              <a:p>
                <a:pPr marL="617220" lvl="1" indent="-342900" fontAlgn="base">
                  <a:buFont typeface="+mj-lt"/>
                  <a:buAutoNum type="arabicPeriod"/>
                </a:pPr>
                <a:r>
                  <a:rPr lang="en-US" b="1" dirty="0"/>
                  <a:t>Clock Speed Impact:</a:t>
                </a:r>
                <a:r>
                  <a:rPr lang="en-US" dirty="0"/>
                  <a:t> A higher clock speed can lead to a higher MIPS, but actual execution time may still be longer.</a:t>
                </a:r>
              </a:p>
              <a:p>
                <a:pPr marL="0" indent="0">
                  <a:buNone/>
                </a:pPr>
                <a:r>
                  <a:rPr lang="en-US" dirty="0"/>
                  <a:t>Thus, a machine with higher MIPS does not always execute a program faster if CPI is also higher.</a:t>
                </a:r>
                <a:br>
                  <a:rPr lang="en-US" dirty="0"/>
                </a:br>
                <a:endParaRPr lang="en-US" dirty="0"/>
              </a:p>
              <a:p>
                <a:pPr marL="0" indent="0">
                  <a:buNone/>
                </a:pPr>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1069848" y="1232034"/>
                <a:ext cx="10058400" cy="4940166"/>
              </a:xfrm>
              <a:blipFill rotWithShape="0">
                <a:blip r:embed="rId2"/>
                <a:stretch>
                  <a:fillRect l="-667" r="-1030"/>
                </a:stretch>
              </a:blipFill>
            </p:spPr>
            <p:txBody>
              <a:bodyPr/>
              <a:lstStyle/>
              <a:p>
                <a:r>
                  <a:rPr lang="en-US">
                    <a:noFill/>
                  </a:rPr>
                  <a:t> </a:t>
                </a:r>
              </a:p>
            </p:txBody>
          </p:sp>
        </mc:Fallback>
      </mc:AlternateContent>
      <p:sp>
        <p:nvSpPr>
          <p:cNvPr id="4" name="Slide Number Placeholder 3"/>
          <p:cNvSpPr>
            <a:spLocks noGrp="1"/>
          </p:cNvSpPr>
          <p:nvPr>
            <p:ph type="sldNum" sz="quarter" idx="12"/>
          </p:nvPr>
        </p:nvSpPr>
        <p:spPr/>
        <p:txBody>
          <a:bodyPr/>
          <a:lstStyle/>
          <a:p>
            <a:fld id="{380846C1-CD93-4AE4-8DA9-0A1941B6C5F9}" type="slidenum">
              <a:rPr lang="en-US" smtClean="0"/>
              <a:t>21</a:t>
            </a:fld>
            <a:endParaRPr lang="en-US"/>
          </a:p>
        </p:txBody>
      </p:sp>
    </p:spTree>
    <p:extLst>
      <p:ext uri="{BB962C8B-B14F-4D97-AF65-F5344CB8AC3E}">
        <p14:creationId xmlns:p14="http://schemas.microsoft.com/office/powerpoint/2010/main" val="55392496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44720" y="2419310"/>
            <a:ext cx="10058400" cy="1609344"/>
          </a:xfrm>
        </p:spPr>
        <p:txBody>
          <a:bodyPr/>
          <a:lstStyle/>
          <a:p>
            <a:r>
              <a:rPr lang="en-US" dirty="0"/>
              <a:t>Segment-2</a:t>
            </a:r>
          </a:p>
        </p:txBody>
      </p:sp>
      <p:sp>
        <p:nvSpPr>
          <p:cNvPr id="3" name="Slide Number Placeholder 2"/>
          <p:cNvSpPr>
            <a:spLocks noGrp="1"/>
          </p:cNvSpPr>
          <p:nvPr>
            <p:ph type="sldNum" sz="quarter" idx="12"/>
          </p:nvPr>
        </p:nvSpPr>
        <p:spPr/>
        <p:txBody>
          <a:bodyPr/>
          <a:lstStyle/>
          <a:p>
            <a:fld id="{380846C1-CD93-4AE4-8DA9-0A1941B6C5F9}" type="slidenum">
              <a:rPr lang="en-US" smtClean="0"/>
              <a:t>22</a:t>
            </a:fld>
            <a:endParaRPr lang="en-US"/>
          </a:p>
        </p:txBody>
      </p:sp>
    </p:spTree>
    <p:extLst>
      <p:ext uri="{BB962C8B-B14F-4D97-AF65-F5344CB8AC3E}">
        <p14:creationId xmlns:p14="http://schemas.microsoft.com/office/powerpoint/2010/main" val="138284645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69848" y="484632"/>
            <a:ext cx="10058400" cy="612648"/>
          </a:xfrm>
        </p:spPr>
        <p:txBody>
          <a:bodyPr>
            <a:normAutofit/>
          </a:bodyPr>
          <a:lstStyle/>
          <a:p>
            <a:r>
              <a:rPr lang="en-US" sz="2800" b="1" dirty="0"/>
              <a:t>Instruction Set Architecture</a:t>
            </a:r>
          </a:p>
        </p:txBody>
      </p:sp>
      <p:sp>
        <p:nvSpPr>
          <p:cNvPr id="3" name="Content Placeholder 2"/>
          <p:cNvSpPr>
            <a:spLocks noGrp="1"/>
          </p:cNvSpPr>
          <p:nvPr>
            <p:ph idx="1"/>
          </p:nvPr>
        </p:nvSpPr>
        <p:spPr>
          <a:xfrm>
            <a:off x="1069848" y="1232034"/>
            <a:ext cx="10058400" cy="4940166"/>
          </a:xfrm>
        </p:spPr>
        <p:txBody>
          <a:bodyPr>
            <a:normAutofit/>
          </a:bodyPr>
          <a:lstStyle/>
          <a:p>
            <a:r>
              <a:rPr lang="en-US" b="1" dirty="0"/>
              <a:t>ISA </a:t>
            </a:r>
            <a:r>
              <a:rPr lang="en-US" dirty="0"/>
              <a:t>(Instruction Set Architecture): Defines the types of instructions supported by a processor.</a:t>
            </a:r>
          </a:p>
          <a:p>
            <a:r>
              <a:rPr lang="en-US" dirty="0">
                <a:solidFill>
                  <a:schemeClr val="bg1">
                    <a:lumMod val="65000"/>
                  </a:schemeClr>
                </a:solidFill>
              </a:rPr>
              <a:t>Types:</a:t>
            </a:r>
          </a:p>
          <a:p>
            <a:pPr marL="617220" lvl="1" indent="-342900" fontAlgn="base">
              <a:buFont typeface="+mj-lt"/>
              <a:buAutoNum type="arabicPeriod"/>
            </a:pPr>
            <a:r>
              <a:rPr lang="en-US" sz="2000" dirty="0">
                <a:solidFill>
                  <a:schemeClr val="bg1">
                    <a:lumMod val="65000"/>
                  </a:schemeClr>
                </a:solidFill>
              </a:rPr>
              <a:t>Stack-based ISA: Uses a stack for all operations (push/pop). No direct access to registers. Example: JVM (Java Virtual Machine).</a:t>
            </a:r>
          </a:p>
          <a:p>
            <a:pPr marL="617220" lvl="1" indent="-342900" fontAlgn="base">
              <a:buFont typeface="+mj-lt"/>
              <a:buAutoNum type="arabicPeriod"/>
            </a:pPr>
            <a:r>
              <a:rPr lang="en-US" sz="2000" dirty="0">
                <a:solidFill>
                  <a:schemeClr val="bg1">
                    <a:lumMod val="65000"/>
                  </a:schemeClr>
                </a:solidFill>
              </a:rPr>
              <a:t>Accumulator-based ISA: Uses a single accumulator register for most operations. Simple but results in more memory access. Example: Intel 8008, 8051 Microcontrollers.</a:t>
            </a:r>
          </a:p>
          <a:p>
            <a:pPr marL="617220" lvl="1" indent="-342900" fontAlgn="base">
              <a:buFont typeface="+mj-lt"/>
              <a:buAutoNum type="arabicPeriod"/>
            </a:pPr>
            <a:r>
              <a:rPr lang="en-US" sz="2000" dirty="0">
                <a:solidFill>
                  <a:schemeClr val="bg1">
                    <a:lumMod val="65000"/>
                  </a:schemeClr>
                </a:solidFill>
              </a:rPr>
              <a:t>Register-based ISA: Uses multiple registers for operations instead of a stack or accumulator. Faster than stack or accumulator-based architectures. Example: Intel x86.</a:t>
            </a:r>
          </a:p>
        </p:txBody>
      </p:sp>
      <p:sp>
        <p:nvSpPr>
          <p:cNvPr id="4" name="Slide Number Placeholder 3"/>
          <p:cNvSpPr>
            <a:spLocks noGrp="1"/>
          </p:cNvSpPr>
          <p:nvPr>
            <p:ph type="sldNum" sz="quarter" idx="12"/>
          </p:nvPr>
        </p:nvSpPr>
        <p:spPr/>
        <p:txBody>
          <a:bodyPr/>
          <a:lstStyle/>
          <a:p>
            <a:fld id="{380846C1-CD93-4AE4-8DA9-0A1941B6C5F9}" type="slidenum">
              <a:rPr lang="en-US" smtClean="0"/>
              <a:t>23</a:t>
            </a:fld>
            <a:endParaRPr lang="en-US"/>
          </a:p>
        </p:txBody>
      </p:sp>
    </p:spTree>
    <p:extLst>
      <p:ext uri="{BB962C8B-B14F-4D97-AF65-F5344CB8AC3E}">
        <p14:creationId xmlns:p14="http://schemas.microsoft.com/office/powerpoint/2010/main" val="178753034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69848" y="484632"/>
            <a:ext cx="10058400" cy="612648"/>
          </a:xfrm>
        </p:spPr>
        <p:txBody>
          <a:bodyPr>
            <a:normAutofit/>
          </a:bodyPr>
          <a:lstStyle/>
          <a:p>
            <a:r>
              <a:rPr lang="en-US" sz="2800" b="1" dirty="0"/>
              <a:t>Instruction Set Architecture</a:t>
            </a:r>
          </a:p>
        </p:txBody>
      </p:sp>
      <p:sp>
        <p:nvSpPr>
          <p:cNvPr id="3" name="Content Placeholder 2"/>
          <p:cNvSpPr>
            <a:spLocks noGrp="1"/>
          </p:cNvSpPr>
          <p:nvPr>
            <p:ph idx="1"/>
          </p:nvPr>
        </p:nvSpPr>
        <p:spPr>
          <a:xfrm>
            <a:off x="1069848" y="1232034"/>
            <a:ext cx="10058400" cy="4940166"/>
          </a:xfrm>
        </p:spPr>
        <p:txBody>
          <a:bodyPr>
            <a:normAutofit/>
          </a:bodyPr>
          <a:lstStyle/>
          <a:p>
            <a:r>
              <a:rPr lang="en-US" b="1" dirty="0"/>
              <a:t>Instruction Set</a:t>
            </a:r>
            <a:r>
              <a:rPr lang="en-US" dirty="0"/>
              <a:t>: Collection of machine language instruction. 5 types:</a:t>
            </a:r>
          </a:p>
          <a:p>
            <a:pPr marL="617220" lvl="1" indent="-342900" fontAlgn="base">
              <a:buFont typeface="+mj-lt"/>
              <a:buAutoNum type="arabicPeriod"/>
            </a:pPr>
            <a:r>
              <a:rPr lang="en-US" sz="2000" dirty="0"/>
              <a:t>Arithmetic: add, sub, </a:t>
            </a:r>
            <a:r>
              <a:rPr lang="en-US" sz="2000" dirty="0" err="1"/>
              <a:t>mul</a:t>
            </a:r>
            <a:r>
              <a:rPr lang="en-US" sz="2000" dirty="0"/>
              <a:t>, div.</a:t>
            </a:r>
          </a:p>
          <a:p>
            <a:pPr marL="617220" lvl="1" indent="-342900" fontAlgn="base">
              <a:buFont typeface="+mj-lt"/>
              <a:buAutoNum type="arabicPeriod"/>
            </a:pPr>
            <a:r>
              <a:rPr lang="en-US" sz="2000" dirty="0"/>
              <a:t>Logical: AND, OR, NOT.</a:t>
            </a:r>
          </a:p>
          <a:p>
            <a:pPr marL="617220" lvl="1" indent="-342900" fontAlgn="base">
              <a:buFont typeface="+mj-lt"/>
              <a:buAutoNum type="arabicPeriod"/>
            </a:pPr>
            <a:r>
              <a:rPr lang="en-US" sz="2000" dirty="0"/>
              <a:t>Data Transfer: MOV, LOAD, STORE.</a:t>
            </a:r>
          </a:p>
          <a:p>
            <a:pPr marL="617220" lvl="1" indent="-342900" fontAlgn="base">
              <a:buFont typeface="+mj-lt"/>
              <a:buAutoNum type="arabicPeriod"/>
            </a:pPr>
            <a:r>
              <a:rPr lang="en-US" sz="2000" dirty="0"/>
              <a:t>Control Flow: JUMP, CALL, RETURN.</a:t>
            </a:r>
          </a:p>
          <a:p>
            <a:pPr marL="617220" lvl="1" indent="-342900" fontAlgn="base">
              <a:buFont typeface="+mj-lt"/>
              <a:buAutoNum type="arabicPeriod"/>
            </a:pPr>
            <a:r>
              <a:rPr lang="en-US" sz="2000" dirty="0"/>
              <a:t>I/O</a:t>
            </a:r>
          </a:p>
        </p:txBody>
      </p:sp>
      <p:sp>
        <p:nvSpPr>
          <p:cNvPr id="4" name="Slide Number Placeholder 3"/>
          <p:cNvSpPr>
            <a:spLocks noGrp="1"/>
          </p:cNvSpPr>
          <p:nvPr>
            <p:ph type="sldNum" sz="quarter" idx="12"/>
          </p:nvPr>
        </p:nvSpPr>
        <p:spPr/>
        <p:txBody>
          <a:bodyPr/>
          <a:lstStyle/>
          <a:p>
            <a:fld id="{380846C1-CD93-4AE4-8DA9-0A1941B6C5F9}" type="slidenum">
              <a:rPr lang="en-US" smtClean="0"/>
              <a:t>24</a:t>
            </a:fld>
            <a:endParaRPr lang="en-US"/>
          </a:p>
        </p:txBody>
      </p:sp>
    </p:spTree>
    <p:extLst>
      <p:ext uri="{BB962C8B-B14F-4D97-AF65-F5344CB8AC3E}">
        <p14:creationId xmlns:p14="http://schemas.microsoft.com/office/powerpoint/2010/main" val="147579332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69848" y="484632"/>
            <a:ext cx="10058400" cy="612648"/>
          </a:xfrm>
        </p:spPr>
        <p:txBody>
          <a:bodyPr>
            <a:normAutofit/>
          </a:bodyPr>
          <a:lstStyle/>
          <a:p>
            <a:r>
              <a:rPr lang="en-US" sz="2800" b="1" dirty="0"/>
              <a:t>Instruction Set Architecture</a:t>
            </a:r>
          </a:p>
        </p:txBody>
      </p:sp>
      <p:sp>
        <p:nvSpPr>
          <p:cNvPr id="3" name="Content Placeholder 2"/>
          <p:cNvSpPr>
            <a:spLocks noGrp="1"/>
          </p:cNvSpPr>
          <p:nvPr>
            <p:ph idx="1"/>
          </p:nvPr>
        </p:nvSpPr>
        <p:spPr>
          <a:xfrm>
            <a:off x="1069848" y="1232034"/>
            <a:ext cx="10058400" cy="4940166"/>
          </a:xfrm>
        </p:spPr>
        <p:txBody>
          <a:bodyPr>
            <a:normAutofit/>
          </a:bodyPr>
          <a:lstStyle/>
          <a:p>
            <a:r>
              <a:rPr lang="en-US" b="1" dirty="0"/>
              <a:t>Instruction Access methods: </a:t>
            </a:r>
            <a:r>
              <a:rPr lang="en-US" dirty="0"/>
              <a:t>Instruction access refers to how the CPU fetches and retrieves instructions from memory before executing them. The CPU follows the fetch-decode-execute cycle to process each instruction.</a:t>
            </a:r>
          </a:p>
          <a:p>
            <a:pPr marL="617220" lvl="1" indent="-342900" fontAlgn="base">
              <a:buFont typeface="+mj-lt"/>
              <a:buAutoNum type="arabicPeriod"/>
            </a:pPr>
            <a:r>
              <a:rPr lang="en-US" sz="2000" b="1" dirty="0"/>
              <a:t>Sequential Access</a:t>
            </a:r>
            <a:r>
              <a:rPr lang="en-US" sz="2000" dirty="0"/>
              <a:t>: CPU fetches instructions one after another in a sequence. After executing an instruction, the PC is incremented to point to the next instruction.</a:t>
            </a:r>
          </a:p>
          <a:p>
            <a:pPr marL="617220" lvl="1" indent="-342900" fontAlgn="base">
              <a:buFont typeface="+mj-lt"/>
              <a:buAutoNum type="arabicPeriod"/>
            </a:pPr>
            <a:r>
              <a:rPr lang="en-US" sz="2000" b="1" dirty="0"/>
              <a:t>Direct Access:  </a:t>
            </a:r>
            <a:r>
              <a:rPr lang="en-US" sz="2000" dirty="0"/>
              <a:t>The instruction address is directly specified in the instruction itself. Used in branching and jumping instructions. </a:t>
            </a:r>
            <a:r>
              <a:rPr lang="en-US" sz="2000" i="1" dirty="0"/>
              <a:t>Example</a:t>
            </a:r>
            <a:r>
              <a:rPr lang="en-US" sz="2000" dirty="0"/>
              <a:t>: JMP 0x200 ; Jump to memory location 0x200.</a:t>
            </a:r>
          </a:p>
          <a:p>
            <a:pPr marL="617220" lvl="1" indent="-342900">
              <a:buFont typeface="+mj-lt"/>
              <a:buAutoNum type="arabicPeriod"/>
            </a:pPr>
            <a:r>
              <a:rPr lang="en-US" sz="2000" b="1" dirty="0"/>
              <a:t>Indirect Access</a:t>
            </a:r>
            <a:r>
              <a:rPr lang="en-US" sz="2000" dirty="0"/>
              <a:t>: The instruction contains an address that points to another memory location where the actual instruction is stored. </a:t>
            </a:r>
            <a:r>
              <a:rPr lang="en-US" sz="2000" i="1" dirty="0"/>
              <a:t>Example</a:t>
            </a:r>
            <a:r>
              <a:rPr lang="en-US" sz="2000" dirty="0"/>
              <a:t>: JMP [0x200] ; Fetch address from location 0x200 and jump there.</a:t>
            </a:r>
          </a:p>
        </p:txBody>
      </p:sp>
      <p:sp>
        <p:nvSpPr>
          <p:cNvPr id="4" name="Slide Number Placeholder 3"/>
          <p:cNvSpPr>
            <a:spLocks noGrp="1"/>
          </p:cNvSpPr>
          <p:nvPr>
            <p:ph type="sldNum" sz="quarter" idx="12"/>
          </p:nvPr>
        </p:nvSpPr>
        <p:spPr/>
        <p:txBody>
          <a:bodyPr/>
          <a:lstStyle/>
          <a:p>
            <a:fld id="{380846C1-CD93-4AE4-8DA9-0A1941B6C5F9}" type="slidenum">
              <a:rPr lang="en-US" smtClean="0"/>
              <a:t>25</a:t>
            </a:fld>
            <a:endParaRPr lang="en-US"/>
          </a:p>
        </p:txBody>
      </p:sp>
    </p:spTree>
    <p:extLst>
      <p:ext uri="{BB962C8B-B14F-4D97-AF65-F5344CB8AC3E}">
        <p14:creationId xmlns:p14="http://schemas.microsoft.com/office/powerpoint/2010/main" val="144739653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69848" y="484632"/>
            <a:ext cx="10058400" cy="612648"/>
          </a:xfrm>
        </p:spPr>
        <p:txBody>
          <a:bodyPr>
            <a:normAutofit/>
          </a:bodyPr>
          <a:lstStyle/>
          <a:p>
            <a:r>
              <a:rPr lang="en-US" sz="2800" b="1" dirty="0"/>
              <a:t>Instruction Set Architecture</a:t>
            </a:r>
          </a:p>
        </p:txBody>
      </p:sp>
      <p:sp>
        <p:nvSpPr>
          <p:cNvPr id="3" name="Content Placeholder 2"/>
          <p:cNvSpPr>
            <a:spLocks noGrp="1"/>
          </p:cNvSpPr>
          <p:nvPr>
            <p:ph idx="1"/>
          </p:nvPr>
        </p:nvSpPr>
        <p:spPr>
          <a:xfrm>
            <a:off x="1069848" y="1232034"/>
            <a:ext cx="10058400" cy="4940166"/>
          </a:xfrm>
        </p:spPr>
        <p:txBody>
          <a:bodyPr>
            <a:normAutofit/>
          </a:bodyPr>
          <a:lstStyle/>
          <a:p>
            <a:r>
              <a:rPr lang="en-US" b="1" dirty="0"/>
              <a:t>Data Access Methods:</a:t>
            </a:r>
            <a:r>
              <a:rPr lang="en-US" dirty="0"/>
              <a:t> Data access refers to how the CPU retrieves and stores data in memory or registers during instruction execution. </a:t>
            </a:r>
            <a:r>
              <a:rPr lang="en-US" i="1" dirty="0"/>
              <a:t>Different addressing modes</a:t>
            </a:r>
            <a:r>
              <a:rPr lang="en-US" dirty="0"/>
              <a:t> determine how the data is accessed.</a:t>
            </a:r>
          </a:p>
          <a:p>
            <a:pPr marL="617220" lvl="1" indent="-342900" fontAlgn="base">
              <a:buFont typeface="+mj-lt"/>
              <a:buAutoNum type="arabicPeriod"/>
            </a:pPr>
            <a:r>
              <a:rPr lang="en-US" sz="2000" dirty="0"/>
              <a:t>Register Addressing: data (operand) is stored in a CPU register. </a:t>
            </a:r>
            <a:r>
              <a:rPr lang="en-US" sz="2000" i="1" dirty="0"/>
              <a:t>Ex</a:t>
            </a:r>
            <a:r>
              <a:rPr lang="en-US" sz="2000" dirty="0"/>
              <a:t>: ADD R1, R2, R3 ; R1 = R2 + R3.</a:t>
            </a:r>
          </a:p>
          <a:p>
            <a:pPr marL="617220" lvl="1" indent="-342900" fontAlgn="base">
              <a:buFont typeface="+mj-lt"/>
              <a:buAutoNum type="arabicPeriod"/>
            </a:pPr>
            <a:r>
              <a:rPr lang="en-US" sz="2000" dirty="0"/>
              <a:t>Immediate Addressing: data (operand) is part of the instruction itself. </a:t>
            </a:r>
            <a:r>
              <a:rPr lang="en-US" sz="2000" i="1" dirty="0"/>
              <a:t>Ex</a:t>
            </a:r>
            <a:r>
              <a:rPr lang="en-US" sz="2000" dirty="0"/>
              <a:t>: ADDI R1, R2, 10 ; R1 = R2 + 10.</a:t>
            </a:r>
          </a:p>
          <a:p>
            <a:pPr marL="617220" lvl="1" indent="-342900" fontAlgn="base">
              <a:buFont typeface="+mj-lt"/>
              <a:buAutoNum type="arabicPeriod"/>
            </a:pPr>
            <a:r>
              <a:rPr lang="en-US" sz="2000" dirty="0"/>
              <a:t>Direct Addressing: The instruction specifies the exact memory address where the operand is located. </a:t>
            </a:r>
            <a:r>
              <a:rPr lang="en-US" sz="2000" i="1" dirty="0"/>
              <a:t>Ex</a:t>
            </a:r>
            <a:r>
              <a:rPr lang="en-US" sz="2000" dirty="0"/>
              <a:t>: LOAD R1, 0x2000 ; Load value from memory address 0x2000 into R1.</a:t>
            </a:r>
          </a:p>
          <a:p>
            <a:pPr marL="617220" lvl="1" indent="-342900" fontAlgn="base">
              <a:buFont typeface="+mj-lt"/>
              <a:buAutoNum type="arabicPeriod"/>
            </a:pPr>
            <a:r>
              <a:rPr lang="en-US" sz="2000" dirty="0"/>
              <a:t>Indirect Addressing: The instruction provides a memory location that stores another address where the actual operand is located. Ex: LOAD R1, [0x2000] ; Fetch address stored at 0x2000, then load value from that address.</a:t>
            </a:r>
          </a:p>
          <a:p>
            <a:pPr marL="617220" lvl="1" indent="-342900">
              <a:buFont typeface="+mj-lt"/>
              <a:buAutoNum type="arabicPeriod"/>
            </a:pPr>
            <a:r>
              <a:rPr lang="en-US" sz="2000" dirty="0"/>
              <a:t>Indexed Addressing: A base address is combined with an offset stored in an index register. </a:t>
            </a:r>
            <a:r>
              <a:rPr lang="en-US" sz="2000" i="1" dirty="0"/>
              <a:t>Ex</a:t>
            </a:r>
            <a:r>
              <a:rPr lang="en-US" sz="2000" dirty="0"/>
              <a:t>: LOAD R1, 100(R2) ; Load value from memory address (R2 + 100) into R1.</a:t>
            </a:r>
          </a:p>
        </p:txBody>
      </p:sp>
      <p:sp>
        <p:nvSpPr>
          <p:cNvPr id="4" name="Slide Number Placeholder 3"/>
          <p:cNvSpPr>
            <a:spLocks noGrp="1"/>
          </p:cNvSpPr>
          <p:nvPr>
            <p:ph type="sldNum" sz="quarter" idx="12"/>
          </p:nvPr>
        </p:nvSpPr>
        <p:spPr/>
        <p:txBody>
          <a:bodyPr/>
          <a:lstStyle/>
          <a:p>
            <a:fld id="{380846C1-CD93-4AE4-8DA9-0A1941B6C5F9}" type="slidenum">
              <a:rPr lang="en-US" smtClean="0"/>
              <a:t>26</a:t>
            </a:fld>
            <a:endParaRPr lang="en-US"/>
          </a:p>
        </p:txBody>
      </p:sp>
    </p:spTree>
    <p:extLst>
      <p:ext uri="{BB962C8B-B14F-4D97-AF65-F5344CB8AC3E}">
        <p14:creationId xmlns:p14="http://schemas.microsoft.com/office/powerpoint/2010/main" val="386745631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69848" y="484632"/>
            <a:ext cx="10058400" cy="612648"/>
          </a:xfrm>
        </p:spPr>
        <p:txBody>
          <a:bodyPr>
            <a:normAutofit/>
          </a:bodyPr>
          <a:lstStyle/>
          <a:p>
            <a:r>
              <a:rPr lang="en-US" sz="2800" b="1" dirty="0"/>
              <a:t>Stored-Program Concept</a:t>
            </a:r>
          </a:p>
        </p:txBody>
      </p:sp>
      <p:sp>
        <p:nvSpPr>
          <p:cNvPr id="3" name="Content Placeholder 2"/>
          <p:cNvSpPr>
            <a:spLocks noGrp="1"/>
          </p:cNvSpPr>
          <p:nvPr>
            <p:ph idx="1"/>
          </p:nvPr>
        </p:nvSpPr>
        <p:spPr>
          <a:xfrm>
            <a:off x="1069848" y="1232034"/>
            <a:ext cx="10058400" cy="4940166"/>
          </a:xfrm>
        </p:spPr>
        <p:txBody>
          <a:bodyPr>
            <a:normAutofit/>
          </a:bodyPr>
          <a:lstStyle/>
          <a:p>
            <a:r>
              <a:rPr lang="en-US" dirty="0"/>
              <a:t>The Stored-Program Concept is a fundamental principle of modern computing, introduced by John von Neumann. This concept is the basis for the </a:t>
            </a:r>
            <a:r>
              <a:rPr lang="en-US" i="1" dirty="0"/>
              <a:t>Von Neumann Architecture</a:t>
            </a:r>
            <a:r>
              <a:rPr lang="en-US" dirty="0"/>
              <a:t>, where instructions and data are stored in the same memory and accessed via the same data bus. Programs can be modified during execution. </a:t>
            </a:r>
          </a:p>
          <a:p>
            <a:r>
              <a:rPr lang="en-US" dirty="0"/>
              <a:t>Consider a simple program that </a:t>
            </a:r>
            <a:r>
              <a:rPr lang="en-US" dirty="0">
                <a:solidFill>
                  <a:schemeClr val="accent1"/>
                </a:solidFill>
              </a:rPr>
              <a:t>adds two numbers </a:t>
            </a:r>
            <a:r>
              <a:rPr lang="en-US" dirty="0"/>
              <a:t>stored in memory:</a:t>
            </a:r>
          </a:p>
          <a:p>
            <a:r>
              <a:rPr lang="en-US" dirty="0"/>
              <a:t>Step-by-Step Execution:</a:t>
            </a:r>
          </a:p>
          <a:p>
            <a:pPr marL="891540" lvl="2" indent="-342900" fontAlgn="base">
              <a:buFont typeface="+mj-lt"/>
              <a:buAutoNum type="arabicPeriod"/>
            </a:pPr>
            <a:r>
              <a:rPr lang="en-US" sz="1800" dirty="0"/>
              <a:t>Program and data are loaded into memory: CPU fetches both instructions and operands from RAM.</a:t>
            </a:r>
          </a:p>
          <a:p>
            <a:pPr marL="891540" lvl="2" indent="-342900" fontAlgn="base">
              <a:buFont typeface="+mj-lt"/>
              <a:buAutoNum type="arabicPeriod"/>
            </a:pPr>
            <a:r>
              <a:rPr lang="en-US" sz="1800" dirty="0"/>
              <a:t>CPU Fetches and Decodes the Instruction: The first instruction (e.g., LOAD A) is fetched and sent to the Instruction Register (IR). The Program Counter (PC) is updated to point to the next instruction.</a:t>
            </a:r>
          </a:p>
          <a:p>
            <a:pPr marL="891540" lvl="2" indent="-342900" fontAlgn="base">
              <a:buFont typeface="+mj-lt"/>
              <a:buAutoNum type="arabicPeriod"/>
            </a:pPr>
            <a:r>
              <a:rPr lang="en-US" sz="1800" dirty="0"/>
              <a:t>Instruction Execution: The instruction is executed (e.g., the addition is performed in the ALU).</a:t>
            </a:r>
          </a:p>
          <a:p>
            <a:pPr marL="891540" lvl="2" indent="-342900" fontAlgn="base">
              <a:buFont typeface="+mj-lt"/>
              <a:buAutoNum type="arabicPeriod"/>
            </a:pPr>
            <a:r>
              <a:rPr lang="en-US" sz="1800" dirty="0"/>
              <a:t>Store Result in Memory: The result is stored back in RAM for later use.</a:t>
            </a:r>
          </a:p>
        </p:txBody>
      </p:sp>
      <p:sp>
        <p:nvSpPr>
          <p:cNvPr id="4" name="Slide Number Placeholder 3"/>
          <p:cNvSpPr>
            <a:spLocks noGrp="1"/>
          </p:cNvSpPr>
          <p:nvPr>
            <p:ph type="sldNum" sz="quarter" idx="12"/>
          </p:nvPr>
        </p:nvSpPr>
        <p:spPr/>
        <p:txBody>
          <a:bodyPr/>
          <a:lstStyle/>
          <a:p>
            <a:fld id="{380846C1-CD93-4AE4-8DA9-0A1941B6C5F9}" type="slidenum">
              <a:rPr lang="en-US" smtClean="0"/>
              <a:t>27</a:t>
            </a:fld>
            <a:endParaRPr lang="en-US"/>
          </a:p>
        </p:txBody>
      </p:sp>
    </p:spTree>
    <p:extLst>
      <p:ext uri="{BB962C8B-B14F-4D97-AF65-F5344CB8AC3E}">
        <p14:creationId xmlns:p14="http://schemas.microsoft.com/office/powerpoint/2010/main" val="165151294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69848" y="484632"/>
            <a:ext cx="10058400" cy="612648"/>
          </a:xfrm>
        </p:spPr>
        <p:txBody>
          <a:bodyPr>
            <a:normAutofit/>
          </a:bodyPr>
          <a:lstStyle/>
          <a:p>
            <a:r>
              <a:rPr lang="en-US" sz="2800" b="1" dirty="0"/>
              <a:t>Operations of the Computer Hardware</a:t>
            </a:r>
          </a:p>
        </p:txBody>
      </p:sp>
      <p:sp>
        <p:nvSpPr>
          <p:cNvPr id="3" name="Content Placeholder 2"/>
          <p:cNvSpPr>
            <a:spLocks noGrp="1"/>
          </p:cNvSpPr>
          <p:nvPr>
            <p:ph idx="1"/>
          </p:nvPr>
        </p:nvSpPr>
        <p:spPr>
          <a:xfrm>
            <a:off x="1069848" y="1232034"/>
            <a:ext cx="10058400" cy="4940166"/>
          </a:xfrm>
        </p:spPr>
        <p:txBody>
          <a:bodyPr>
            <a:normAutofit/>
          </a:bodyPr>
          <a:lstStyle/>
          <a:p>
            <a:r>
              <a:rPr lang="en-US" dirty="0"/>
              <a:t>Computer hardware operations follow the fetch-decode-execute cycle:</a:t>
            </a:r>
          </a:p>
          <a:p>
            <a:pPr marL="617220" lvl="1" indent="-342900" fontAlgn="base">
              <a:buFont typeface="+mj-lt"/>
              <a:buAutoNum type="arabicPeriod"/>
            </a:pPr>
            <a:r>
              <a:rPr lang="en-US" sz="2000" dirty="0"/>
              <a:t>Fetch: The CPU retrieves an instruction from memory.</a:t>
            </a:r>
          </a:p>
          <a:p>
            <a:pPr marL="617220" lvl="1" indent="-342900" fontAlgn="base">
              <a:buFont typeface="+mj-lt"/>
              <a:buAutoNum type="arabicPeriod"/>
            </a:pPr>
            <a:r>
              <a:rPr lang="en-US" sz="2000" dirty="0"/>
              <a:t>Decode: The instruction is interpreted by the control unit.</a:t>
            </a:r>
          </a:p>
          <a:p>
            <a:pPr marL="617220" lvl="1" indent="-342900" fontAlgn="base">
              <a:buFont typeface="+mj-lt"/>
              <a:buAutoNum type="arabicPeriod"/>
            </a:pPr>
            <a:r>
              <a:rPr lang="en-US" sz="2000" dirty="0"/>
              <a:t>Execute: The ALU (Arithmetic Logic Unit) or other components perform the operation.</a:t>
            </a:r>
          </a:p>
          <a:p>
            <a:pPr marL="617220" lvl="1" indent="-342900" fontAlgn="base">
              <a:buFont typeface="+mj-lt"/>
              <a:buAutoNum type="arabicPeriod"/>
            </a:pPr>
            <a:r>
              <a:rPr lang="en-US" sz="2000" dirty="0"/>
              <a:t>Write Back: The result is stored in a register or memory.</a:t>
            </a:r>
          </a:p>
        </p:txBody>
      </p:sp>
      <p:sp>
        <p:nvSpPr>
          <p:cNvPr id="4" name="Slide Number Placeholder 3"/>
          <p:cNvSpPr>
            <a:spLocks noGrp="1"/>
          </p:cNvSpPr>
          <p:nvPr>
            <p:ph type="sldNum" sz="quarter" idx="12"/>
          </p:nvPr>
        </p:nvSpPr>
        <p:spPr/>
        <p:txBody>
          <a:bodyPr/>
          <a:lstStyle/>
          <a:p>
            <a:fld id="{380846C1-CD93-4AE4-8DA9-0A1941B6C5F9}" type="slidenum">
              <a:rPr lang="en-US" smtClean="0"/>
              <a:t>28</a:t>
            </a:fld>
            <a:endParaRPr lang="en-US"/>
          </a:p>
        </p:txBody>
      </p:sp>
    </p:spTree>
    <p:extLst>
      <p:ext uri="{BB962C8B-B14F-4D97-AF65-F5344CB8AC3E}">
        <p14:creationId xmlns:p14="http://schemas.microsoft.com/office/powerpoint/2010/main" val="36717325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69848" y="484632"/>
            <a:ext cx="10058400" cy="612648"/>
          </a:xfrm>
        </p:spPr>
        <p:txBody>
          <a:bodyPr>
            <a:normAutofit/>
          </a:bodyPr>
          <a:lstStyle/>
          <a:p>
            <a:r>
              <a:rPr lang="en-US" sz="2800" b="1" dirty="0"/>
              <a:t>Operands of the computer hardware</a:t>
            </a:r>
          </a:p>
        </p:txBody>
      </p:sp>
      <p:sp>
        <p:nvSpPr>
          <p:cNvPr id="3" name="Content Placeholder 2"/>
          <p:cNvSpPr>
            <a:spLocks noGrp="1"/>
          </p:cNvSpPr>
          <p:nvPr>
            <p:ph idx="1"/>
          </p:nvPr>
        </p:nvSpPr>
        <p:spPr>
          <a:xfrm>
            <a:off x="1069848" y="1232034"/>
            <a:ext cx="10058400" cy="4940166"/>
          </a:xfrm>
        </p:spPr>
        <p:txBody>
          <a:bodyPr>
            <a:normAutofit/>
          </a:bodyPr>
          <a:lstStyle/>
          <a:p>
            <a:r>
              <a:rPr lang="en-US" dirty="0"/>
              <a:t>Operands are the values or data on which instructions operate. They can be stored in:</a:t>
            </a:r>
          </a:p>
          <a:p>
            <a:pPr marL="617220" lvl="1" indent="-342900" fontAlgn="base">
              <a:buFont typeface="+mj-lt"/>
              <a:buAutoNum type="arabicPeriod"/>
            </a:pPr>
            <a:r>
              <a:rPr lang="en-US" dirty="0"/>
              <a:t>Registers: Fastest storage location within the CPU.</a:t>
            </a:r>
          </a:p>
          <a:p>
            <a:pPr marL="617220" lvl="1" indent="-342900" fontAlgn="base">
              <a:buFont typeface="+mj-lt"/>
              <a:buAutoNum type="arabicPeriod"/>
            </a:pPr>
            <a:r>
              <a:rPr lang="en-US" dirty="0"/>
              <a:t>Memory: Slower access, requires address calculation.</a:t>
            </a:r>
          </a:p>
          <a:p>
            <a:pPr marL="617220" lvl="1" indent="-342900" fontAlgn="base">
              <a:buFont typeface="+mj-lt"/>
              <a:buAutoNum type="arabicPeriod"/>
            </a:pPr>
            <a:r>
              <a:rPr lang="en-US" dirty="0"/>
              <a:t>I/O Devices: External inputs such as keyboard, mouse, or sensors.</a:t>
            </a:r>
          </a:p>
          <a:p>
            <a:pPr marL="274320" lvl="1" indent="0" fontAlgn="base">
              <a:buNone/>
            </a:pPr>
            <a:endParaRPr lang="en-US" dirty="0"/>
          </a:p>
          <a:p>
            <a:pPr marL="274320" lvl="1" indent="0" fontAlgn="base">
              <a:buNone/>
            </a:pPr>
            <a:endParaRPr lang="en-US" dirty="0"/>
          </a:p>
          <a:p>
            <a:r>
              <a:rPr lang="en-US" dirty="0"/>
              <a:t>Design Principles of Computer Hardware:</a:t>
            </a:r>
          </a:p>
          <a:p>
            <a:pPr marL="617220" lvl="1" indent="-342900" fontAlgn="base">
              <a:buFont typeface="+mj-lt"/>
              <a:buAutoNum type="arabicPeriod"/>
            </a:pPr>
            <a:r>
              <a:rPr lang="en-US" dirty="0"/>
              <a:t>Simplicity Favors Regularity: Using uniform instruction formats.</a:t>
            </a:r>
          </a:p>
          <a:p>
            <a:pPr marL="617220" lvl="1" indent="-342900" fontAlgn="base">
              <a:buFont typeface="+mj-lt"/>
              <a:buAutoNum type="arabicPeriod"/>
            </a:pPr>
            <a:r>
              <a:rPr lang="en-US" dirty="0"/>
              <a:t>Smaller is Faster: Reducing instruction complexity speeds up execution.</a:t>
            </a:r>
          </a:p>
          <a:p>
            <a:pPr marL="617220" lvl="1" indent="-342900" fontAlgn="base">
              <a:buFont typeface="+mj-lt"/>
              <a:buAutoNum type="arabicPeriod"/>
            </a:pPr>
            <a:r>
              <a:rPr lang="en-US" dirty="0"/>
              <a:t>Make the Common Case Fast: Optimizing frequent operations.</a:t>
            </a:r>
          </a:p>
          <a:p>
            <a:pPr marL="617220" lvl="1" indent="-342900" fontAlgn="base">
              <a:buFont typeface="+mj-lt"/>
              <a:buAutoNum type="arabicPeriod"/>
            </a:pPr>
            <a:endParaRPr lang="en-US" dirty="0"/>
          </a:p>
        </p:txBody>
      </p:sp>
      <p:sp>
        <p:nvSpPr>
          <p:cNvPr id="4" name="Slide Number Placeholder 3"/>
          <p:cNvSpPr>
            <a:spLocks noGrp="1"/>
          </p:cNvSpPr>
          <p:nvPr>
            <p:ph type="sldNum" sz="quarter" idx="12"/>
          </p:nvPr>
        </p:nvSpPr>
        <p:spPr/>
        <p:txBody>
          <a:bodyPr/>
          <a:lstStyle/>
          <a:p>
            <a:fld id="{380846C1-CD93-4AE4-8DA9-0A1941B6C5F9}" type="slidenum">
              <a:rPr lang="en-US" smtClean="0"/>
              <a:t>29</a:t>
            </a:fld>
            <a:endParaRPr lang="en-US"/>
          </a:p>
        </p:txBody>
      </p:sp>
    </p:spTree>
    <p:extLst>
      <p:ext uri="{BB962C8B-B14F-4D97-AF65-F5344CB8AC3E}">
        <p14:creationId xmlns:p14="http://schemas.microsoft.com/office/powerpoint/2010/main" val="16863636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69848" y="484632"/>
            <a:ext cx="10058400" cy="612648"/>
          </a:xfrm>
        </p:spPr>
        <p:txBody>
          <a:bodyPr>
            <a:normAutofit/>
          </a:bodyPr>
          <a:lstStyle/>
          <a:p>
            <a:r>
              <a:rPr lang="en-US" sz="2800" b="1" dirty="0"/>
              <a:t>Representation of Instructions in the Computer</a:t>
            </a:r>
          </a:p>
        </p:txBody>
      </p:sp>
      <p:sp>
        <p:nvSpPr>
          <p:cNvPr id="3" name="Content Placeholder 2"/>
          <p:cNvSpPr>
            <a:spLocks noGrp="1"/>
          </p:cNvSpPr>
          <p:nvPr>
            <p:ph idx="1"/>
          </p:nvPr>
        </p:nvSpPr>
        <p:spPr>
          <a:xfrm>
            <a:off x="1069848" y="1232034"/>
            <a:ext cx="10058400" cy="4940166"/>
          </a:xfrm>
        </p:spPr>
        <p:txBody>
          <a:bodyPr>
            <a:normAutofit/>
          </a:bodyPr>
          <a:lstStyle/>
          <a:p>
            <a:r>
              <a:rPr lang="en-US" dirty="0"/>
              <a:t>Instructions are stored in binary format. The MIPS instruction format consists of:</a:t>
            </a:r>
          </a:p>
          <a:p>
            <a:pPr marL="617220" lvl="1" indent="-342900" fontAlgn="base">
              <a:buFont typeface="+mj-lt"/>
              <a:buAutoNum type="arabicPeriod"/>
            </a:pPr>
            <a:r>
              <a:rPr lang="en-US" sz="2000" dirty="0"/>
              <a:t>Opcode: Specifies the operation (ADD, LOAD, </a:t>
            </a:r>
            <a:r>
              <a:rPr lang="en-US" sz="2000" dirty="0" err="1"/>
              <a:t>etc</a:t>
            </a:r>
            <a:r>
              <a:rPr lang="en-US" sz="2000" dirty="0"/>
              <a:t>).</a:t>
            </a:r>
          </a:p>
          <a:p>
            <a:pPr marL="617220" lvl="1" indent="-342900" fontAlgn="base">
              <a:buFont typeface="+mj-lt"/>
              <a:buAutoNum type="arabicPeriod"/>
            </a:pPr>
            <a:r>
              <a:rPr lang="en-US" sz="2000" dirty="0"/>
              <a:t>Operands: Register/memory locations involved.</a:t>
            </a:r>
          </a:p>
          <a:p>
            <a:pPr marL="617220" lvl="1" indent="-342900" fontAlgn="base">
              <a:buFont typeface="+mj-lt"/>
              <a:buAutoNum type="arabicPeriod"/>
            </a:pPr>
            <a:r>
              <a:rPr lang="en-US" sz="2000" dirty="0"/>
              <a:t>Addressing Mode: Defines how to locate data.</a:t>
            </a:r>
          </a:p>
          <a:p>
            <a:r>
              <a:rPr lang="en-US" dirty="0"/>
              <a:t>Instructions for </a:t>
            </a:r>
            <a:r>
              <a:rPr lang="en-US" dirty="0">
                <a:solidFill>
                  <a:schemeClr val="accent1"/>
                </a:solidFill>
              </a:rPr>
              <a:t>Decision Making</a:t>
            </a:r>
            <a:r>
              <a:rPr lang="en-US" dirty="0"/>
              <a:t>: Conditional and branching instructions alter the program flow based on conditions.</a:t>
            </a:r>
          </a:p>
          <a:p>
            <a:pPr marL="617220" lvl="1" indent="-342900" fontAlgn="base">
              <a:buFont typeface="+mj-lt"/>
              <a:buAutoNum type="arabicPeriod"/>
            </a:pPr>
            <a:r>
              <a:rPr lang="en-US" sz="2000" dirty="0"/>
              <a:t>Branching:</a:t>
            </a:r>
          </a:p>
          <a:p>
            <a:pPr marL="891540" lvl="2" indent="-342900" fontAlgn="base">
              <a:buFont typeface="+mj-lt"/>
              <a:buAutoNum type="arabicPeriod"/>
            </a:pPr>
            <a:r>
              <a:rPr lang="en-US" sz="2000" dirty="0"/>
              <a:t>BEQ (Branch if Equal): Jumps to a label if two registers are equal.</a:t>
            </a:r>
          </a:p>
          <a:p>
            <a:pPr marL="891540" lvl="2" indent="-342900" fontAlgn="base">
              <a:buFont typeface="+mj-lt"/>
              <a:buAutoNum type="arabicPeriod"/>
            </a:pPr>
            <a:r>
              <a:rPr lang="en-US" sz="2000" dirty="0"/>
              <a:t>BNE (Branch if Not Equal): Jumps if they are different.</a:t>
            </a:r>
          </a:p>
          <a:p>
            <a:pPr marL="617220" lvl="1" indent="-342900" fontAlgn="base">
              <a:buFont typeface="+mj-lt"/>
              <a:buAutoNum type="arabicPeriod"/>
            </a:pPr>
            <a:r>
              <a:rPr lang="en-US" sz="2000" dirty="0"/>
              <a:t>Jumping:</a:t>
            </a:r>
          </a:p>
          <a:p>
            <a:pPr marL="891540" lvl="2" indent="-342900" fontAlgn="base">
              <a:buFont typeface="+mj-lt"/>
              <a:buAutoNum type="arabicPeriod"/>
            </a:pPr>
            <a:r>
              <a:rPr lang="en-US" sz="2000" dirty="0"/>
              <a:t>J (Jump): Unconditionally jumps to a new instruction address.</a:t>
            </a:r>
          </a:p>
        </p:txBody>
      </p:sp>
      <p:sp>
        <p:nvSpPr>
          <p:cNvPr id="4" name="Slide Number Placeholder 3"/>
          <p:cNvSpPr>
            <a:spLocks noGrp="1"/>
          </p:cNvSpPr>
          <p:nvPr>
            <p:ph type="sldNum" sz="quarter" idx="12"/>
          </p:nvPr>
        </p:nvSpPr>
        <p:spPr/>
        <p:txBody>
          <a:bodyPr/>
          <a:lstStyle/>
          <a:p>
            <a:fld id="{380846C1-CD93-4AE4-8DA9-0A1941B6C5F9}" type="slidenum">
              <a:rPr lang="en-US" smtClean="0"/>
              <a:t>30</a:t>
            </a:fld>
            <a:endParaRPr lang="en-US"/>
          </a:p>
        </p:txBody>
      </p:sp>
    </p:spTree>
    <p:extLst>
      <p:ext uri="{BB962C8B-B14F-4D97-AF65-F5344CB8AC3E}">
        <p14:creationId xmlns:p14="http://schemas.microsoft.com/office/powerpoint/2010/main" val="121171733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69848" y="484632"/>
            <a:ext cx="10058400" cy="612648"/>
          </a:xfrm>
        </p:spPr>
        <p:txBody>
          <a:bodyPr>
            <a:normAutofit/>
          </a:bodyPr>
          <a:lstStyle/>
          <a:p>
            <a:r>
              <a:rPr lang="en-US" sz="2800" b="1" dirty="0"/>
              <a:t>MIPS Addressing for 32-bit Immediate and Addresses</a:t>
            </a:r>
          </a:p>
        </p:txBody>
      </p:sp>
      <p:sp>
        <p:nvSpPr>
          <p:cNvPr id="3" name="Content Placeholder 2"/>
          <p:cNvSpPr>
            <a:spLocks noGrp="1"/>
          </p:cNvSpPr>
          <p:nvPr>
            <p:ph idx="1"/>
          </p:nvPr>
        </p:nvSpPr>
        <p:spPr>
          <a:xfrm>
            <a:off x="1069848" y="1232034"/>
            <a:ext cx="10058400" cy="4940166"/>
          </a:xfrm>
        </p:spPr>
        <p:txBody>
          <a:bodyPr>
            <a:normAutofit/>
          </a:bodyPr>
          <a:lstStyle/>
          <a:p>
            <a:r>
              <a:rPr lang="en-US" dirty="0"/>
              <a:t>MIPS uses different addressing modes for memory access and instruction execution.</a:t>
            </a:r>
          </a:p>
          <a:p>
            <a:pPr marL="617220" lvl="1" indent="-342900" fontAlgn="base">
              <a:buFont typeface="+mj-lt"/>
              <a:buAutoNum type="arabicPeriod"/>
            </a:pPr>
            <a:r>
              <a:rPr lang="en-US" sz="2000" dirty="0"/>
              <a:t>Immediate Addressing: The operand is directly in the instruction.</a:t>
            </a:r>
          </a:p>
          <a:p>
            <a:pPr marL="617220" lvl="1" indent="-342900" fontAlgn="base">
              <a:buFont typeface="+mj-lt"/>
              <a:buAutoNum type="arabicPeriod"/>
            </a:pPr>
            <a:r>
              <a:rPr lang="en-US" sz="2000" dirty="0"/>
              <a:t>Register Addressing: Uses register values.</a:t>
            </a:r>
          </a:p>
          <a:p>
            <a:pPr marL="617220" lvl="1" indent="-342900" fontAlgn="base">
              <a:buFont typeface="+mj-lt"/>
              <a:buAutoNum type="arabicPeriod"/>
            </a:pPr>
            <a:r>
              <a:rPr lang="en-US" sz="2000" dirty="0"/>
              <a:t>Base (Displacement) Addressing: Adds an immediate offset to a base register.</a:t>
            </a:r>
          </a:p>
          <a:p>
            <a:pPr marL="617220" lvl="1" indent="-342900" fontAlgn="base">
              <a:buFont typeface="+mj-lt"/>
              <a:buAutoNum type="arabicPeriod"/>
            </a:pPr>
            <a:r>
              <a:rPr lang="en-US" sz="2000" dirty="0"/>
              <a:t>PC-Relative Addressing: Used in branch instructions. The offset is added to the program counter.</a:t>
            </a:r>
          </a:p>
          <a:p>
            <a:pPr marL="617220" lvl="1" indent="-342900">
              <a:buFont typeface="+mj-lt"/>
              <a:buAutoNum type="arabicPeriod"/>
            </a:pPr>
            <a:r>
              <a:rPr lang="en-US" sz="2000" dirty="0"/>
              <a:t>Jump Addressing: Used in J and JAL instructions to specify an absolute jump address.</a:t>
            </a:r>
          </a:p>
        </p:txBody>
      </p:sp>
      <p:sp>
        <p:nvSpPr>
          <p:cNvPr id="4" name="Slide Number Placeholder 3"/>
          <p:cNvSpPr>
            <a:spLocks noGrp="1"/>
          </p:cNvSpPr>
          <p:nvPr>
            <p:ph type="sldNum" sz="quarter" idx="12"/>
          </p:nvPr>
        </p:nvSpPr>
        <p:spPr/>
        <p:txBody>
          <a:bodyPr/>
          <a:lstStyle/>
          <a:p>
            <a:fld id="{380846C1-CD93-4AE4-8DA9-0A1941B6C5F9}" type="slidenum">
              <a:rPr lang="en-US" smtClean="0"/>
              <a:t>31</a:t>
            </a:fld>
            <a:endParaRPr lang="en-US"/>
          </a:p>
        </p:txBody>
      </p:sp>
    </p:spTree>
    <p:extLst>
      <p:ext uri="{BB962C8B-B14F-4D97-AF65-F5344CB8AC3E}">
        <p14:creationId xmlns:p14="http://schemas.microsoft.com/office/powerpoint/2010/main" val="357927172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69848" y="484632"/>
            <a:ext cx="10058400" cy="612648"/>
          </a:xfrm>
        </p:spPr>
        <p:txBody>
          <a:bodyPr>
            <a:normAutofit/>
          </a:bodyPr>
          <a:lstStyle/>
          <a:p>
            <a:r>
              <a:rPr lang="en-US" sz="2800" b="1" dirty="0"/>
              <a:t>Instruction formats/MIPS Addressing Modes</a:t>
            </a:r>
          </a:p>
        </p:txBody>
      </p:sp>
      <p:sp>
        <p:nvSpPr>
          <p:cNvPr id="3" name="Content Placeholder 2"/>
          <p:cNvSpPr>
            <a:spLocks noGrp="1"/>
          </p:cNvSpPr>
          <p:nvPr>
            <p:ph idx="1"/>
          </p:nvPr>
        </p:nvSpPr>
        <p:spPr>
          <a:xfrm>
            <a:off x="1069848" y="1232034"/>
            <a:ext cx="10058400" cy="4940166"/>
          </a:xfrm>
        </p:spPr>
        <p:txBody>
          <a:bodyPr>
            <a:normAutofit/>
          </a:bodyPr>
          <a:lstStyle/>
          <a:p>
            <a:r>
              <a:rPr lang="en-US" sz="1800" dirty="0">
                <a:solidFill>
                  <a:schemeClr val="accent1"/>
                </a:solidFill>
              </a:rPr>
              <a:t>Instruction formats </a:t>
            </a:r>
            <a:r>
              <a:rPr lang="en-US" sz="1800" dirty="0"/>
              <a:t>define the structure of machine-level instructions, specifying how operands, opcodes, and addressing modes are arranged. There are three primary instruction formats:</a:t>
            </a:r>
          </a:p>
          <a:p>
            <a:pPr fontAlgn="base"/>
            <a:r>
              <a:rPr lang="en-US" sz="1800" dirty="0">
                <a:solidFill>
                  <a:schemeClr val="accent1"/>
                </a:solidFill>
              </a:rPr>
              <a:t>R-Type (Register-Type) Format: </a:t>
            </a:r>
            <a:r>
              <a:rPr lang="en-US" sz="1800" dirty="0"/>
              <a:t>Used for register-to-register operations (mostly arithmetic and logic operations).</a:t>
            </a:r>
          </a:p>
          <a:p>
            <a:pPr lvl="1"/>
            <a:r>
              <a:rPr lang="en-US" dirty="0">
                <a:solidFill>
                  <a:schemeClr val="accent1"/>
                </a:solidFill>
              </a:rPr>
              <a:t>Fields</a:t>
            </a:r>
            <a:r>
              <a:rPr lang="en-US" dirty="0"/>
              <a:t> (Total 32 bits): opcode (6 bits) | </a:t>
            </a:r>
            <a:r>
              <a:rPr lang="en-US" dirty="0" err="1"/>
              <a:t>rs</a:t>
            </a:r>
            <a:r>
              <a:rPr lang="en-US" dirty="0"/>
              <a:t> (5 bits) | </a:t>
            </a:r>
            <a:r>
              <a:rPr lang="en-US" dirty="0" err="1"/>
              <a:t>rt</a:t>
            </a:r>
            <a:r>
              <a:rPr lang="en-US" dirty="0"/>
              <a:t> (5 bits) | </a:t>
            </a:r>
            <a:r>
              <a:rPr lang="en-US" dirty="0" err="1"/>
              <a:t>rd</a:t>
            </a:r>
            <a:r>
              <a:rPr lang="en-US" dirty="0"/>
              <a:t> (5 bits) | </a:t>
            </a:r>
            <a:r>
              <a:rPr lang="en-US" dirty="0" err="1"/>
              <a:t>shamt</a:t>
            </a:r>
            <a:r>
              <a:rPr lang="en-US" dirty="0"/>
              <a:t> (5 bits) | </a:t>
            </a:r>
            <a:r>
              <a:rPr lang="en-US" dirty="0" err="1"/>
              <a:t>funct</a:t>
            </a:r>
            <a:r>
              <a:rPr lang="en-US" dirty="0"/>
              <a:t> (6 bits)</a:t>
            </a:r>
          </a:p>
          <a:p>
            <a:pPr marL="891540" lvl="2" indent="-342900" fontAlgn="base">
              <a:buFont typeface="+mj-lt"/>
              <a:buAutoNum type="arabicPeriod"/>
            </a:pPr>
            <a:r>
              <a:rPr lang="en-US" sz="1800" dirty="0"/>
              <a:t>Opcode (6 bits) – Operation code</a:t>
            </a:r>
          </a:p>
          <a:p>
            <a:pPr marL="891540" lvl="2" indent="-342900" fontAlgn="base">
              <a:buFont typeface="+mj-lt"/>
              <a:buAutoNum type="arabicPeriod"/>
            </a:pPr>
            <a:r>
              <a:rPr lang="en-US" sz="1800" dirty="0" err="1"/>
              <a:t>rs</a:t>
            </a:r>
            <a:r>
              <a:rPr lang="en-US" sz="1800" dirty="0"/>
              <a:t> (5 bits) – Source register</a:t>
            </a:r>
          </a:p>
          <a:p>
            <a:pPr marL="891540" lvl="2" indent="-342900" fontAlgn="base">
              <a:buFont typeface="+mj-lt"/>
              <a:buAutoNum type="arabicPeriod"/>
            </a:pPr>
            <a:r>
              <a:rPr lang="en-US" sz="1800" dirty="0" err="1"/>
              <a:t>rt</a:t>
            </a:r>
            <a:r>
              <a:rPr lang="en-US" sz="1800" dirty="0"/>
              <a:t> (5 bits) – Target register</a:t>
            </a:r>
          </a:p>
          <a:p>
            <a:pPr marL="891540" lvl="2" indent="-342900" fontAlgn="base">
              <a:buFont typeface="+mj-lt"/>
              <a:buAutoNum type="arabicPeriod"/>
            </a:pPr>
            <a:r>
              <a:rPr lang="en-US" sz="1800" dirty="0" err="1"/>
              <a:t>rd</a:t>
            </a:r>
            <a:r>
              <a:rPr lang="en-US" sz="1800" dirty="0"/>
              <a:t> (5 bits) – Destination register</a:t>
            </a:r>
          </a:p>
          <a:p>
            <a:pPr marL="891540" lvl="2" indent="-342900" fontAlgn="base">
              <a:buFont typeface="+mj-lt"/>
              <a:buAutoNum type="arabicPeriod"/>
            </a:pPr>
            <a:r>
              <a:rPr lang="en-US" sz="1800" dirty="0" err="1"/>
              <a:t>shamt</a:t>
            </a:r>
            <a:r>
              <a:rPr lang="en-US" sz="1800" dirty="0"/>
              <a:t> (5 bits) – Shift amount (used for shift operations like </a:t>
            </a:r>
            <a:r>
              <a:rPr lang="en-US" sz="1800" dirty="0" err="1"/>
              <a:t>sll</a:t>
            </a:r>
            <a:r>
              <a:rPr lang="en-US" sz="1800" dirty="0"/>
              <a:t>, </a:t>
            </a:r>
            <a:r>
              <a:rPr lang="en-US" sz="1800" dirty="0" err="1"/>
              <a:t>srl</a:t>
            </a:r>
            <a:r>
              <a:rPr lang="en-US" sz="1800" dirty="0"/>
              <a:t>, etc.)</a:t>
            </a:r>
          </a:p>
          <a:p>
            <a:pPr marL="891540" lvl="2" indent="-342900" fontAlgn="base">
              <a:buFont typeface="+mj-lt"/>
              <a:buAutoNum type="arabicPeriod"/>
            </a:pPr>
            <a:r>
              <a:rPr lang="en-US" sz="1800" dirty="0" err="1"/>
              <a:t>funct</a:t>
            </a:r>
            <a:r>
              <a:rPr lang="en-US" sz="1800" dirty="0"/>
              <a:t> (6 bits) – Function code for ALU operations</a:t>
            </a:r>
          </a:p>
        </p:txBody>
      </p:sp>
      <p:sp>
        <p:nvSpPr>
          <p:cNvPr id="4" name="Slide Number Placeholder 3"/>
          <p:cNvSpPr>
            <a:spLocks noGrp="1"/>
          </p:cNvSpPr>
          <p:nvPr>
            <p:ph type="sldNum" sz="quarter" idx="12"/>
          </p:nvPr>
        </p:nvSpPr>
        <p:spPr/>
        <p:txBody>
          <a:bodyPr/>
          <a:lstStyle/>
          <a:p>
            <a:fld id="{380846C1-CD93-4AE4-8DA9-0A1941B6C5F9}" type="slidenum">
              <a:rPr lang="en-US" smtClean="0"/>
              <a:t>32</a:t>
            </a:fld>
            <a:endParaRPr lang="en-US"/>
          </a:p>
        </p:txBody>
      </p:sp>
      <p:pic>
        <p:nvPicPr>
          <p:cNvPr id="1026" name="Picture 2" descr="https://lh7-rt.googleusercontent.com/docsz/AD_4nXcKNqYGmK9Zml1RBNrGdzDjt_8TbucTXN9oiO9vnVX6Weg5iYs68YT9tgILXx750_ZsPn0G-OST3oWN9Ggycs19COsfkf8Rgpj-5ZKLRxXT56hpLFP5XqWBEcF-hCBYjkUqafj2pg?key=3t1yVFxkmF-Va4PpDyArpCDB"/>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210167" y="3168716"/>
            <a:ext cx="5352490" cy="132628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5984231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69848" y="484632"/>
            <a:ext cx="10058400" cy="612648"/>
          </a:xfrm>
        </p:spPr>
        <p:txBody>
          <a:bodyPr>
            <a:normAutofit/>
          </a:bodyPr>
          <a:lstStyle/>
          <a:p>
            <a:r>
              <a:rPr lang="en-US" sz="2800" b="1" dirty="0"/>
              <a:t>Instruction formats/MIPS Addressing Modes</a:t>
            </a:r>
          </a:p>
        </p:txBody>
      </p:sp>
      <p:sp>
        <p:nvSpPr>
          <p:cNvPr id="3" name="Content Placeholder 2"/>
          <p:cNvSpPr>
            <a:spLocks noGrp="1"/>
          </p:cNvSpPr>
          <p:nvPr>
            <p:ph idx="1"/>
          </p:nvPr>
        </p:nvSpPr>
        <p:spPr>
          <a:xfrm>
            <a:off x="1069848" y="1232034"/>
            <a:ext cx="10058400" cy="4940166"/>
          </a:xfrm>
        </p:spPr>
        <p:txBody>
          <a:bodyPr>
            <a:normAutofit/>
          </a:bodyPr>
          <a:lstStyle/>
          <a:p>
            <a:r>
              <a:rPr lang="en-US" sz="1800" dirty="0"/>
              <a:t> </a:t>
            </a:r>
            <a:r>
              <a:rPr lang="en-US" sz="1800" dirty="0">
                <a:solidFill>
                  <a:schemeClr val="accent1"/>
                </a:solidFill>
              </a:rPr>
              <a:t>I-Type (Immediate-Type) Format: </a:t>
            </a:r>
            <a:r>
              <a:rPr lang="en-US" sz="1800" dirty="0"/>
              <a:t>Used for operations with an immediate value or memory access instructions. Immediate values or memory addresses are directly provided in the instruction.</a:t>
            </a:r>
          </a:p>
          <a:p>
            <a:pPr lvl="1"/>
            <a:r>
              <a:rPr lang="en-US" dirty="0">
                <a:solidFill>
                  <a:schemeClr val="accent1"/>
                </a:solidFill>
              </a:rPr>
              <a:t>Fields</a:t>
            </a:r>
            <a:r>
              <a:rPr lang="en-US" dirty="0"/>
              <a:t> (32 bits): opcode (6 bits) | </a:t>
            </a:r>
            <a:r>
              <a:rPr lang="en-US" dirty="0" err="1"/>
              <a:t>rs</a:t>
            </a:r>
            <a:r>
              <a:rPr lang="en-US" dirty="0"/>
              <a:t> (5 bits) | </a:t>
            </a:r>
            <a:r>
              <a:rPr lang="en-US" dirty="0" err="1"/>
              <a:t>rt</a:t>
            </a:r>
            <a:r>
              <a:rPr lang="en-US" dirty="0"/>
              <a:t> (5 bits) | offset (16 bits)</a:t>
            </a:r>
          </a:p>
          <a:p>
            <a:pPr marL="891540" lvl="2" indent="-342900" fontAlgn="base">
              <a:buFont typeface="+mj-lt"/>
              <a:buAutoNum type="arabicPeriod"/>
            </a:pPr>
            <a:r>
              <a:rPr lang="en-US" sz="1800" dirty="0"/>
              <a:t>Opcode (6 bits) – Operation code</a:t>
            </a:r>
          </a:p>
          <a:p>
            <a:pPr marL="891540" lvl="2" indent="-342900" fontAlgn="base">
              <a:buFont typeface="+mj-lt"/>
              <a:buAutoNum type="arabicPeriod"/>
            </a:pPr>
            <a:r>
              <a:rPr lang="en-US" sz="1800" dirty="0" err="1"/>
              <a:t>rs</a:t>
            </a:r>
            <a:r>
              <a:rPr lang="en-US" sz="1800" dirty="0"/>
              <a:t> (5 bits) – Source register</a:t>
            </a:r>
          </a:p>
          <a:p>
            <a:pPr marL="891540" lvl="2" indent="-342900" fontAlgn="base">
              <a:buFont typeface="+mj-lt"/>
              <a:buAutoNum type="arabicPeriod"/>
            </a:pPr>
            <a:r>
              <a:rPr lang="en-US" sz="1800" dirty="0" err="1"/>
              <a:t>rt</a:t>
            </a:r>
            <a:r>
              <a:rPr lang="en-US" sz="1800" dirty="0"/>
              <a:t> (5 bits) – Destination register</a:t>
            </a:r>
          </a:p>
          <a:p>
            <a:pPr marL="891540" lvl="2" indent="-342900" fontAlgn="base">
              <a:buFont typeface="+mj-lt"/>
              <a:buAutoNum type="arabicPeriod"/>
            </a:pPr>
            <a:r>
              <a:rPr lang="en-US" sz="1800" dirty="0"/>
              <a:t>Immediate (16 bits) – Constant or memory offset</a:t>
            </a:r>
          </a:p>
        </p:txBody>
      </p:sp>
      <p:sp>
        <p:nvSpPr>
          <p:cNvPr id="4" name="Slide Number Placeholder 3"/>
          <p:cNvSpPr>
            <a:spLocks noGrp="1"/>
          </p:cNvSpPr>
          <p:nvPr>
            <p:ph type="sldNum" sz="quarter" idx="12"/>
          </p:nvPr>
        </p:nvSpPr>
        <p:spPr/>
        <p:txBody>
          <a:bodyPr/>
          <a:lstStyle/>
          <a:p>
            <a:fld id="{380846C1-CD93-4AE4-8DA9-0A1941B6C5F9}" type="slidenum">
              <a:rPr lang="en-US" smtClean="0"/>
              <a:t>33</a:t>
            </a:fld>
            <a:endParaRPr lang="en-US"/>
          </a:p>
        </p:txBody>
      </p:sp>
      <p:pic>
        <p:nvPicPr>
          <p:cNvPr id="2050" name="Picture 2" descr="https://lh7-rt.googleusercontent.com/docsz/AD_4nXfgi5CRqxfr2hLGtmr-EOOh7z4i1e4wKsPbgUJCrVbxuWge_PloweJonOxV9jROsfYvr3Vtag2NzNNJ2TvUDlPZD8j-qS897xCYCb-CPDKa1B58r8COGzSLTUOOSkaVWbRcUtNGvQ?key=3t1yVFxkmF-Va4PpDyArpCDB"/>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12033" y="3972978"/>
            <a:ext cx="5578036" cy="123429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2122584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69848" y="484632"/>
            <a:ext cx="10058400" cy="612648"/>
          </a:xfrm>
        </p:spPr>
        <p:txBody>
          <a:bodyPr>
            <a:normAutofit/>
          </a:bodyPr>
          <a:lstStyle/>
          <a:p>
            <a:r>
              <a:rPr lang="en-US" sz="2800" b="1" dirty="0"/>
              <a:t>Instruction formats/MIPS Addressing Modes</a:t>
            </a:r>
          </a:p>
        </p:txBody>
      </p:sp>
      <p:sp>
        <p:nvSpPr>
          <p:cNvPr id="3" name="Content Placeholder 2"/>
          <p:cNvSpPr>
            <a:spLocks noGrp="1"/>
          </p:cNvSpPr>
          <p:nvPr>
            <p:ph idx="1"/>
          </p:nvPr>
        </p:nvSpPr>
        <p:spPr>
          <a:xfrm>
            <a:off x="1069848" y="1232034"/>
            <a:ext cx="10058400" cy="4940166"/>
          </a:xfrm>
        </p:spPr>
        <p:txBody>
          <a:bodyPr>
            <a:normAutofit/>
          </a:bodyPr>
          <a:lstStyle/>
          <a:p>
            <a:r>
              <a:rPr lang="en-US" sz="1800" dirty="0">
                <a:solidFill>
                  <a:schemeClr val="accent1"/>
                </a:solidFill>
              </a:rPr>
              <a:t>J-Type (Jump-Type) Format</a:t>
            </a:r>
            <a:r>
              <a:rPr lang="en-US" sz="1800" dirty="0"/>
              <a:t>:  Used for unconditional jumps (changing execution flow). Contains only an address to jump to.</a:t>
            </a:r>
          </a:p>
          <a:p>
            <a:pPr lvl="1"/>
            <a:r>
              <a:rPr lang="en-US" dirty="0"/>
              <a:t>Fields (32 bits): Opcode (6 bits) | Target Address (26 bits)</a:t>
            </a:r>
          </a:p>
          <a:p>
            <a:pPr marL="891540" lvl="2" indent="-342900" fontAlgn="base">
              <a:buFont typeface="+mj-lt"/>
              <a:buAutoNum type="arabicPeriod"/>
            </a:pPr>
            <a:r>
              <a:rPr lang="en-US" sz="1800" dirty="0"/>
              <a:t>Opcode (6 bits) – Operation code</a:t>
            </a:r>
          </a:p>
          <a:p>
            <a:pPr marL="891540" lvl="2" indent="-342900" fontAlgn="base">
              <a:buFont typeface="+mj-lt"/>
              <a:buAutoNum type="arabicPeriod"/>
            </a:pPr>
            <a:r>
              <a:rPr lang="en-US" sz="1800" dirty="0"/>
              <a:t>Target Address (26 bits) – Jump destination</a:t>
            </a:r>
          </a:p>
          <a:p>
            <a:r>
              <a:rPr lang="en-US" sz="1800" dirty="0"/>
              <a:t>Two types of Opcode:</a:t>
            </a:r>
          </a:p>
          <a:p>
            <a:pPr marL="617220" lvl="1" indent="-342900">
              <a:buFont typeface="+mj-lt"/>
              <a:buAutoNum type="arabicPeriod"/>
            </a:pPr>
            <a:r>
              <a:rPr lang="en-US" sz="1600" dirty="0"/>
              <a:t>j </a:t>
            </a:r>
            <a:r>
              <a:rPr lang="en-US" dirty="0"/>
              <a:t>→ Jump 2 steps ahead → 000010 </a:t>
            </a:r>
          </a:p>
          <a:p>
            <a:pPr marL="617220" lvl="1" indent="-342900">
              <a:buFont typeface="+mj-lt"/>
              <a:buAutoNum type="arabicPeriod"/>
            </a:pPr>
            <a:r>
              <a:rPr lang="en-US" dirty="0" err="1"/>
              <a:t>jal</a:t>
            </a:r>
            <a:r>
              <a:rPr lang="en-US" dirty="0"/>
              <a:t> → Jump + Link (1 extra) → 000011</a:t>
            </a:r>
            <a:br>
              <a:rPr lang="en-US" sz="1600" dirty="0"/>
            </a:br>
            <a:endParaRPr lang="en-US" dirty="0"/>
          </a:p>
        </p:txBody>
      </p:sp>
      <p:sp>
        <p:nvSpPr>
          <p:cNvPr id="4" name="Slide Number Placeholder 3"/>
          <p:cNvSpPr>
            <a:spLocks noGrp="1"/>
          </p:cNvSpPr>
          <p:nvPr>
            <p:ph type="sldNum" sz="quarter" idx="12"/>
          </p:nvPr>
        </p:nvSpPr>
        <p:spPr/>
        <p:txBody>
          <a:bodyPr/>
          <a:lstStyle/>
          <a:p>
            <a:fld id="{380846C1-CD93-4AE4-8DA9-0A1941B6C5F9}" type="slidenum">
              <a:rPr lang="en-US" smtClean="0"/>
              <a:t>34</a:t>
            </a:fld>
            <a:endParaRPr lang="en-US"/>
          </a:p>
        </p:txBody>
      </p:sp>
      <p:pic>
        <p:nvPicPr>
          <p:cNvPr id="3074" name="Picture 2" descr="https://lh7-rt.googleusercontent.com/docsz/AD_4nXcsK8cZ6R6E9rIZsRPf8e12ODTXpIj0GBwG1q5uuITVEB5FSO-sDFJDx6NRznPXpv4OcfXW2fP-r-jV2nCr4nA0WYSiiwY5xKuF0ue8gxdpNQE_vg17xpqq_Lkn_gBQRcSaXJ9E?key=3t1yVFxkmF-Va4PpDyArpCDB"/>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23220" y="4196993"/>
            <a:ext cx="5440893" cy="132790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2602018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69848" y="484632"/>
            <a:ext cx="10058400" cy="612648"/>
          </a:xfrm>
        </p:spPr>
        <p:txBody>
          <a:bodyPr>
            <a:normAutofit/>
          </a:bodyPr>
          <a:lstStyle/>
          <a:p>
            <a:r>
              <a:rPr lang="en-US" sz="2800" b="1" dirty="0"/>
              <a:t>MIPS register mapping</a:t>
            </a:r>
          </a:p>
        </p:txBody>
      </p:sp>
      <p:sp>
        <p:nvSpPr>
          <p:cNvPr id="3" name="Content Placeholder 2"/>
          <p:cNvSpPr>
            <a:spLocks noGrp="1"/>
          </p:cNvSpPr>
          <p:nvPr>
            <p:ph idx="1"/>
          </p:nvPr>
        </p:nvSpPr>
        <p:spPr>
          <a:xfrm>
            <a:off x="1069848" y="1232034"/>
            <a:ext cx="10058400" cy="4940166"/>
          </a:xfrm>
        </p:spPr>
        <p:txBody>
          <a:bodyPr>
            <a:normAutofit/>
          </a:bodyPr>
          <a:lstStyle/>
          <a:p>
            <a:r>
              <a:rPr lang="en-US" sz="1800" dirty="0"/>
              <a:t>An easy way to remember the MIPS register numbers in a structured way:</a:t>
            </a:r>
          </a:p>
          <a:p>
            <a:pPr marL="617220" lvl="1" indent="-342900" fontAlgn="base">
              <a:buFont typeface="+mj-lt"/>
              <a:buAutoNum type="arabicPeriod"/>
            </a:pPr>
            <a:r>
              <a:rPr lang="en-US" dirty="0"/>
              <a:t>The temporary registers ($t0 to $t9) start at 8 and go up to 15 ($t0 = 8, $t1 = 9, ..., $t7 = 15), then $t8 is 24 and $t9 is 25.</a:t>
            </a:r>
          </a:p>
          <a:p>
            <a:pPr marL="617220" lvl="1" indent="-342900" fontAlgn="base">
              <a:buFont typeface="+mj-lt"/>
              <a:buAutoNum type="arabicPeriod"/>
            </a:pPr>
            <a:r>
              <a:rPr lang="en-US" dirty="0"/>
              <a:t>The saved registers ($s0 to $s7) start at 16 and go up to 23 ($s0 = 16, $s1 = 17, ..., $s7 = 23).</a:t>
            </a:r>
          </a:p>
          <a:p>
            <a:pPr marL="617220" lvl="1" indent="-342900" fontAlgn="base">
              <a:buFont typeface="+mj-lt"/>
              <a:buAutoNum type="arabicPeriod"/>
            </a:pPr>
            <a:r>
              <a:rPr lang="en-US" i="1" dirty="0"/>
              <a:t>The special purpose registers include $zero (0), $at (1), $v0 (2), $v1 (3), and the argument registers $a0 to $a3 (4 to 7).</a:t>
            </a:r>
          </a:p>
          <a:p>
            <a:pPr marL="617220" lvl="1" indent="-342900">
              <a:buFont typeface="+mj-lt"/>
              <a:buAutoNum type="arabicPeriod"/>
            </a:pPr>
            <a:r>
              <a:rPr lang="en-US" i="1" dirty="0"/>
              <a:t>The kernel registers $k0 and $k1 are 26 and 27, while $</a:t>
            </a:r>
            <a:r>
              <a:rPr lang="en-US" i="1" dirty="0" err="1"/>
              <a:t>gp</a:t>
            </a:r>
            <a:r>
              <a:rPr lang="en-US" i="1" dirty="0"/>
              <a:t> (global pointer) is 28, $</a:t>
            </a:r>
            <a:r>
              <a:rPr lang="en-US" i="1" dirty="0" err="1"/>
              <a:t>sp</a:t>
            </a:r>
            <a:r>
              <a:rPr lang="en-US" i="1" dirty="0"/>
              <a:t> (stack pointer) is 29, $</a:t>
            </a:r>
            <a:r>
              <a:rPr lang="en-US" i="1" dirty="0" err="1"/>
              <a:t>fp</a:t>
            </a:r>
            <a:r>
              <a:rPr lang="en-US" i="1" dirty="0"/>
              <a:t> (frame pointer) is 30, and $</a:t>
            </a:r>
            <a:r>
              <a:rPr lang="en-US" i="1" dirty="0" err="1"/>
              <a:t>ra</a:t>
            </a:r>
            <a:r>
              <a:rPr lang="en-US" i="1" dirty="0"/>
              <a:t> (return address) is 31.</a:t>
            </a:r>
            <a:endParaRPr lang="en-US" sz="2000" dirty="0"/>
          </a:p>
        </p:txBody>
      </p:sp>
      <p:sp>
        <p:nvSpPr>
          <p:cNvPr id="4" name="Slide Number Placeholder 3"/>
          <p:cNvSpPr>
            <a:spLocks noGrp="1"/>
          </p:cNvSpPr>
          <p:nvPr>
            <p:ph type="sldNum" sz="quarter" idx="12"/>
          </p:nvPr>
        </p:nvSpPr>
        <p:spPr/>
        <p:txBody>
          <a:bodyPr/>
          <a:lstStyle/>
          <a:p>
            <a:fld id="{380846C1-CD93-4AE4-8DA9-0A1941B6C5F9}" type="slidenum">
              <a:rPr lang="en-US" smtClean="0"/>
              <a:t>35</a:t>
            </a:fld>
            <a:endParaRPr lang="en-US"/>
          </a:p>
        </p:txBody>
      </p:sp>
    </p:spTree>
    <p:extLst>
      <p:ext uri="{BB962C8B-B14F-4D97-AF65-F5344CB8AC3E}">
        <p14:creationId xmlns:p14="http://schemas.microsoft.com/office/powerpoint/2010/main" val="396170445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69848" y="484632"/>
            <a:ext cx="10058400" cy="612648"/>
          </a:xfrm>
        </p:spPr>
        <p:txBody>
          <a:bodyPr>
            <a:normAutofit/>
          </a:bodyPr>
          <a:lstStyle/>
          <a:p>
            <a:r>
              <a:rPr lang="en-US" sz="2800" b="1" dirty="0"/>
              <a:t>MIPS register mapping</a:t>
            </a:r>
          </a:p>
        </p:txBody>
      </p:sp>
      <p:graphicFrame>
        <p:nvGraphicFramePr>
          <p:cNvPr id="22" name="Content Placeholder 21"/>
          <p:cNvGraphicFramePr>
            <a:graphicFrameLocks noGrp="1"/>
          </p:cNvGraphicFramePr>
          <p:nvPr>
            <p:ph idx="1"/>
            <p:extLst>
              <p:ext uri="{D42A27DB-BD31-4B8C-83A1-F6EECF244321}">
                <p14:modId xmlns:p14="http://schemas.microsoft.com/office/powerpoint/2010/main" val="4040188768"/>
              </p:ext>
            </p:extLst>
          </p:nvPr>
        </p:nvGraphicFramePr>
        <p:xfrm>
          <a:off x="1137031" y="1544320"/>
          <a:ext cx="10174097" cy="3949700"/>
        </p:xfrm>
        <a:graphic>
          <a:graphicData uri="http://schemas.openxmlformats.org/drawingml/2006/table">
            <a:tbl>
              <a:tblPr>
                <a:tableStyleId>{69CF1AB2-1976-4502-BF36-3FF5EA218861}</a:tableStyleId>
              </a:tblPr>
              <a:tblGrid>
                <a:gridCol w="5108321">
                  <a:extLst>
                    <a:ext uri="{9D8B030D-6E8A-4147-A177-3AD203B41FA5}">
                      <a16:colId xmlns:a16="http://schemas.microsoft.com/office/drawing/2014/main" val="20000"/>
                    </a:ext>
                  </a:extLst>
                </a:gridCol>
                <a:gridCol w="5065776">
                  <a:extLst>
                    <a:ext uri="{9D8B030D-6E8A-4147-A177-3AD203B41FA5}">
                      <a16:colId xmlns:a16="http://schemas.microsoft.com/office/drawing/2014/main" val="20001"/>
                    </a:ext>
                  </a:extLst>
                </a:gridCol>
              </a:tblGrid>
              <a:tr h="539750">
                <a:tc>
                  <a:txBody>
                    <a:bodyPr/>
                    <a:lstStyle/>
                    <a:p>
                      <a:pPr algn="ctr" rtl="0" fontAlgn="ctr"/>
                      <a:r>
                        <a:rPr lang="en-US" sz="1800" b="1" u="none" strike="noStrike" dirty="0">
                          <a:effectLst/>
                        </a:rPr>
                        <a:t>Register</a:t>
                      </a:r>
                      <a:endParaRPr lang="en-US" sz="1800" b="1" i="0" u="none" strike="noStrike" dirty="0">
                        <a:solidFill>
                          <a:srgbClr val="000000"/>
                        </a:solidFill>
                        <a:effectLst/>
                        <a:latin typeface="Times New Roman" panose="02020603050405020304" pitchFamily="18" charset="0"/>
                      </a:endParaRPr>
                    </a:p>
                  </a:txBody>
                  <a:tcPr marL="6350" marR="6350" marT="6350" marB="0" anchor="ctr"/>
                </a:tc>
                <a:tc>
                  <a:txBody>
                    <a:bodyPr/>
                    <a:lstStyle/>
                    <a:p>
                      <a:pPr algn="ctr" fontAlgn="ctr"/>
                      <a:r>
                        <a:rPr lang="en-US" sz="1800" b="1" u="none" strike="noStrike" dirty="0">
                          <a:effectLst/>
                        </a:rPr>
                        <a:t>MIPS register numbers</a:t>
                      </a:r>
                      <a:endParaRPr lang="en-US" sz="1800" b="1" i="0" u="none" strike="noStrike" dirty="0">
                        <a:solidFill>
                          <a:srgbClr val="000000"/>
                        </a:solidFill>
                        <a:effectLst/>
                        <a:latin typeface="Times New Roman" panose="02020603050405020304" pitchFamily="18" charset="0"/>
                      </a:endParaRPr>
                    </a:p>
                  </a:txBody>
                  <a:tcPr marL="6350" marR="6350" marT="6350" marB="0" anchor="ctr"/>
                </a:tc>
                <a:extLst>
                  <a:ext uri="{0D108BD9-81ED-4DB2-BD59-A6C34878D82A}">
                    <a16:rowId xmlns:a16="http://schemas.microsoft.com/office/drawing/2014/main" val="10000"/>
                  </a:ext>
                </a:extLst>
              </a:tr>
              <a:tr h="895350">
                <a:tc>
                  <a:txBody>
                    <a:bodyPr/>
                    <a:lstStyle/>
                    <a:p>
                      <a:pPr algn="ctr" fontAlgn="ctr"/>
                      <a:r>
                        <a:rPr lang="en-US" sz="1800" u="none" strike="noStrike">
                          <a:effectLst/>
                        </a:rPr>
                        <a:t>Temporary Registers ($t0 - $t7)</a:t>
                      </a:r>
                      <a:endParaRPr lang="en-US" sz="1800" b="0" i="0" u="none" strike="noStrike">
                        <a:solidFill>
                          <a:srgbClr val="000000"/>
                        </a:solidFill>
                        <a:effectLst/>
                        <a:latin typeface="Times New Roman" panose="02020603050405020304" pitchFamily="18" charset="0"/>
                      </a:endParaRPr>
                    </a:p>
                  </a:txBody>
                  <a:tcPr marL="6350" marR="6350" marT="6350" marB="0" anchor="ctr"/>
                </a:tc>
                <a:tc>
                  <a:txBody>
                    <a:bodyPr/>
                    <a:lstStyle/>
                    <a:p>
                      <a:pPr algn="ctr" fontAlgn="ctr"/>
                      <a:r>
                        <a:rPr lang="en-US" sz="1800" u="none" strike="noStrike" dirty="0">
                          <a:effectLst/>
                        </a:rPr>
                        <a:t>8</a:t>
                      </a:r>
                      <a:r>
                        <a:rPr lang="en-US" sz="1800" u="none" strike="noStrike" baseline="0" dirty="0">
                          <a:effectLst/>
                        </a:rPr>
                        <a:t> </a:t>
                      </a:r>
                      <a:r>
                        <a:rPr lang="en-US" sz="1800" u="none" strike="noStrike" dirty="0">
                          <a:effectLst/>
                        </a:rPr>
                        <a:t>– 15</a:t>
                      </a:r>
                      <a:endParaRPr lang="en-US" sz="1800" b="0" i="0" u="none" strike="noStrike" dirty="0">
                        <a:solidFill>
                          <a:srgbClr val="000000"/>
                        </a:solidFill>
                        <a:effectLst/>
                        <a:latin typeface="Times New Roman" panose="02020603050405020304" pitchFamily="18" charset="0"/>
                      </a:endParaRPr>
                    </a:p>
                  </a:txBody>
                  <a:tcPr marL="6350" marR="6350" marT="6350" marB="0" anchor="ctr"/>
                </a:tc>
                <a:extLst>
                  <a:ext uri="{0D108BD9-81ED-4DB2-BD59-A6C34878D82A}">
                    <a16:rowId xmlns:a16="http://schemas.microsoft.com/office/drawing/2014/main" val="10001"/>
                  </a:ext>
                </a:extLst>
              </a:tr>
              <a:tr h="717550">
                <a:tc>
                  <a:txBody>
                    <a:bodyPr/>
                    <a:lstStyle/>
                    <a:p>
                      <a:pPr algn="ctr" fontAlgn="ctr"/>
                      <a:r>
                        <a:rPr lang="en-US" sz="1800" u="none" strike="noStrike" dirty="0">
                          <a:effectLst/>
                        </a:rPr>
                        <a:t>Temporary Register $t8</a:t>
                      </a:r>
                      <a:endParaRPr lang="en-US" sz="1800" b="0" i="0" u="none" strike="noStrike" dirty="0">
                        <a:solidFill>
                          <a:srgbClr val="000000"/>
                        </a:solidFill>
                        <a:effectLst/>
                        <a:latin typeface="Times New Roman" panose="02020603050405020304" pitchFamily="18" charset="0"/>
                      </a:endParaRPr>
                    </a:p>
                  </a:txBody>
                  <a:tcPr marL="6350" marR="6350" marT="6350" marB="0" anchor="ctr"/>
                </a:tc>
                <a:tc>
                  <a:txBody>
                    <a:bodyPr/>
                    <a:lstStyle/>
                    <a:p>
                      <a:pPr algn="ctr" fontAlgn="ctr"/>
                      <a:r>
                        <a:rPr lang="en-US" sz="1800" u="none" strike="noStrike" dirty="0">
                          <a:effectLst/>
                        </a:rPr>
                        <a:t>24</a:t>
                      </a:r>
                      <a:endParaRPr lang="en-US" sz="1800" b="0" i="0" u="none" strike="noStrike" dirty="0">
                        <a:solidFill>
                          <a:srgbClr val="000000"/>
                        </a:solidFill>
                        <a:effectLst/>
                        <a:latin typeface="Times New Roman" panose="02020603050405020304" pitchFamily="18" charset="0"/>
                      </a:endParaRPr>
                    </a:p>
                  </a:txBody>
                  <a:tcPr marL="6350" marR="6350" marT="6350" marB="0" anchor="ctr"/>
                </a:tc>
                <a:extLst>
                  <a:ext uri="{0D108BD9-81ED-4DB2-BD59-A6C34878D82A}">
                    <a16:rowId xmlns:a16="http://schemas.microsoft.com/office/drawing/2014/main" val="10002"/>
                  </a:ext>
                </a:extLst>
              </a:tr>
              <a:tr h="717550">
                <a:tc>
                  <a:txBody>
                    <a:bodyPr/>
                    <a:lstStyle/>
                    <a:p>
                      <a:pPr algn="ctr" fontAlgn="ctr"/>
                      <a:r>
                        <a:rPr lang="en-US" sz="1800" u="none" strike="noStrike">
                          <a:effectLst/>
                        </a:rPr>
                        <a:t>Temporary Register $t9</a:t>
                      </a:r>
                      <a:endParaRPr lang="en-US" sz="1800" b="0" i="0" u="none" strike="noStrike">
                        <a:solidFill>
                          <a:srgbClr val="000000"/>
                        </a:solidFill>
                        <a:effectLst/>
                        <a:latin typeface="Times New Roman" panose="02020603050405020304" pitchFamily="18" charset="0"/>
                      </a:endParaRPr>
                    </a:p>
                  </a:txBody>
                  <a:tcPr marL="6350" marR="6350" marT="6350" marB="0" anchor="ctr"/>
                </a:tc>
                <a:tc>
                  <a:txBody>
                    <a:bodyPr/>
                    <a:lstStyle/>
                    <a:p>
                      <a:pPr algn="ctr" fontAlgn="ctr"/>
                      <a:r>
                        <a:rPr lang="en-US" sz="1800" u="none" strike="noStrike" dirty="0">
                          <a:effectLst/>
                        </a:rPr>
                        <a:t>25</a:t>
                      </a:r>
                      <a:endParaRPr lang="en-US" sz="1800" b="0" i="0" u="none" strike="noStrike" dirty="0">
                        <a:solidFill>
                          <a:srgbClr val="000000"/>
                        </a:solidFill>
                        <a:effectLst/>
                        <a:latin typeface="Times New Roman" panose="02020603050405020304" pitchFamily="18" charset="0"/>
                      </a:endParaRPr>
                    </a:p>
                  </a:txBody>
                  <a:tcPr marL="6350" marR="6350" marT="6350" marB="0" anchor="ctr"/>
                </a:tc>
                <a:extLst>
                  <a:ext uri="{0D108BD9-81ED-4DB2-BD59-A6C34878D82A}">
                    <a16:rowId xmlns:a16="http://schemas.microsoft.com/office/drawing/2014/main" val="10003"/>
                  </a:ext>
                </a:extLst>
              </a:tr>
              <a:tr h="539750">
                <a:tc>
                  <a:txBody>
                    <a:bodyPr/>
                    <a:lstStyle/>
                    <a:p>
                      <a:pPr algn="ctr" fontAlgn="ctr"/>
                      <a:r>
                        <a:rPr lang="en-US" sz="1800" u="none" strike="noStrike">
                          <a:effectLst/>
                        </a:rPr>
                        <a:t>Saved Registers $s0 - $s7</a:t>
                      </a:r>
                      <a:endParaRPr lang="en-US" sz="1800" b="0" i="0" u="none" strike="noStrike">
                        <a:solidFill>
                          <a:srgbClr val="000000"/>
                        </a:solidFill>
                        <a:effectLst/>
                        <a:latin typeface="Times New Roman" panose="02020603050405020304" pitchFamily="18" charset="0"/>
                      </a:endParaRPr>
                    </a:p>
                  </a:txBody>
                  <a:tcPr marL="6350" marR="6350" marT="6350" marB="0" anchor="ctr"/>
                </a:tc>
                <a:tc>
                  <a:txBody>
                    <a:bodyPr/>
                    <a:lstStyle/>
                    <a:p>
                      <a:pPr algn="ctr" fontAlgn="ctr"/>
                      <a:r>
                        <a:rPr lang="en-US" sz="1800" u="none" strike="noStrike" dirty="0">
                          <a:effectLst/>
                        </a:rPr>
                        <a:t>16 – 23</a:t>
                      </a:r>
                      <a:endParaRPr lang="en-US" sz="1800" b="0" i="0" u="none" strike="noStrike" dirty="0">
                        <a:solidFill>
                          <a:srgbClr val="000000"/>
                        </a:solidFill>
                        <a:effectLst/>
                        <a:latin typeface="Times New Roman" panose="02020603050405020304" pitchFamily="18" charset="0"/>
                      </a:endParaRPr>
                    </a:p>
                  </a:txBody>
                  <a:tcPr marL="6350" marR="6350" marT="6350" marB="0" anchor="ctr"/>
                </a:tc>
                <a:extLst>
                  <a:ext uri="{0D108BD9-81ED-4DB2-BD59-A6C34878D82A}">
                    <a16:rowId xmlns:a16="http://schemas.microsoft.com/office/drawing/2014/main" val="10004"/>
                  </a:ext>
                </a:extLst>
              </a:tr>
              <a:tr h="539750">
                <a:tc>
                  <a:txBody>
                    <a:bodyPr/>
                    <a:lstStyle/>
                    <a:p>
                      <a:pPr algn="ctr" fontAlgn="ctr"/>
                      <a:r>
                        <a:rPr lang="en-US" sz="1800" u="none" strike="noStrike" dirty="0">
                          <a:effectLst/>
                        </a:rPr>
                        <a:t>Argument Registers $a0 - $a3</a:t>
                      </a:r>
                      <a:endParaRPr lang="en-US" sz="1800" b="0" i="0" u="none" strike="noStrike" dirty="0">
                        <a:solidFill>
                          <a:srgbClr val="000000"/>
                        </a:solidFill>
                        <a:effectLst/>
                        <a:latin typeface="Times New Roman" panose="02020603050405020304" pitchFamily="18" charset="0"/>
                      </a:endParaRPr>
                    </a:p>
                  </a:txBody>
                  <a:tcPr marL="6350" marR="6350" marT="6350" marB="0" anchor="ctr"/>
                </a:tc>
                <a:tc>
                  <a:txBody>
                    <a:bodyPr/>
                    <a:lstStyle/>
                    <a:p>
                      <a:pPr algn="ctr" fontAlgn="ctr"/>
                      <a:r>
                        <a:rPr lang="en-US" sz="1800" u="none" strike="noStrike" dirty="0">
                          <a:effectLst/>
                        </a:rPr>
                        <a:t>4 -</a:t>
                      </a:r>
                      <a:r>
                        <a:rPr lang="en-US" sz="1800" u="none" strike="noStrike" baseline="0" dirty="0">
                          <a:effectLst/>
                        </a:rPr>
                        <a:t> 7</a:t>
                      </a:r>
                      <a:r>
                        <a:rPr lang="en-US" sz="1800" u="none" strike="noStrike" dirty="0">
                          <a:effectLst/>
                        </a:rPr>
                        <a:t> </a:t>
                      </a:r>
                      <a:endParaRPr lang="en-US" sz="1800" b="0" i="0" u="none" strike="noStrike" dirty="0">
                        <a:solidFill>
                          <a:srgbClr val="000000"/>
                        </a:solidFill>
                        <a:effectLst/>
                        <a:latin typeface="Times New Roman" panose="02020603050405020304" pitchFamily="18" charset="0"/>
                      </a:endParaRPr>
                    </a:p>
                  </a:txBody>
                  <a:tcPr marL="6350" marR="6350" marT="6350" marB="0" anchor="ctr"/>
                </a:tc>
                <a:extLst>
                  <a:ext uri="{0D108BD9-81ED-4DB2-BD59-A6C34878D82A}">
                    <a16:rowId xmlns:a16="http://schemas.microsoft.com/office/drawing/2014/main" val="10005"/>
                  </a:ext>
                </a:extLst>
              </a:tr>
            </a:tbl>
          </a:graphicData>
        </a:graphic>
      </p:graphicFrame>
      <p:sp>
        <p:nvSpPr>
          <p:cNvPr id="4" name="Slide Number Placeholder 3"/>
          <p:cNvSpPr>
            <a:spLocks noGrp="1"/>
          </p:cNvSpPr>
          <p:nvPr>
            <p:ph type="sldNum" sz="quarter" idx="12"/>
          </p:nvPr>
        </p:nvSpPr>
        <p:spPr/>
        <p:txBody>
          <a:bodyPr/>
          <a:lstStyle/>
          <a:p>
            <a:fld id="{380846C1-CD93-4AE4-8DA9-0A1941B6C5F9}" type="slidenum">
              <a:rPr lang="en-US" smtClean="0"/>
              <a:t>36</a:t>
            </a:fld>
            <a:endParaRPr lang="en-US"/>
          </a:p>
        </p:txBody>
      </p:sp>
    </p:spTree>
    <p:extLst>
      <p:ext uri="{BB962C8B-B14F-4D97-AF65-F5344CB8AC3E}">
        <p14:creationId xmlns:p14="http://schemas.microsoft.com/office/powerpoint/2010/main" val="90685086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69848" y="484632"/>
            <a:ext cx="10058400" cy="612648"/>
          </a:xfrm>
        </p:spPr>
        <p:txBody>
          <a:bodyPr>
            <a:normAutofit/>
          </a:bodyPr>
          <a:lstStyle/>
          <a:p>
            <a:r>
              <a:rPr lang="en-US" sz="2800" b="1" dirty="0"/>
              <a:t>MIPS register mapping: Function Codes</a:t>
            </a:r>
          </a:p>
        </p:txBody>
      </p:sp>
      <p:sp>
        <p:nvSpPr>
          <p:cNvPr id="3" name="Content Placeholder 2"/>
          <p:cNvSpPr>
            <a:spLocks noGrp="1"/>
          </p:cNvSpPr>
          <p:nvPr>
            <p:ph idx="1"/>
          </p:nvPr>
        </p:nvSpPr>
        <p:spPr>
          <a:xfrm>
            <a:off x="1069848" y="1232034"/>
            <a:ext cx="10058400" cy="4940166"/>
          </a:xfrm>
        </p:spPr>
        <p:txBody>
          <a:bodyPr>
            <a:normAutofit/>
          </a:bodyPr>
          <a:lstStyle/>
          <a:p>
            <a:pPr fontAlgn="base"/>
            <a:r>
              <a:rPr lang="en-US" dirty="0"/>
              <a:t>Addition (add = 100000 = 0x20): Think of "20 means add", since it's a basic operation.</a:t>
            </a:r>
          </a:p>
          <a:p>
            <a:pPr fontAlgn="base"/>
            <a:r>
              <a:rPr lang="en-US" dirty="0"/>
              <a:t>Subtraction (sub = 100010 = 0x22): It's just add but with the 2nd bit flipped (10).</a:t>
            </a:r>
          </a:p>
          <a:p>
            <a:pPr fontAlgn="base"/>
            <a:r>
              <a:rPr lang="en-US" dirty="0"/>
              <a:t>Logical operations (and, or, </a:t>
            </a:r>
            <a:r>
              <a:rPr lang="en-US" dirty="0" err="1"/>
              <a:t>xor</a:t>
            </a:r>
            <a:r>
              <a:rPr lang="en-US" dirty="0"/>
              <a:t>, nor):</a:t>
            </a:r>
          </a:p>
          <a:p>
            <a:pPr lvl="1" fontAlgn="base"/>
            <a:r>
              <a:rPr lang="en-US" sz="2000" dirty="0"/>
              <a:t>1001XX → and, or, </a:t>
            </a:r>
            <a:r>
              <a:rPr lang="en-US" sz="2000" dirty="0" err="1"/>
              <a:t>xor</a:t>
            </a:r>
            <a:r>
              <a:rPr lang="en-US" sz="2000" dirty="0"/>
              <a:t>, nor follow a pattern.</a:t>
            </a:r>
          </a:p>
          <a:p>
            <a:pPr lvl="1" fontAlgn="base"/>
            <a:r>
              <a:rPr lang="en-US" sz="2000" dirty="0"/>
              <a:t>and = 100100, or = 100101, </a:t>
            </a:r>
            <a:r>
              <a:rPr lang="en-US" sz="2000" dirty="0" err="1"/>
              <a:t>xor</a:t>
            </a:r>
            <a:r>
              <a:rPr lang="en-US" sz="2000" dirty="0"/>
              <a:t> = 100110, nor = 100111 (incrementing last 2 bits).</a:t>
            </a:r>
          </a:p>
          <a:p>
            <a:pPr fontAlgn="base"/>
            <a:r>
              <a:rPr lang="en-US" dirty="0"/>
              <a:t>Set Less Than (</a:t>
            </a:r>
            <a:r>
              <a:rPr lang="en-US" dirty="0" err="1"/>
              <a:t>slt</a:t>
            </a:r>
            <a:r>
              <a:rPr lang="en-US" dirty="0"/>
              <a:t> = 101010):</a:t>
            </a:r>
          </a:p>
          <a:p>
            <a:pPr lvl="1" fontAlgn="base"/>
            <a:r>
              <a:rPr lang="en-US" sz="2000" dirty="0"/>
              <a:t>Think of "10-10" (</a:t>
            </a:r>
            <a:r>
              <a:rPr lang="en-US" sz="2000" dirty="0" err="1"/>
              <a:t>slt</a:t>
            </a:r>
            <a:r>
              <a:rPr lang="en-US" sz="2000" dirty="0"/>
              <a:t> checks if one number is less than another).</a:t>
            </a:r>
          </a:p>
          <a:p>
            <a:pPr fontAlgn="base"/>
            <a:r>
              <a:rPr lang="en-US" dirty="0"/>
              <a:t>Branching:</a:t>
            </a:r>
          </a:p>
          <a:p>
            <a:pPr marL="617220" lvl="1" indent="-342900" fontAlgn="base">
              <a:buFont typeface="+mj-lt"/>
              <a:buAutoNum type="arabicPeriod"/>
            </a:pPr>
            <a:r>
              <a:rPr lang="en-US" sz="2000" dirty="0" err="1"/>
              <a:t>Beq</a:t>
            </a:r>
            <a:r>
              <a:rPr lang="en-US" sz="2000" dirty="0"/>
              <a:t> = 000100</a:t>
            </a:r>
          </a:p>
          <a:p>
            <a:pPr marL="617220" lvl="1" indent="-342900" fontAlgn="base">
              <a:buFont typeface="+mj-lt"/>
              <a:buAutoNum type="arabicPeriod"/>
            </a:pPr>
            <a:r>
              <a:rPr lang="en-US" sz="2000" dirty="0" err="1"/>
              <a:t>Bne</a:t>
            </a:r>
            <a:r>
              <a:rPr lang="en-US" sz="2000" dirty="0"/>
              <a:t> = 000101</a:t>
            </a:r>
          </a:p>
        </p:txBody>
      </p:sp>
      <p:sp>
        <p:nvSpPr>
          <p:cNvPr id="4" name="Slide Number Placeholder 3"/>
          <p:cNvSpPr>
            <a:spLocks noGrp="1"/>
          </p:cNvSpPr>
          <p:nvPr>
            <p:ph type="sldNum" sz="quarter" idx="12"/>
          </p:nvPr>
        </p:nvSpPr>
        <p:spPr/>
        <p:txBody>
          <a:bodyPr/>
          <a:lstStyle/>
          <a:p>
            <a:fld id="{380846C1-CD93-4AE4-8DA9-0A1941B6C5F9}" type="slidenum">
              <a:rPr lang="en-US" smtClean="0"/>
              <a:t>37</a:t>
            </a:fld>
            <a:endParaRPr lang="en-US"/>
          </a:p>
        </p:txBody>
      </p:sp>
    </p:spTree>
    <p:extLst>
      <p:ext uri="{BB962C8B-B14F-4D97-AF65-F5344CB8AC3E}">
        <p14:creationId xmlns:p14="http://schemas.microsoft.com/office/powerpoint/2010/main" val="326463356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69848" y="484632"/>
            <a:ext cx="10058400" cy="612648"/>
          </a:xfrm>
        </p:spPr>
        <p:txBody>
          <a:bodyPr>
            <a:normAutofit/>
          </a:bodyPr>
          <a:lstStyle/>
          <a:p>
            <a:r>
              <a:rPr lang="en-US" sz="2800" b="1" dirty="0"/>
              <a:t>MIPS register mapping: Operation Codes</a:t>
            </a:r>
          </a:p>
        </p:txBody>
      </p:sp>
      <p:sp>
        <p:nvSpPr>
          <p:cNvPr id="4" name="Slide Number Placeholder 3"/>
          <p:cNvSpPr>
            <a:spLocks noGrp="1"/>
          </p:cNvSpPr>
          <p:nvPr>
            <p:ph type="sldNum" sz="quarter" idx="12"/>
          </p:nvPr>
        </p:nvSpPr>
        <p:spPr/>
        <p:txBody>
          <a:bodyPr/>
          <a:lstStyle/>
          <a:p>
            <a:fld id="{380846C1-CD93-4AE4-8DA9-0A1941B6C5F9}" type="slidenum">
              <a:rPr lang="en-US" smtClean="0"/>
              <a:t>38</a:t>
            </a:fld>
            <a:endParaRPr lang="en-US"/>
          </a:p>
        </p:txBody>
      </p:sp>
      <p:graphicFrame>
        <p:nvGraphicFramePr>
          <p:cNvPr id="5" name="Table 4"/>
          <p:cNvGraphicFramePr>
            <a:graphicFrameLocks noGrp="1"/>
          </p:cNvGraphicFramePr>
          <p:nvPr>
            <p:extLst>
              <p:ext uri="{D42A27DB-BD31-4B8C-83A1-F6EECF244321}">
                <p14:modId xmlns:p14="http://schemas.microsoft.com/office/powerpoint/2010/main" val="678291118"/>
              </p:ext>
            </p:extLst>
          </p:nvPr>
        </p:nvGraphicFramePr>
        <p:xfrm>
          <a:off x="1069848" y="1679796"/>
          <a:ext cx="10058400" cy="3657600"/>
        </p:xfrm>
        <a:graphic>
          <a:graphicData uri="http://schemas.openxmlformats.org/drawingml/2006/table">
            <a:tbl>
              <a:tblPr>
                <a:tableStyleId>{69CF1AB2-1976-4502-BF36-3FF5EA218861}</a:tableStyleId>
              </a:tblPr>
              <a:tblGrid>
                <a:gridCol w="3352800">
                  <a:extLst>
                    <a:ext uri="{9D8B030D-6E8A-4147-A177-3AD203B41FA5}">
                      <a16:colId xmlns:a16="http://schemas.microsoft.com/office/drawing/2014/main" val="20000"/>
                    </a:ext>
                  </a:extLst>
                </a:gridCol>
                <a:gridCol w="3352800">
                  <a:extLst>
                    <a:ext uri="{9D8B030D-6E8A-4147-A177-3AD203B41FA5}">
                      <a16:colId xmlns:a16="http://schemas.microsoft.com/office/drawing/2014/main" val="20001"/>
                    </a:ext>
                  </a:extLst>
                </a:gridCol>
                <a:gridCol w="3352800">
                  <a:extLst>
                    <a:ext uri="{9D8B030D-6E8A-4147-A177-3AD203B41FA5}">
                      <a16:colId xmlns:a16="http://schemas.microsoft.com/office/drawing/2014/main" val="20002"/>
                    </a:ext>
                  </a:extLst>
                </a:gridCol>
              </a:tblGrid>
              <a:tr h="0">
                <a:tc>
                  <a:txBody>
                    <a:bodyPr/>
                    <a:lstStyle/>
                    <a:p>
                      <a:r>
                        <a:rPr lang="en-US" b="1" dirty="0"/>
                        <a:t>Instruction</a:t>
                      </a:r>
                    </a:p>
                  </a:txBody>
                  <a:tcPr anchor="ctr"/>
                </a:tc>
                <a:tc>
                  <a:txBody>
                    <a:bodyPr/>
                    <a:lstStyle/>
                    <a:p>
                      <a:r>
                        <a:rPr lang="en-US" b="1" dirty="0"/>
                        <a:t>Type</a:t>
                      </a:r>
                    </a:p>
                  </a:txBody>
                  <a:tcPr anchor="ctr"/>
                </a:tc>
                <a:tc>
                  <a:txBody>
                    <a:bodyPr/>
                    <a:lstStyle/>
                    <a:p>
                      <a:r>
                        <a:rPr lang="en-US" b="1" dirty="0"/>
                        <a:t>Opcode (binary)</a:t>
                      </a:r>
                    </a:p>
                  </a:txBody>
                  <a:tcPr anchor="ctr"/>
                </a:tc>
                <a:extLst>
                  <a:ext uri="{0D108BD9-81ED-4DB2-BD59-A6C34878D82A}">
                    <a16:rowId xmlns:a16="http://schemas.microsoft.com/office/drawing/2014/main" val="10000"/>
                  </a:ext>
                </a:extLst>
              </a:tr>
              <a:tr h="0">
                <a:tc>
                  <a:txBody>
                    <a:bodyPr/>
                    <a:lstStyle/>
                    <a:p>
                      <a:r>
                        <a:rPr lang="en-US"/>
                        <a:t>add</a:t>
                      </a:r>
                    </a:p>
                  </a:txBody>
                  <a:tcPr anchor="ctr"/>
                </a:tc>
                <a:tc>
                  <a:txBody>
                    <a:bodyPr/>
                    <a:lstStyle/>
                    <a:p>
                      <a:r>
                        <a:rPr lang="en-US"/>
                        <a:t>R</a:t>
                      </a:r>
                    </a:p>
                  </a:txBody>
                  <a:tcPr anchor="ctr"/>
                </a:tc>
                <a:tc>
                  <a:txBody>
                    <a:bodyPr/>
                    <a:lstStyle/>
                    <a:p>
                      <a:r>
                        <a:rPr lang="en-US"/>
                        <a:t>000000</a:t>
                      </a:r>
                    </a:p>
                  </a:txBody>
                  <a:tcPr anchor="ctr"/>
                </a:tc>
                <a:extLst>
                  <a:ext uri="{0D108BD9-81ED-4DB2-BD59-A6C34878D82A}">
                    <a16:rowId xmlns:a16="http://schemas.microsoft.com/office/drawing/2014/main" val="10001"/>
                  </a:ext>
                </a:extLst>
              </a:tr>
              <a:tr h="0">
                <a:tc>
                  <a:txBody>
                    <a:bodyPr/>
                    <a:lstStyle/>
                    <a:p>
                      <a:r>
                        <a:rPr lang="en-US"/>
                        <a:t>sub</a:t>
                      </a:r>
                    </a:p>
                  </a:txBody>
                  <a:tcPr anchor="ctr"/>
                </a:tc>
                <a:tc>
                  <a:txBody>
                    <a:bodyPr/>
                    <a:lstStyle/>
                    <a:p>
                      <a:r>
                        <a:rPr lang="en-US"/>
                        <a:t>R</a:t>
                      </a:r>
                    </a:p>
                  </a:txBody>
                  <a:tcPr anchor="ctr"/>
                </a:tc>
                <a:tc>
                  <a:txBody>
                    <a:bodyPr/>
                    <a:lstStyle/>
                    <a:p>
                      <a:r>
                        <a:rPr lang="en-US"/>
                        <a:t>000000</a:t>
                      </a:r>
                    </a:p>
                  </a:txBody>
                  <a:tcPr anchor="ctr"/>
                </a:tc>
                <a:extLst>
                  <a:ext uri="{0D108BD9-81ED-4DB2-BD59-A6C34878D82A}">
                    <a16:rowId xmlns:a16="http://schemas.microsoft.com/office/drawing/2014/main" val="10002"/>
                  </a:ext>
                </a:extLst>
              </a:tr>
              <a:tr h="0">
                <a:tc>
                  <a:txBody>
                    <a:bodyPr/>
                    <a:lstStyle/>
                    <a:p>
                      <a:r>
                        <a:rPr lang="en-US" dirty="0" err="1"/>
                        <a:t>slt</a:t>
                      </a:r>
                      <a:endParaRPr lang="en-US" dirty="0"/>
                    </a:p>
                  </a:txBody>
                  <a:tcPr anchor="ctr"/>
                </a:tc>
                <a:tc>
                  <a:txBody>
                    <a:bodyPr/>
                    <a:lstStyle/>
                    <a:p>
                      <a:r>
                        <a:rPr lang="en-US"/>
                        <a:t>R</a:t>
                      </a:r>
                    </a:p>
                  </a:txBody>
                  <a:tcPr anchor="ctr"/>
                </a:tc>
                <a:tc>
                  <a:txBody>
                    <a:bodyPr/>
                    <a:lstStyle/>
                    <a:p>
                      <a:r>
                        <a:rPr lang="en-US"/>
                        <a:t>000000</a:t>
                      </a:r>
                    </a:p>
                  </a:txBody>
                  <a:tcPr anchor="ctr"/>
                </a:tc>
                <a:extLst>
                  <a:ext uri="{0D108BD9-81ED-4DB2-BD59-A6C34878D82A}">
                    <a16:rowId xmlns:a16="http://schemas.microsoft.com/office/drawing/2014/main" val="10003"/>
                  </a:ext>
                </a:extLst>
              </a:tr>
              <a:tr h="0">
                <a:tc>
                  <a:txBody>
                    <a:bodyPr/>
                    <a:lstStyle/>
                    <a:p>
                      <a:r>
                        <a:rPr lang="en-US"/>
                        <a:t>addi</a:t>
                      </a:r>
                    </a:p>
                  </a:txBody>
                  <a:tcPr anchor="ctr"/>
                </a:tc>
                <a:tc>
                  <a:txBody>
                    <a:bodyPr/>
                    <a:lstStyle/>
                    <a:p>
                      <a:r>
                        <a:rPr lang="en-US"/>
                        <a:t>I</a:t>
                      </a:r>
                    </a:p>
                  </a:txBody>
                  <a:tcPr anchor="ctr"/>
                </a:tc>
                <a:tc>
                  <a:txBody>
                    <a:bodyPr/>
                    <a:lstStyle/>
                    <a:p>
                      <a:r>
                        <a:rPr lang="en-US"/>
                        <a:t>001000</a:t>
                      </a:r>
                    </a:p>
                  </a:txBody>
                  <a:tcPr anchor="ctr"/>
                </a:tc>
                <a:extLst>
                  <a:ext uri="{0D108BD9-81ED-4DB2-BD59-A6C34878D82A}">
                    <a16:rowId xmlns:a16="http://schemas.microsoft.com/office/drawing/2014/main" val="10004"/>
                  </a:ext>
                </a:extLst>
              </a:tr>
              <a:tr h="0">
                <a:tc>
                  <a:txBody>
                    <a:bodyPr/>
                    <a:lstStyle/>
                    <a:p>
                      <a:r>
                        <a:rPr lang="en-US" dirty="0" err="1"/>
                        <a:t>lw</a:t>
                      </a:r>
                      <a:endParaRPr lang="en-US" dirty="0"/>
                    </a:p>
                  </a:txBody>
                  <a:tcPr anchor="ctr"/>
                </a:tc>
                <a:tc>
                  <a:txBody>
                    <a:bodyPr/>
                    <a:lstStyle/>
                    <a:p>
                      <a:r>
                        <a:rPr lang="en-US"/>
                        <a:t>I</a:t>
                      </a:r>
                    </a:p>
                  </a:txBody>
                  <a:tcPr anchor="ctr"/>
                </a:tc>
                <a:tc>
                  <a:txBody>
                    <a:bodyPr/>
                    <a:lstStyle/>
                    <a:p>
                      <a:r>
                        <a:rPr lang="en-US"/>
                        <a:t>100011</a:t>
                      </a:r>
                    </a:p>
                  </a:txBody>
                  <a:tcPr anchor="ctr"/>
                </a:tc>
                <a:extLst>
                  <a:ext uri="{0D108BD9-81ED-4DB2-BD59-A6C34878D82A}">
                    <a16:rowId xmlns:a16="http://schemas.microsoft.com/office/drawing/2014/main" val="10005"/>
                  </a:ext>
                </a:extLst>
              </a:tr>
              <a:tr h="0">
                <a:tc>
                  <a:txBody>
                    <a:bodyPr/>
                    <a:lstStyle/>
                    <a:p>
                      <a:r>
                        <a:rPr lang="en-US"/>
                        <a:t>sw</a:t>
                      </a:r>
                    </a:p>
                  </a:txBody>
                  <a:tcPr anchor="ctr"/>
                </a:tc>
                <a:tc>
                  <a:txBody>
                    <a:bodyPr/>
                    <a:lstStyle/>
                    <a:p>
                      <a:r>
                        <a:rPr lang="en-US"/>
                        <a:t>I</a:t>
                      </a:r>
                    </a:p>
                  </a:txBody>
                  <a:tcPr anchor="ctr"/>
                </a:tc>
                <a:tc>
                  <a:txBody>
                    <a:bodyPr/>
                    <a:lstStyle/>
                    <a:p>
                      <a:r>
                        <a:rPr lang="en-US"/>
                        <a:t>101011</a:t>
                      </a:r>
                    </a:p>
                  </a:txBody>
                  <a:tcPr anchor="ctr"/>
                </a:tc>
                <a:extLst>
                  <a:ext uri="{0D108BD9-81ED-4DB2-BD59-A6C34878D82A}">
                    <a16:rowId xmlns:a16="http://schemas.microsoft.com/office/drawing/2014/main" val="10006"/>
                  </a:ext>
                </a:extLst>
              </a:tr>
              <a:tr h="0">
                <a:tc>
                  <a:txBody>
                    <a:bodyPr/>
                    <a:lstStyle/>
                    <a:p>
                      <a:r>
                        <a:rPr lang="en-US"/>
                        <a:t>beq</a:t>
                      </a:r>
                    </a:p>
                  </a:txBody>
                  <a:tcPr anchor="ctr"/>
                </a:tc>
                <a:tc>
                  <a:txBody>
                    <a:bodyPr/>
                    <a:lstStyle/>
                    <a:p>
                      <a:r>
                        <a:rPr lang="en-US"/>
                        <a:t>I</a:t>
                      </a:r>
                    </a:p>
                  </a:txBody>
                  <a:tcPr anchor="ctr"/>
                </a:tc>
                <a:tc>
                  <a:txBody>
                    <a:bodyPr/>
                    <a:lstStyle/>
                    <a:p>
                      <a:r>
                        <a:rPr lang="en-US"/>
                        <a:t>000100</a:t>
                      </a:r>
                    </a:p>
                  </a:txBody>
                  <a:tcPr anchor="ctr"/>
                </a:tc>
                <a:extLst>
                  <a:ext uri="{0D108BD9-81ED-4DB2-BD59-A6C34878D82A}">
                    <a16:rowId xmlns:a16="http://schemas.microsoft.com/office/drawing/2014/main" val="10007"/>
                  </a:ext>
                </a:extLst>
              </a:tr>
              <a:tr h="0">
                <a:tc>
                  <a:txBody>
                    <a:bodyPr/>
                    <a:lstStyle/>
                    <a:p>
                      <a:r>
                        <a:rPr lang="en-US"/>
                        <a:t>bne</a:t>
                      </a:r>
                    </a:p>
                  </a:txBody>
                  <a:tcPr anchor="ctr"/>
                </a:tc>
                <a:tc>
                  <a:txBody>
                    <a:bodyPr/>
                    <a:lstStyle/>
                    <a:p>
                      <a:r>
                        <a:rPr lang="en-US"/>
                        <a:t>I</a:t>
                      </a:r>
                    </a:p>
                  </a:txBody>
                  <a:tcPr anchor="ctr"/>
                </a:tc>
                <a:tc>
                  <a:txBody>
                    <a:bodyPr/>
                    <a:lstStyle/>
                    <a:p>
                      <a:r>
                        <a:rPr lang="en-US"/>
                        <a:t>000101</a:t>
                      </a:r>
                    </a:p>
                  </a:txBody>
                  <a:tcPr anchor="ctr"/>
                </a:tc>
                <a:extLst>
                  <a:ext uri="{0D108BD9-81ED-4DB2-BD59-A6C34878D82A}">
                    <a16:rowId xmlns:a16="http://schemas.microsoft.com/office/drawing/2014/main" val="10008"/>
                  </a:ext>
                </a:extLst>
              </a:tr>
              <a:tr h="0">
                <a:tc>
                  <a:txBody>
                    <a:bodyPr/>
                    <a:lstStyle/>
                    <a:p>
                      <a:r>
                        <a:rPr lang="en-US"/>
                        <a:t>j</a:t>
                      </a:r>
                    </a:p>
                  </a:txBody>
                  <a:tcPr anchor="ctr"/>
                </a:tc>
                <a:tc>
                  <a:txBody>
                    <a:bodyPr/>
                    <a:lstStyle/>
                    <a:p>
                      <a:r>
                        <a:rPr lang="en-US"/>
                        <a:t>J</a:t>
                      </a:r>
                    </a:p>
                  </a:txBody>
                  <a:tcPr anchor="ctr"/>
                </a:tc>
                <a:tc>
                  <a:txBody>
                    <a:bodyPr/>
                    <a:lstStyle/>
                    <a:p>
                      <a:r>
                        <a:rPr lang="en-US" dirty="0"/>
                        <a:t>000010</a:t>
                      </a:r>
                    </a:p>
                  </a:txBody>
                  <a:tcPr anchor="ctr"/>
                </a:tc>
                <a:extLst>
                  <a:ext uri="{0D108BD9-81ED-4DB2-BD59-A6C34878D82A}">
                    <a16:rowId xmlns:a16="http://schemas.microsoft.com/office/drawing/2014/main" val="10009"/>
                  </a:ext>
                </a:extLst>
              </a:tr>
            </a:tbl>
          </a:graphicData>
        </a:graphic>
      </p:graphicFrame>
    </p:spTree>
    <p:extLst>
      <p:ext uri="{BB962C8B-B14F-4D97-AF65-F5344CB8AC3E}">
        <p14:creationId xmlns:p14="http://schemas.microsoft.com/office/powerpoint/2010/main" val="9454249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69848" y="484632"/>
            <a:ext cx="10058400" cy="612648"/>
          </a:xfrm>
        </p:spPr>
        <p:txBody>
          <a:bodyPr>
            <a:normAutofit/>
          </a:bodyPr>
          <a:lstStyle/>
          <a:p>
            <a:r>
              <a:rPr lang="en-US" sz="2800" b="1" dirty="0"/>
              <a:t>MIPS REGISTER MAPPING: FUNCTION CODES (R-Type)</a:t>
            </a:r>
          </a:p>
        </p:txBody>
      </p:sp>
      <p:sp>
        <p:nvSpPr>
          <p:cNvPr id="4" name="Slide Number Placeholder 3"/>
          <p:cNvSpPr>
            <a:spLocks noGrp="1"/>
          </p:cNvSpPr>
          <p:nvPr>
            <p:ph type="sldNum" sz="quarter" idx="12"/>
          </p:nvPr>
        </p:nvSpPr>
        <p:spPr/>
        <p:txBody>
          <a:bodyPr/>
          <a:lstStyle/>
          <a:p>
            <a:fld id="{380846C1-CD93-4AE4-8DA9-0A1941B6C5F9}" type="slidenum">
              <a:rPr lang="en-US" smtClean="0"/>
              <a:t>39</a:t>
            </a:fld>
            <a:endParaRPr lang="en-US"/>
          </a:p>
        </p:txBody>
      </p:sp>
      <p:graphicFrame>
        <p:nvGraphicFramePr>
          <p:cNvPr id="3" name="Table 2">
            <a:extLst>
              <a:ext uri="{FF2B5EF4-FFF2-40B4-BE49-F238E27FC236}">
                <a16:creationId xmlns:a16="http://schemas.microsoft.com/office/drawing/2014/main" id="{9635BB4D-A23E-4BBE-B912-3A12421E9817}"/>
              </a:ext>
            </a:extLst>
          </p:cNvPr>
          <p:cNvGraphicFramePr>
            <a:graphicFrameLocks noGrp="1"/>
          </p:cNvGraphicFramePr>
          <p:nvPr>
            <p:extLst>
              <p:ext uri="{D42A27DB-BD31-4B8C-83A1-F6EECF244321}">
                <p14:modId xmlns:p14="http://schemas.microsoft.com/office/powerpoint/2010/main" val="1375229337"/>
              </p:ext>
            </p:extLst>
          </p:nvPr>
        </p:nvGraphicFramePr>
        <p:xfrm>
          <a:off x="1066800" y="1806762"/>
          <a:ext cx="10058400" cy="3657600"/>
        </p:xfrm>
        <a:graphic>
          <a:graphicData uri="http://schemas.openxmlformats.org/drawingml/2006/table">
            <a:tbl>
              <a:tblPr>
                <a:tableStyleId>{69CF1AB2-1976-4502-BF36-3FF5EA218861}</a:tableStyleId>
              </a:tblPr>
              <a:tblGrid>
                <a:gridCol w="3352800">
                  <a:extLst>
                    <a:ext uri="{9D8B030D-6E8A-4147-A177-3AD203B41FA5}">
                      <a16:colId xmlns:a16="http://schemas.microsoft.com/office/drawing/2014/main" val="4148242729"/>
                    </a:ext>
                  </a:extLst>
                </a:gridCol>
                <a:gridCol w="3352800">
                  <a:extLst>
                    <a:ext uri="{9D8B030D-6E8A-4147-A177-3AD203B41FA5}">
                      <a16:colId xmlns:a16="http://schemas.microsoft.com/office/drawing/2014/main" val="1014491783"/>
                    </a:ext>
                  </a:extLst>
                </a:gridCol>
                <a:gridCol w="3352800">
                  <a:extLst>
                    <a:ext uri="{9D8B030D-6E8A-4147-A177-3AD203B41FA5}">
                      <a16:colId xmlns:a16="http://schemas.microsoft.com/office/drawing/2014/main" val="1773851998"/>
                    </a:ext>
                  </a:extLst>
                </a:gridCol>
              </a:tblGrid>
              <a:tr h="0">
                <a:tc>
                  <a:txBody>
                    <a:bodyPr/>
                    <a:lstStyle/>
                    <a:p>
                      <a:r>
                        <a:rPr lang="en-US" b="1" dirty="0"/>
                        <a:t>Instruction</a:t>
                      </a:r>
                    </a:p>
                  </a:txBody>
                  <a:tcPr anchor="ctr"/>
                </a:tc>
                <a:tc>
                  <a:txBody>
                    <a:bodyPr/>
                    <a:lstStyle/>
                    <a:p>
                      <a:r>
                        <a:rPr lang="en-US" b="1" dirty="0"/>
                        <a:t>Type</a:t>
                      </a:r>
                    </a:p>
                  </a:txBody>
                  <a:tcPr anchor="ctr"/>
                </a:tc>
                <a:tc>
                  <a:txBody>
                    <a:bodyPr/>
                    <a:lstStyle/>
                    <a:p>
                      <a:r>
                        <a:rPr lang="en-US" b="1" dirty="0" err="1"/>
                        <a:t>Funct</a:t>
                      </a:r>
                      <a:r>
                        <a:rPr lang="en-US" b="1" dirty="0"/>
                        <a:t> (binary)</a:t>
                      </a:r>
                    </a:p>
                  </a:txBody>
                  <a:tcPr anchor="ctr"/>
                </a:tc>
                <a:extLst>
                  <a:ext uri="{0D108BD9-81ED-4DB2-BD59-A6C34878D82A}">
                    <a16:rowId xmlns:a16="http://schemas.microsoft.com/office/drawing/2014/main" val="246434969"/>
                  </a:ext>
                </a:extLst>
              </a:tr>
              <a:tr h="0">
                <a:tc>
                  <a:txBody>
                    <a:bodyPr/>
                    <a:lstStyle/>
                    <a:p>
                      <a:r>
                        <a:rPr lang="en-US"/>
                        <a:t>add</a:t>
                      </a:r>
                    </a:p>
                  </a:txBody>
                  <a:tcPr anchor="ctr"/>
                </a:tc>
                <a:tc>
                  <a:txBody>
                    <a:bodyPr/>
                    <a:lstStyle/>
                    <a:p>
                      <a:r>
                        <a:rPr lang="en-US"/>
                        <a:t>R</a:t>
                      </a:r>
                    </a:p>
                  </a:txBody>
                  <a:tcPr anchor="ctr"/>
                </a:tc>
                <a:tc>
                  <a:txBody>
                    <a:bodyPr/>
                    <a:lstStyle/>
                    <a:p>
                      <a:r>
                        <a:rPr lang="en-US"/>
                        <a:t>100000</a:t>
                      </a:r>
                    </a:p>
                  </a:txBody>
                  <a:tcPr anchor="ctr"/>
                </a:tc>
                <a:extLst>
                  <a:ext uri="{0D108BD9-81ED-4DB2-BD59-A6C34878D82A}">
                    <a16:rowId xmlns:a16="http://schemas.microsoft.com/office/drawing/2014/main" val="3618014628"/>
                  </a:ext>
                </a:extLst>
              </a:tr>
              <a:tr h="0">
                <a:tc>
                  <a:txBody>
                    <a:bodyPr/>
                    <a:lstStyle/>
                    <a:p>
                      <a:r>
                        <a:rPr lang="en-US"/>
                        <a:t>sub</a:t>
                      </a:r>
                    </a:p>
                  </a:txBody>
                  <a:tcPr anchor="ctr"/>
                </a:tc>
                <a:tc>
                  <a:txBody>
                    <a:bodyPr/>
                    <a:lstStyle/>
                    <a:p>
                      <a:r>
                        <a:rPr lang="en-US"/>
                        <a:t>R</a:t>
                      </a:r>
                    </a:p>
                  </a:txBody>
                  <a:tcPr anchor="ctr"/>
                </a:tc>
                <a:tc>
                  <a:txBody>
                    <a:bodyPr/>
                    <a:lstStyle/>
                    <a:p>
                      <a:r>
                        <a:rPr lang="en-US"/>
                        <a:t>100010</a:t>
                      </a:r>
                    </a:p>
                  </a:txBody>
                  <a:tcPr anchor="ctr"/>
                </a:tc>
                <a:extLst>
                  <a:ext uri="{0D108BD9-81ED-4DB2-BD59-A6C34878D82A}">
                    <a16:rowId xmlns:a16="http://schemas.microsoft.com/office/drawing/2014/main" val="3989280142"/>
                  </a:ext>
                </a:extLst>
              </a:tr>
              <a:tr h="0">
                <a:tc>
                  <a:txBody>
                    <a:bodyPr/>
                    <a:lstStyle/>
                    <a:p>
                      <a:r>
                        <a:rPr lang="en-US"/>
                        <a:t>and</a:t>
                      </a:r>
                    </a:p>
                  </a:txBody>
                  <a:tcPr anchor="ctr"/>
                </a:tc>
                <a:tc>
                  <a:txBody>
                    <a:bodyPr/>
                    <a:lstStyle/>
                    <a:p>
                      <a:r>
                        <a:rPr lang="en-US"/>
                        <a:t>R</a:t>
                      </a:r>
                    </a:p>
                  </a:txBody>
                  <a:tcPr anchor="ctr"/>
                </a:tc>
                <a:tc>
                  <a:txBody>
                    <a:bodyPr/>
                    <a:lstStyle/>
                    <a:p>
                      <a:r>
                        <a:rPr lang="en-US"/>
                        <a:t>100100</a:t>
                      </a:r>
                    </a:p>
                  </a:txBody>
                  <a:tcPr anchor="ctr"/>
                </a:tc>
                <a:extLst>
                  <a:ext uri="{0D108BD9-81ED-4DB2-BD59-A6C34878D82A}">
                    <a16:rowId xmlns:a16="http://schemas.microsoft.com/office/drawing/2014/main" val="3901211360"/>
                  </a:ext>
                </a:extLst>
              </a:tr>
              <a:tr h="0">
                <a:tc>
                  <a:txBody>
                    <a:bodyPr/>
                    <a:lstStyle/>
                    <a:p>
                      <a:r>
                        <a:rPr lang="en-US"/>
                        <a:t>or</a:t>
                      </a:r>
                    </a:p>
                  </a:txBody>
                  <a:tcPr anchor="ctr"/>
                </a:tc>
                <a:tc>
                  <a:txBody>
                    <a:bodyPr/>
                    <a:lstStyle/>
                    <a:p>
                      <a:r>
                        <a:rPr lang="en-US"/>
                        <a:t>R</a:t>
                      </a:r>
                    </a:p>
                  </a:txBody>
                  <a:tcPr anchor="ctr"/>
                </a:tc>
                <a:tc>
                  <a:txBody>
                    <a:bodyPr/>
                    <a:lstStyle/>
                    <a:p>
                      <a:r>
                        <a:rPr lang="en-US"/>
                        <a:t>100101</a:t>
                      </a:r>
                    </a:p>
                  </a:txBody>
                  <a:tcPr anchor="ctr"/>
                </a:tc>
                <a:extLst>
                  <a:ext uri="{0D108BD9-81ED-4DB2-BD59-A6C34878D82A}">
                    <a16:rowId xmlns:a16="http://schemas.microsoft.com/office/drawing/2014/main" val="3356070556"/>
                  </a:ext>
                </a:extLst>
              </a:tr>
              <a:tr h="0">
                <a:tc>
                  <a:txBody>
                    <a:bodyPr/>
                    <a:lstStyle/>
                    <a:p>
                      <a:r>
                        <a:rPr lang="en-US"/>
                        <a:t>slt</a:t>
                      </a:r>
                    </a:p>
                  </a:txBody>
                  <a:tcPr anchor="ctr"/>
                </a:tc>
                <a:tc>
                  <a:txBody>
                    <a:bodyPr/>
                    <a:lstStyle/>
                    <a:p>
                      <a:r>
                        <a:rPr lang="en-US"/>
                        <a:t>R</a:t>
                      </a:r>
                    </a:p>
                  </a:txBody>
                  <a:tcPr anchor="ctr"/>
                </a:tc>
                <a:tc>
                  <a:txBody>
                    <a:bodyPr/>
                    <a:lstStyle/>
                    <a:p>
                      <a:r>
                        <a:rPr lang="en-US"/>
                        <a:t>101010</a:t>
                      </a:r>
                    </a:p>
                  </a:txBody>
                  <a:tcPr anchor="ctr"/>
                </a:tc>
                <a:extLst>
                  <a:ext uri="{0D108BD9-81ED-4DB2-BD59-A6C34878D82A}">
                    <a16:rowId xmlns:a16="http://schemas.microsoft.com/office/drawing/2014/main" val="2577186008"/>
                  </a:ext>
                </a:extLst>
              </a:tr>
              <a:tr h="0">
                <a:tc>
                  <a:txBody>
                    <a:bodyPr/>
                    <a:lstStyle/>
                    <a:p>
                      <a:r>
                        <a:rPr lang="en-US"/>
                        <a:t>sll</a:t>
                      </a:r>
                    </a:p>
                  </a:txBody>
                  <a:tcPr anchor="ctr"/>
                </a:tc>
                <a:tc>
                  <a:txBody>
                    <a:bodyPr/>
                    <a:lstStyle/>
                    <a:p>
                      <a:r>
                        <a:rPr lang="en-US"/>
                        <a:t>R</a:t>
                      </a:r>
                    </a:p>
                  </a:txBody>
                  <a:tcPr anchor="ctr"/>
                </a:tc>
                <a:tc>
                  <a:txBody>
                    <a:bodyPr/>
                    <a:lstStyle/>
                    <a:p>
                      <a:r>
                        <a:rPr lang="en-US"/>
                        <a:t>000000</a:t>
                      </a:r>
                    </a:p>
                  </a:txBody>
                  <a:tcPr anchor="ctr"/>
                </a:tc>
                <a:extLst>
                  <a:ext uri="{0D108BD9-81ED-4DB2-BD59-A6C34878D82A}">
                    <a16:rowId xmlns:a16="http://schemas.microsoft.com/office/drawing/2014/main" val="3575287505"/>
                  </a:ext>
                </a:extLst>
              </a:tr>
              <a:tr h="0">
                <a:tc>
                  <a:txBody>
                    <a:bodyPr/>
                    <a:lstStyle/>
                    <a:p>
                      <a:r>
                        <a:rPr lang="en-US"/>
                        <a:t>srl</a:t>
                      </a:r>
                    </a:p>
                  </a:txBody>
                  <a:tcPr anchor="ctr"/>
                </a:tc>
                <a:tc>
                  <a:txBody>
                    <a:bodyPr/>
                    <a:lstStyle/>
                    <a:p>
                      <a:r>
                        <a:rPr lang="en-US"/>
                        <a:t>R</a:t>
                      </a:r>
                    </a:p>
                  </a:txBody>
                  <a:tcPr anchor="ctr"/>
                </a:tc>
                <a:tc>
                  <a:txBody>
                    <a:bodyPr/>
                    <a:lstStyle/>
                    <a:p>
                      <a:r>
                        <a:rPr lang="en-US"/>
                        <a:t>000010</a:t>
                      </a:r>
                    </a:p>
                  </a:txBody>
                  <a:tcPr anchor="ctr"/>
                </a:tc>
                <a:extLst>
                  <a:ext uri="{0D108BD9-81ED-4DB2-BD59-A6C34878D82A}">
                    <a16:rowId xmlns:a16="http://schemas.microsoft.com/office/drawing/2014/main" val="288671982"/>
                  </a:ext>
                </a:extLst>
              </a:tr>
              <a:tr h="0">
                <a:tc>
                  <a:txBody>
                    <a:bodyPr/>
                    <a:lstStyle/>
                    <a:p>
                      <a:r>
                        <a:rPr lang="en-US"/>
                        <a:t>jr</a:t>
                      </a:r>
                    </a:p>
                  </a:txBody>
                  <a:tcPr anchor="ctr"/>
                </a:tc>
                <a:tc>
                  <a:txBody>
                    <a:bodyPr/>
                    <a:lstStyle/>
                    <a:p>
                      <a:r>
                        <a:rPr lang="en-US"/>
                        <a:t>R</a:t>
                      </a:r>
                    </a:p>
                  </a:txBody>
                  <a:tcPr anchor="ctr"/>
                </a:tc>
                <a:tc>
                  <a:txBody>
                    <a:bodyPr/>
                    <a:lstStyle/>
                    <a:p>
                      <a:r>
                        <a:rPr lang="en-US"/>
                        <a:t>001000</a:t>
                      </a:r>
                    </a:p>
                  </a:txBody>
                  <a:tcPr anchor="ctr"/>
                </a:tc>
                <a:extLst>
                  <a:ext uri="{0D108BD9-81ED-4DB2-BD59-A6C34878D82A}">
                    <a16:rowId xmlns:a16="http://schemas.microsoft.com/office/drawing/2014/main" val="1894902621"/>
                  </a:ext>
                </a:extLst>
              </a:tr>
              <a:tr h="0">
                <a:tc>
                  <a:txBody>
                    <a:bodyPr/>
                    <a:lstStyle/>
                    <a:p>
                      <a:r>
                        <a:rPr lang="en-US"/>
                        <a:t>nor</a:t>
                      </a:r>
                    </a:p>
                  </a:txBody>
                  <a:tcPr anchor="ctr"/>
                </a:tc>
                <a:tc>
                  <a:txBody>
                    <a:bodyPr/>
                    <a:lstStyle/>
                    <a:p>
                      <a:r>
                        <a:rPr lang="en-US"/>
                        <a:t>R</a:t>
                      </a:r>
                    </a:p>
                  </a:txBody>
                  <a:tcPr anchor="ctr"/>
                </a:tc>
                <a:tc>
                  <a:txBody>
                    <a:bodyPr/>
                    <a:lstStyle/>
                    <a:p>
                      <a:r>
                        <a:rPr lang="en-US" dirty="0"/>
                        <a:t>100111</a:t>
                      </a:r>
                    </a:p>
                  </a:txBody>
                  <a:tcPr anchor="ctr"/>
                </a:tc>
                <a:extLst>
                  <a:ext uri="{0D108BD9-81ED-4DB2-BD59-A6C34878D82A}">
                    <a16:rowId xmlns:a16="http://schemas.microsoft.com/office/drawing/2014/main" val="3496116312"/>
                  </a:ext>
                </a:extLst>
              </a:tr>
            </a:tbl>
          </a:graphicData>
        </a:graphic>
      </p:graphicFrame>
    </p:spTree>
    <p:extLst>
      <p:ext uri="{BB962C8B-B14F-4D97-AF65-F5344CB8AC3E}">
        <p14:creationId xmlns:p14="http://schemas.microsoft.com/office/powerpoint/2010/main" val="272744977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69848" y="484632"/>
            <a:ext cx="10058400" cy="612648"/>
          </a:xfrm>
        </p:spPr>
        <p:txBody>
          <a:bodyPr>
            <a:normAutofit/>
          </a:bodyPr>
          <a:lstStyle/>
          <a:p>
            <a:r>
              <a:rPr lang="en-US" sz="2800" b="1" dirty="0"/>
              <a:t>MIPS register mapping: </a:t>
            </a:r>
            <a:r>
              <a:rPr lang="en-US" sz="2800" b="1" dirty="0" err="1"/>
              <a:t>EXamples</a:t>
            </a:r>
            <a:endParaRPr lang="en-US" sz="2800" b="1" dirty="0"/>
          </a:p>
        </p:txBody>
      </p:sp>
      <p:sp>
        <p:nvSpPr>
          <p:cNvPr id="3" name="Content Placeholder 2"/>
          <p:cNvSpPr>
            <a:spLocks noGrp="1"/>
          </p:cNvSpPr>
          <p:nvPr>
            <p:ph idx="1"/>
          </p:nvPr>
        </p:nvSpPr>
        <p:spPr>
          <a:xfrm>
            <a:off x="1069848" y="1232034"/>
            <a:ext cx="10058400" cy="4940166"/>
          </a:xfrm>
        </p:spPr>
        <p:txBody>
          <a:bodyPr>
            <a:noAutofit/>
          </a:bodyPr>
          <a:lstStyle/>
          <a:p>
            <a:pPr fontAlgn="base"/>
            <a:r>
              <a:rPr lang="en-US" dirty="0"/>
              <a:t>Example:</a:t>
            </a:r>
          </a:p>
          <a:p>
            <a:pPr marL="274320" lvl="1" indent="0" fontAlgn="base">
              <a:buNone/>
            </a:pPr>
            <a:r>
              <a:rPr lang="en-US" sz="2000" dirty="0"/>
              <a:t>Translate the following instruction into machine instruction:</a:t>
            </a:r>
          </a:p>
          <a:p>
            <a:pPr marL="274320" lvl="1" indent="0" algn="ctr" fontAlgn="base">
              <a:buNone/>
            </a:pPr>
            <a:r>
              <a:rPr lang="en-US" sz="2000" dirty="0"/>
              <a:t>Add $t5, $s3, $s4</a:t>
            </a:r>
          </a:p>
          <a:p>
            <a:r>
              <a:rPr lang="en-US" dirty="0"/>
              <a:t>This is a R-type instruction. Thus:</a:t>
            </a:r>
          </a:p>
          <a:p>
            <a:pPr marL="617220" lvl="1" indent="-342900">
              <a:buFont typeface="+mj-lt"/>
              <a:buAutoNum type="arabicPeriod"/>
            </a:pPr>
            <a:r>
              <a:rPr lang="en-US" sz="2000" dirty="0"/>
              <a:t>Add = 100000 (Function codes are in 6 digits binary)</a:t>
            </a:r>
          </a:p>
          <a:p>
            <a:pPr marL="617220" lvl="1" indent="-342900">
              <a:buFont typeface="+mj-lt"/>
              <a:buAutoNum type="arabicPeriod"/>
            </a:pPr>
            <a:r>
              <a:rPr lang="en-US" sz="2000" dirty="0"/>
              <a:t>T5 = 13 = 01101 (Register mappings are 5 digits)</a:t>
            </a:r>
          </a:p>
          <a:p>
            <a:pPr marL="617220" lvl="1" indent="-342900">
              <a:buFont typeface="+mj-lt"/>
              <a:buAutoNum type="arabicPeriod"/>
            </a:pPr>
            <a:r>
              <a:rPr lang="en-US" sz="2000" dirty="0"/>
              <a:t>S3 = 19 = 10011</a:t>
            </a:r>
          </a:p>
          <a:p>
            <a:pPr marL="617220" lvl="1" indent="-342900">
              <a:buFont typeface="+mj-lt"/>
              <a:buAutoNum type="arabicPeriod"/>
            </a:pPr>
            <a:r>
              <a:rPr lang="en-US" sz="2000" dirty="0"/>
              <a:t>S4 = 20 = 10100</a:t>
            </a:r>
          </a:p>
          <a:p>
            <a:r>
              <a:rPr lang="en-US" dirty="0"/>
              <a:t>Machine instruction for R-type </a:t>
            </a:r>
          </a:p>
          <a:p>
            <a:pPr marL="617220" lvl="1" indent="-342900">
              <a:buFont typeface="+mj-lt"/>
              <a:buAutoNum type="arabicPeriod"/>
            </a:pPr>
            <a:r>
              <a:rPr lang="en-US" sz="2000" dirty="0"/>
              <a:t>= opcode (6 bits) | </a:t>
            </a:r>
            <a:r>
              <a:rPr lang="en-US" sz="2000" dirty="0" err="1"/>
              <a:t>rs</a:t>
            </a:r>
            <a:r>
              <a:rPr lang="en-US" sz="2000" dirty="0"/>
              <a:t> (5 bits) | </a:t>
            </a:r>
            <a:r>
              <a:rPr lang="en-US" sz="2000" dirty="0" err="1"/>
              <a:t>rt</a:t>
            </a:r>
            <a:r>
              <a:rPr lang="en-US" sz="2000" dirty="0"/>
              <a:t> (5 bits) | </a:t>
            </a:r>
            <a:r>
              <a:rPr lang="en-US" sz="2000" dirty="0" err="1"/>
              <a:t>rd</a:t>
            </a:r>
            <a:r>
              <a:rPr lang="en-US" sz="2000" dirty="0"/>
              <a:t> (5 bits) | </a:t>
            </a:r>
            <a:r>
              <a:rPr lang="en-US" sz="2000" dirty="0" err="1"/>
              <a:t>shamt</a:t>
            </a:r>
            <a:r>
              <a:rPr lang="en-US" sz="2000" dirty="0"/>
              <a:t> (5 bits) | </a:t>
            </a:r>
            <a:r>
              <a:rPr lang="en-US" sz="2000" dirty="0" err="1"/>
              <a:t>funct</a:t>
            </a:r>
            <a:r>
              <a:rPr lang="en-US" sz="2000" dirty="0"/>
              <a:t> (6 bits)</a:t>
            </a:r>
          </a:p>
          <a:p>
            <a:pPr marL="617220" lvl="1" indent="-342900">
              <a:buFont typeface="+mj-lt"/>
              <a:buAutoNum type="arabicPeriod"/>
            </a:pPr>
            <a:r>
              <a:rPr lang="en-US" sz="2000" dirty="0"/>
              <a:t>= 000000 (for add) | s3 | s4 | t5 | 00000 (for add) | 100000 (</a:t>
            </a:r>
            <a:r>
              <a:rPr lang="en-US" sz="2000" dirty="0" err="1"/>
              <a:t>func</a:t>
            </a:r>
            <a:r>
              <a:rPr lang="en-US" sz="2000" dirty="0"/>
              <a:t> code of add) </a:t>
            </a:r>
          </a:p>
          <a:p>
            <a:pPr marL="617220" lvl="1" indent="-342900">
              <a:buFont typeface="+mj-lt"/>
              <a:buAutoNum type="arabicPeriod"/>
            </a:pPr>
            <a:r>
              <a:rPr lang="en-US" sz="2000" dirty="0"/>
              <a:t>= 000000 10011 10100 01101 00000 100000 </a:t>
            </a:r>
          </a:p>
          <a:p>
            <a:pPr marL="617220" lvl="1" indent="-342900">
              <a:buFont typeface="+mj-lt"/>
              <a:buAutoNum type="arabicPeriod"/>
            </a:pPr>
            <a:r>
              <a:rPr lang="en-US" sz="2000" dirty="0"/>
              <a:t>= 0x02746820 Hex (Ans.)</a:t>
            </a:r>
          </a:p>
        </p:txBody>
      </p:sp>
      <p:sp>
        <p:nvSpPr>
          <p:cNvPr id="4" name="Slide Number Placeholder 3"/>
          <p:cNvSpPr>
            <a:spLocks noGrp="1"/>
          </p:cNvSpPr>
          <p:nvPr>
            <p:ph type="sldNum" sz="quarter" idx="12"/>
          </p:nvPr>
        </p:nvSpPr>
        <p:spPr/>
        <p:txBody>
          <a:bodyPr/>
          <a:lstStyle/>
          <a:p>
            <a:fld id="{380846C1-CD93-4AE4-8DA9-0A1941B6C5F9}" type="slidenum">
              <a:rPr lang="en-US" smtClean="0"/>
              <a:t>40</a:t>
            </a:fld>
            <a:endParaRPr lang="en-US"/>
          </a:p>
        </p:txBody>
      </p:sp>
    </p:spTree>
    <p:extLst>
      <p:ext uri="{BB962C8B-B14F-4D97-AF65-F5344CB8AC3E}">
        <p14:creationId xmlns:p14="http://schemas.microsoft.com/office/powerpoint/2010/main" val="388082519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69848" y="484632"/>
            <a:ext cx="10058400" cy="612648"/>
          </a:xfrm>
        </p:spPr>
        <p:txBody>
          <a:bodyPr>
            <a:normAutofit/>
          </a:bodyPr>
          <a:lstStyle/>
          <a:p>
            <a:r>
              <a:rPr lang="en-US" sz="2800" b="1" dirty="0"/>
              <a:t>MIPS register mapping: </a:t>
            </a:r>
            <a:r>
              <a:rPr lang="en-US" sz="2800" b="1" dirty="0" err="1"/>
              <a:t>EXamples</a:t>
            </a:r>
            <a:endParaRPr lang="en-US" sz="2800" b="1" dirty="0"/>
          </a:p>
        </p:txBody>
      </p:sp>
      <p:sp>
        <p:nvSpPr>
          <p:cNvPr id="3" name="Content Placeholder 2"/>
          <p:cNvSpPr>
            <a:spLocks noGrp="1"/>
          </p:cNvSpPr>
          <p:nvPr>
            <p:ph idx="1"/>
          </p:nvPr>
        </p:nvSpPr>
        <p:spPr>
          <a:xfrm>
            <a:off x="1069848" y="1232034"/>
            <a:ext cx="10058400" cy="4940166"/>
          </a:xfrm>
        </p:spPr>
        <p:txBody>
          <a:bodyPr>
            <a:noAutofit/>
          </a:bodyPr>
          <a:lstStyle/>
          <a:p>
            <a:pPr marL="0" indent="0" algn="ctr">
              <a:buNone/>
            </a:pPr>
            <a:r>
              <a:rPr lang="en-US" dirty="0" err="1">
                <a:solidFill>
                  <a:schemeClr val="accent1"/>
                </a:solidFill>
              </a:rPr>
              <a:t>beq</a:t>
            </a:r>
            <a:r>
              <a:rPr lang="en-US" dirty="0">
                <a:solidFill>
                  <a:schemeClr val="accent1"/>
                </a:solidFill>
              </a:rPr>
              <a:t> $t1, $s2, 1000 </a:t>
            </a:r>
            <a:r>
              <a:rPr lang="en-US" dirty="0"/>
              <a:t>(I-type problem because of direct constant)</a:t>
            </a:r>
          </a:p>
          <a:p>
            <a:r>
              <a:rPr lang="en-US" dirty="0"/>
              <a:t>So structure is “opcode (6 bits) | </a:t>
            </a:r>
            <a:r>
              <a:rPr lang="en-US" dirty="0" err="1"/>
              <a:t>rs</a:t>
            </a:r>
            <a:r>
              <a:rPr lang="en-US" dirty="0"/>
              <a:t> (5 bits) | </a:t>
            </a:r>
            <a:r>
              <a:rPr lang="en-US" dirty="0" err="1"/>
              <a:t>rt</a:t>
            </a:r>
            <a:r>
              <a:rPr lang="en-US" dirty="0"/>
              <a:t> (5 bits) | offset (16 bits)”</a:t>
            </a:r>
          </a:p>
          <a:p>
            <a:pPr marL="617220" lvl="1" indent="-342900">
              <a:buFont typeface="+mj-lt"/>
              <a:buAutoNum type="arabicPeriod"/>
            </a:pPr>
            <a:r>
              <a:rPr lang="en-US" sz="2000" dirty="0" err="1"/>
              <a:t>Beq</a:t>
            </a:r>
            <a:r>
              <a:rPr lang="en-US" sz="2000" dirty="0"/>
              <a:t> = 000100</a:t>
            </a:r>
          </a:p>
          <a:p>
            <a:pPr marL="617220" lvl="1" indent="-342900">
              <a:buFont typeface="+mj-lt"/>
              <a:buAutoNum type="arabicPeriod"/>
            </a:pPr>
            <a:r>
              <a:rPr lang="en-US" sz="2000" dirty="0"/>
              <a:t>T1 = 9 = 01001</a:t>
            </a:r>
          </a:p>
          <a:p>
            <a:pPr marL="617220" lvl="1" indent="-342900">
              <a:buFont typeface="+mj-lt"/>
              <a:buAutoNum type="arabicPeriod"/>
            </a:pPr>
            <a:r>
              <a:rPr lang="en-US" sz="2000" dirty="0"/>
              <a:t>s2 = 18 =  10010</a:t>
            </a:r>
          </a:p>
          <a:p>
            <a:pPr marL="617220" lvl="1" indent="-342900">
              <a:buFont typeface="+mj-lt"/>
              <a:buAutoNum type="arabicPeriod"/>
            </a:pPr>
            <a:r>
              <a:rPr lang="en-US" sz="2000" dirty="0"/>
              <a:t>1000 = 0000001111101000</a:t>
            </a:r>
          </a:p>
          <a:p>
            <a:r>
              <a:rPr lang="en-US" dirty="0"/>
              <a:t>Machine instruction for I-type = 000100 01001 10010 0000001111101000 = 0x113203E8 Hex (Ans.)</a:t>
            </a:r>
            <a:br>
              <a:rPr lang="en-US" dirty="0"/>
            </a:br>
            <a:endParaRPr lang="en-US" sz="2000" dirty="0"/>
          </a:p>
        </p:txBody>
      </p:sp>
      <p:sp>
        <p:nvSpPr>
          <p:cNvPr id="4" name="Slide Number Placeholder 3"/>
          <p:cNvSpPr>
            <a:spLocks noGrp="1"/>
          </p:cNvSpPr>
          <p:nvPr>
            <p:ph type="sldNum" sz="quarter" idx="12"/>
          </p:nvPr>
        </p:nvSpPr>
        <p:spPr/>
        <p:txBody>
          <a:bodyPr/>
          <a:lstStyle/>
          <a:p>
            <a:fld id="{380846C1-CD93-4AE4-8DA9-0A1941B6C5F9}" type="slidenum">
              <a:rPr lang="en-US" smtClean="0"/>
              <a:t>41</a:t>
            </a:fld>
            <a:endParaRPr lang="en-US"/>
          </a:p>
        </p:txBody>
      </p:sp>
    </p:spTree>
    <p:extLst>
      <p:ext uri="{BB962C8B-B14F-4D97-AF65-F5344CB8AC3E}">
        <p14:creationId xmlns:p14="http://schemas.microsoft.com/office/powerpoint/2010/main" val="227517161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69848" y="484632"/>
            <a:ext cx="10058400" cy="612648"/>
          </a:xfrm>
        </p:spPr>
        <p:txBody>
          <a:bodyPr>
            <a:normAutofit/>
          </a:bodyPr>
          <a:lstStyle/>
          <a:p>
            <a:r>
              <a:rPr lang="en-US" sz="2800" b="1" dirty="0"/>
              <a:t>MIPS register mapping: </a:t>
            </a:r>
            <a:r>
              <a:rPr lang="en-US" sz="2800" b="1" dirty="0" err="1"/>
              <a:t>EXamples</a:t>
            </a:r>
            <a:endParaRPr lang="en-US" sz="2800" b="1" dirty="0"/>
          </a:p>
        </p:txBody>
      </p:sp>
      <p:sp>
        <p:nvSpPr>
          <p:cNvPr id="3" name="Content Placeholder 2"/>
          <p:cNvSpPr>
            <a:spLocks noGrp="1"/>
          </p:cNvSpPr>
          <p:nvPr>
            <p:ph idx="1"/>
          </p:nvPr>
        </p:nvSpPr>
        <p:spPr>
          <a:xfrm>
            <a:off x="1069848" y="1232034"/>
            <a:ext cx="10058400" cy="4940166"/>
          </a:xfrm>
        </p:spPr>
        <p:txBody>
          <a:bodyPr>
            <a:noAutofit/>
          </a:bodyPr>
          <a:lstStyle/>
          <a:p>
            <a:pPr marL="0" indent="0" algn="ctr" fontAlgn="base">
              <a:buNone/>
            </a:pPr>
            <a:r>
              <a:rPr lang="en-US" b="1" dirty="0">
                <a:solidFill>
                  <a:schemeClr val="accent1"/>
                </a:solidFill>
              </a:rPr>
              <a:t>SLL (Shift Left Logical)</a:t>
            </a:r>
            <a:r>
              <a:rPr lang="en-US" dirty="0">
                <a:solidFill>
                  <a:schemeClr val="accent1"/>
                </a:solidFill>
              </a:rPr>
              <a:t> - </a:t>
            </a:r>
            <a:r>
              <a:rPr lang="en-US" b="1" dirty="0">
                <a:solidFill>
                  <a:schemeClr val="accent1"/>
                </a:solidFill>
              </a:rPr>
              <a:t>R-type Instruction</a:t>
            </a:r>
            <a:r>
              <a:rPr lang="en-US" dirty="0">
                <a:solidFill>
                  <a:schemeClr val="accent1"/>
                </a:solidFill>
              </a:rPr>
              <a:t>:</a:t>
            </a:r>
            <a:r>
              <a:rPr lang="en-US" b="1" dirty="0">
                <a:solidFill>
                  <a:schemeClr val="accent1"/>
                </a:solidFill>
              </a:rPr>
              <a:t> </a:t>
            </a:r>
            <a:r>
              <a:rPr lang="en-US" b="1" dirty="0" err="1">
                <a:solidFill>
                  <a:schemeClr val="accent1"/>
                </a:solidFill>
              </a:rPr>
              <a:t>sll</a:t>
            </a:r>
            <a:r>
              <a:rPr lang="en-US" b="1" dirty="0">
                <a:solidFill>
                  <a:schemeClr val="accent1"/>
                </a:solidFill>
              </a:rPr>
              <a:t> $t0, $t1, 5</a:t>
            </a:r>
            <a:endParaRPr lang="en-US" dirty="0">
              <a:solidFill>
                <a:schemeClr val="accent1"/>
              </a:solidFill>
            </a:endParaRPr>
          </a:p>
          <a:p>
            <a:r>
              <a:rPr lang="en-US" dirty="0"/>
              <a:t>Field -  opcode (6) | </a:t>
            </a:r>
            <a:r>
              <a:rPr lang="en-US" dirty="0" err="1"/>
              <a:t>rs</a:t>
            </a:r>
            <a:r>
              <a:rPr lang="en-US" dirty="0"/>
              <a:t> (5) | </a:t>
            </a:r>
            <a:r>
              <a:rPr lang="en-US" dirty="0" err="1"/>
              <a:t>rt</a:t>
            </a:r>
            <a:r>
              <a:rPr lang="en-US" dirty="0"/>
              <a:t> (5) | </a:t>
            </a:r>
            <a:r>
              <a:rPr lang="en-US" dirty="0" err="1"/>
              <a:t>rd</a:t>
            </a:r>
            <a:r>
              <a:rPr lang="en-US" dirty="0"/>
              <a:t> (5) | </a:t>
            </a:r>
            <a:r>
              <a:rPr lang="en-US" dirty="0" err="1"/>
              <a:t>shamt</a:t>
            </a:r>
            <a:r>
              <a:rPr lang="en-US" dirty="0"/>
              <a:t> (5) | </a:t>
            </a:r>
            <a:r>
              <a:rPr lang="en-US" dirty="0" err="1"/>
              <a:t>funct</a:t>
            </a:r>
            <a:r>
              <a:rPr lang="en-US" dirty="0"/>
              <a:t> (6)</a:t>
            </a:r>
          </a:p>
          <a:p>
            <a:pPr marL="617220" lvl="1" indent="-342900">
              <a:buFont typeface="+mj-lt"/>
              <a:buAutoNum type="arabicPeriod"/>
            </a:pPr>
            <a:r>
              <a:rPr lang="en-US" sz="2000" dirty="0"/>
              <a:t>opcode -&gt; Operation code (always 0 for R-type) -&gt; 000000</a:t>
            </a:r>
          </a:p>
          <a:p>
            <a:pPr marL="617220" lvl="1" indent="-342900">
              <a:buFont typeface="+mj-lt"/>
              <a:buAutoNum type="arabicPeriod"/>
            </a:pPr>
            <a:r>
              <a:rPr lang="en-US" sz="2000" dirty="0" err="1"/>
              <a:t>Rs</a:t>
            </a:r>
            <a:r>
              <a:rPr lang="en-US" sz="2000" dirty="0"/>
              <a:t> -&gt; Source register (Not used in SLL) -&gt; 00000</a:t>
            </a:r>
          </a:p>
          <a:p>
            <a:pPr marL="617220" lvl="1" indent="-342900">
              <a:buFont typeface="+mj-lt"/>
              <a:buAutoNum type="arabicPeriod"/>
            </a:pPr>
            <a:r>
              <a:rPr lang="en-US" sz="2000" dirty="0" err="1"/>
              <a:t>Rt</a:t>
            </a:r>
            <a:r>
              <a:rPr lang="en-US" sz="2000" dirty="0"/>
              <a:t> -&gt; Second source register -&gt; $t1 -&gt; 01001</a:t>
            </a:r>
          </a:p>
          <a:p>
            <a:pPr marL="617220" lvl="1" indent="-342900">
              <a:buFont typeface="+mj-lt"/>
              <a:buAutoNum type="arabicPeriod"/>
            </a:pPr>
            <a:r>
              <a:rPr lang="en-US" sz="2000" dirty="0"/>
              <a:t>Rd -&gt; Destination register -&gt; $t0 -&gt; 01000</a:t>
            </a:r>
          </a:p>
          <a:p>
            <a:pPr marL="617220" lvl="1" indent="-342900">
              <a:buFont typeface="+mj-lt"/>
              <a:buAutoNum type="arabicPeriod"/>
            </a:pPr>
            <a:r>
              <a:rPr lang="en-US" sz="2000" dirty="0" err="1"/>
              <a:t>Shamt</a:t>
            </a:r>
            <a:r>
              <a:rPr lang="en-US" sz="2000" dirty="0"/>
              <a:t> -&gt; Shift amount -&gt; 5 -&gt; 00101</a:t>
            </a:r>
          </a:p>
          <a:p>
            <a:pPr marL="617220" lvl="1" indent="-342900">
              <a:buFont typeface="+mj-lt"/>
              <a:buAutoNum type="arabicPeriod"/>
            </a:pPr>
            <a:r>
              <a:rPr lang="en-US" sz="2000" dirty="0" err="1"/>
              <a:t>Funct</a:t>
            </a:r>
            <a:r>
              <a:rPr lang="en-US" sz="2000" dirty="0"/>
              <a:t> -&gt; Function code for SLL -&gt; 000000</a:t>
            </a:r>
          </a:p>
          <a:p>
            <a:r>
              <a:rPr lang="en-US" dirty="0"/>
              <a:t>Binary Code: 000000 00000 01001 01000 00101 000000</a:t>
            </a:r>
          </a:p>
          <a:p>
            <a:r>
              <a:rPr lang="en-US" dirty="0"/>
              <a:t>HEX Code: 0x00094140 (Ans.)</a:t>
            </a:r>
          </a:p>
        </p:txBody>
      </p:sp>
      <p:sp>
        <p:nvSpPr>
          <p:cNvPr id="4" name="Slide Number Placeholder 3"/>
          <p:cNvSpPr>
            <a:spLocks noGrp="1"/>
          </p:cNvSpPr>
          <p:nvPr>
            <p:ph type="sldNum" sz="quarter" idx="12"/>
          </p:nvPr>
        </p:nvSpPr>
        <p:spPr/>
        <p:txBody>
          <a:bodyPr/>
          <a:lstStyle/>
          <a:p>
            <a:fld id="{380846C1-CD93-4AE4-8DA9-0A1941B6C5F9}" type="slidenum">
              <a:rPr lang="en-US" smtClean="0"/>
              <a:t>42</a:t>
            </a:fld>
            <a:endParaRPr lang="en-US"/>
          </a:p>
        </p:txBody>
      </p:sp>
    </p:spTree>
    <p:extLst>
      <p:ext uri="{BB962C8B-B14F-4D97-AF65-F5344CB8AC3E}">
        <p14:creationId xmlns:p14="http://schemas.microsoft.com/office/powerpoint/2010/main" val="98972846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69848" y="484632"/>
            <a:ext cx="10058400" cy="612648"/>
          </a:xfrm>
        </p:spPr>
        <p:txBody>
          <a:bodyPr>
            <a:normAutofit/>
          </a:bodyPr>
          <a:lstStyle/>
          <a:p>
            <a:r>
              <a:rPr lang="en-US" sz="2800" b="1" dirty="0"/>
              <a:t>Important questions: 1</a:t>
            </a:r>
          </a:p>
        </p:txBody>
      </p:sp>
      <p:graphicFrame>
        <p:nvGraphicFramePr>
          <p:cNvPr id="5" name="Content Placeholder 4"/>
          <p:cNvGraphicFramePr>
            <a:graphicFrameLocks noGrp="1"/>
          </p:cNvGraphicFramePr>
          <p:nvPr>
            <p:ph idx="1"/>
            <p:extLst>
              <p:ext uri="{D42A27DB-BD31-4B8C-83A1-F6EECF244321}">
                <p14:modId xmlns:p14="http://schemas.microsoft.com/office/powerpoint/2010/main" val="1815845653"/>
              </p:ext>
            </p:extLst>
          </p:nvPr>
        </p:nvGraphicFramePr>
        <p:xfrm>
          <a:off x="1069975" y="1231900"/>
          <a:ext cx="10058400" cy="2651760"/>
        </p:xfrm>
        <a:graphic>
          <a:graphicData uri="http://schemas.openxmlformats.org/drawingml/2006/table">
            <a:tbl>
              <a:tblPr firstRow="1" bandRow="1">
                <a:tableStyleId>{5C22544A-7EE6-4342-B048-85BDC9FD1C3A}</a:tableStyleId>
              </a:tblPr>
              <a:tblGrid>
                <a:gridCol w="2514600">
                  <a:extLst>
                    <a:ext uri="{9D8B030D-6E8A-4147-A177-3AD203B41FA5}">
                      <a16:colId xmlns:a16="http://schemas.microsoft.com/office/drawing/2014/main" val="20000"/>
                    </a:ext>
                  </a:extLst>
                </a:gridCol>
                <a:gridCol w="2514600">
                  <a:extLst>
                    <a:ext uri="{9D8B030D-6E8A-4147-A177-3AD203B41FA5}">
                      <a16:colId xmlns:a16="http://schemas.microsoft.com/office/drawing/2014/main" val="20001"/>
                    </a:ext>
                  </a:extLst>
                </a:gridCol>
                <a:gridCol w="2514600">
                  <a:extLst>
                    <a:ext uri="{9D8B030D-6E8A-4147-A177-3AD203B41FA5}">
                      <a16:colId xmlns:a16="http://schemas.microsoft.com/office/drawing/2014/main" val="20002"/>
                    </a:ext>
                  </a:extLst>
                </a:gridCol>
                <a:gridCol w="2514600">
                  <a:extLst>
                    <a:ext uri="{9D8B030D-6E8A-4147-A177-3AD203B41FA5}">
                      <a16:colId xmlns:a16="http://schemas.microsoft.com/office/drawing/2014/main" val="20003"/>
                    </a:ext>
                  </a:extLst>
                </a:gridCol>
              </a:tblGrid>
              <a:tr h="370840">
                <a:tc>
                  <a:txBody>
                    <a:bodyPr/>
                    <a:lstStyle/>
                    <a:p>
                      <a:r>
                        <a:rPr lang="en-US" sz="2400" dirty="0"/>
                        <a:t>Class</a:t>
                      </a:r>
                    </a:p>
                  </a:txBody>
                  <a:tcPr/>
                </a:tc>
                <a:tc>
                  <a:txBody>
                    <a:bodyPr/>
                    <a:lstStyle/>
                    <a:p>
                      <a:r>
                        <a:rPr lang="en-US" sz="2400" dirty="0"/>
                        <a:t>CPI</a:t>
                      </a:r>
                    </a:p>
                  </a:txBody>
                  <a:tcPr/>
                </a:tc>
                <a:tc>
                  <a:txBody>
                    <a:bodyPr/>
                    <a:lstStyle/>
                    <a:p>
                      <a:r>
                        <a:rPr lang="en-US" sz="2400" dirty="0"/>
                        <a:t>Compiler A</a:t>
                      </a:r>
                    </a:p>
                  </a:txBody>
                  <a:tcPr/>
                </a:tc>
                <a:tc>
                  <a:txBody>
                    <a:bodyPr/>
                    <a:lstStyle/>
                    <a:p>
                      <a:r>
                        <a:rPr lang="en-US" sz="2400" dirty="0"/>
                        <a:t>Compiler B</a:t>
                      </a:r>
                    </a:p>
                  </a:txBody>
                  <a:tcPr/>
                </a:tc>
                <a:extLst>
                  <a:ext uri="{0D108BD9-81ED-4DB2-BD59-A6C34878D82A}">
                    <a16:rowId xmlns:a16="http://schemas.microsoft.com/office/drawing/2014/main" val="10000"/>
                  </a:ext>
                </a:extLst>
              </a:tr>
              <a:tr h="370840">
                <a:tc>
                  <a:txBody>
                    <a:bodyPr/>
                    <a:lstStyle/>
                    <a:p>
                      <a:r>
                        <a:rPr lang="en-US" sz="2400" dirty="0"/>
                        <a:t>A</a:t>
                      </a:r>
                    </a:p>
                  </a:txBody>
                  <a:tcPr/>
                </a:tc>
                <a:tc>
                  <a:txBody>
                    <a:bodyPr/>
                    <a:lstStyle/>
                    <a:p>
                      <a:r>
                        <a:rPr lang="en-US" sz="2400" dirty="0"/>
                        <a:t>1</a:t>
                      </a:r>
                    </a:p>
                  </a:txBody>
                  <a:tcPr/>
                </a:tc>
                <a:tc>
                  <a:txBody>
                    <a:bodyPr/>
                    <a:lstStyle/>
                    <a:p>
                      <a:r>
                        <a:rPr lang="en-US" sz="2400" dirty="0"/>
                        <a:t>5</a:t>
                      </a:r>
                    </a:p>
                  </a:txBody>
                  <a:tcPr/>
                </a:tc>
                <a:tc>
                  <a:txBody>
                    <a:bodyPr/>
                    <a:lstStyle/>
                    <a:p>
                      <a:r>
                        <a:rPr lang="en-US" sz="2400" dirty="0"/>
                        <a:t>4</a:t>
                      </a:r>
                    </a:p>
                  </a:txBody>
                  <a:tcPr/>
                </a:tc>
                <a:extLst>
                  <a:ext uri="{0D108BD9-81ED-4DB2-BD59-A6C34878D82A}">
                    <a16:rowId xmlns:a16="http://schemas.microsoft.com/office/drawing/2014/main" val="10001"/>
                  </a:ext>
                </a:extLst>
              </a:tr>
              <a:tr h="370840">
                <a:tc>
                  <a:txBody>
                    <a:bodyPr/>
                    <a:lstStyle/>
                    <a:p>
                      <a:r>
                        <a:rPr lang="en-US" sz="2400" dirty="0"/>
                        <a:t>B</a:t>
                      </a:r>
                    </a:p>
                  </a:txBody>
                  <a:tcPr/>
                </a:tc>
                <a:tc>
                  <a:txBody>
                    <a:bodyPr/>
                    <a:lstStyle/>
                    <a:p>
                      <a:r>
                        <a:rPr lang="en-US" sz="2400" dirty="0"/>
                        <a:t>2</a:t>
                      </a:r>
                    </a:p>
                  </a:txBody>
                  <a:tcPr/>
                </a:tc>
                <a:tc>
                  <a:txBody>
                    <a:bodyPr/>
                    <a:lstStyle/>
                    <a:p>
                      <a:r>
                        <a:rPr lang="en-US" sz="2400" dirty="0"/>
                        <a:t>2</a:t>
                      </a:r>
                    </a:p>
                  </a:txBody>
                  <a:tcPr/>
                </a:tc>
                <a:tc>
                  <a:txBody>
                    <a:bodyPr/>
                    <a:lstStyle/>
                    <a:p>
                      <a:r>
                        <a:rPr lang="en-US" sz="2400" dirty="0"/>
                        <a:t>3</a:t>
                      </a:r>
                    </a:p>
                  </a:txBody>
                  <a:tcPr/>
                </a:tc>
                <a:extLst>
                  <a:ext uri="{0D108BD9-81ED-4DB2-BD59-A6C34878D82A}">
                    <a16:rowId xmlns:a16="http://schemas.microsoft.com/office/drawing/2014/main" val="10002"/>
                  </a:ext>
                </a:extLst>
              </a:tr>
              <a:tr h="370840">
                <a:tc>
                  <a:txBody>
                    <a:bodyPr/>
                    <a:lstStyle/>
                    <a:p>
                      <a:r>
                        <a:rPr lang="en-US" sz="2400" dirty="0"/>
                        <a:t>C</a:t>
                      </a:r>
                    </a:p>
                  </a:txBody>
                  <a:tcPr/>
                </a:tc>
                <a:tc>
                  <a:txBody>
                    <a:bodyPr/>
                    <a:lstStyle/>
                    <a:p>
                      <a:r>
                        <a:rPr lang="en-US" sz="2400" dirty="0"/>
                        <a:t>3</a:t>
                      </a:r>
                    </a:p>
                  </a:txBody>
                  <a:tcPr/>
                </a:tc>
                <a:tc>
                  <a:txBody>
                    <a:bodyPr/>
                    <a:lstStyle/>
                    <a:p>
                      <a:r>
                        <a:rPr lang="en-US" sz="2400" dirty="0"/>
                        <a:t>1</a:t>
                      </a:r>
                    </a:p>
                  </a:txBody>
                  <a:tcPr/>
                </a:tc>
                <a:tc>
                  <a:txBody>
                    <a:bodyPr/>
                    <a:lstStyle/>
                    <a:p>
                      <a:r>
                        <a:rPr lang="en-US" sz="2400" dirty="0"/>
                        <a:t>2</a:t>
                      </a:r>
                    </a:p>
                  </a:txBody>
                  <a:tcPr/>
                </a:tc>
                <a:extLst>
                  <a:ext uri="{0D108BD9-81ED-4DB2-BD59-A6C34878D82A}">
                    <a16:rowId xmlns:a16="http://schemas.microsoft.com/office/drawing/2014/main" val="10003"/>
                  </a:ext>
                </a:extLst>
              </a:tr>
              <a:tr h="370840">
                <a:tc gridSpan="4">
                  <a:txBody>
                    <a:bodyPr/>
                    <a:lstStyle/>
                    <a:p>
                      <a:r>
                        <a:rPr lang="en-US" sz="2400" dirty="0"/>
                        <a:t>Assuming a 2.5 GHz clock, calculate which compiler produces</a:t>
                      </a:r>
                      <a:r>
                        <a:rPr lang="en-US" sz="2400" baseline="0" dirty="0"/>
                        <a:t> faster codes?</a:t>
                      </a:r>
                      <a:endParaRPr lang="en-US" sz="2400" dirty="0"/>
                    </a:p>
                  </a:txBody>
                  <a:tcPr/>
                </a:tc>
                <a:tc hMerge="1">
                  <a:txBody>
                    <a:bodyPr/>
                    <a:lstStyle/>
                    <a:p>
                      <a:endParaRPr lang="en-US" dirty="0"/>
                    </a:p>
                  </a:txBody>
                  <a:tcPr/>
                </a:tc>
                <a:tc hMerge="1">
                  <a:txBody>
                    <a:bodyPr/>
                    <a:lstStyle/>
                    <a:p>
                      <a:endParaRPr lang="en-US" dirty="0"/>
                    </a:p>
                  </a:txBody>
                  <a:tcPr/>
                </a:tc>
                <a:tc hMerge="1">
                  <a:txBody>
                    <a:bodyPr/>
                    <a:lstStyle/>
                    <a:p>
                      <a:endParaRPr lang="en-US" dirty="0"/>
                    </a:p>
                  </a:txBody>
                  <a:tcPr/>
                </a:tc>
                <a:extLst>
                  <a:ext uri="{0D108BD9-81ED-4DB2-BD59-A6C34878D82A}">
                    <a16:rowId xmlns:a16="http://schemas.microsoft.com/office/drawing/2014/main" val="10004"/>
                  </a:ext>
                </a:extLst>
              </a:tr>
            </a:tbl>
          </a:graphicData>
        </a:graphic>
      </p:graphicFrame>
      <p:sp>
        <p:nvSpPr>
          <p:cNvPr id="4" name="Slide Number Placeholder 3"/>
          <p:cNvSpPr>
            <a:spLocks noGrp="1"/>
          </p:cNvSpPr>
          <p:nvPr>
            <p:ph type="sldNum" sz="quarter" idx="12"/>
          </p:nvPr>
        </p:nvSpPr>
        <p:spPr/>
        <p:txBody>
          <a:bodyPr/>
          <a:lstStyle/>
          <a:p>
            <a:fld id="{380846C1-CD93-4AE4-8DA9-0A1941B6C5F9}" type="slidenum">
              <a:rPr lang="en-US" smtClean="0"/>
              <a:t>43</a:t>
            </a:fld>
            <a:endParaRPr lang="en-US"/>
          </a:p>
        </p:txBody>
      </p:sp>
    </p:spTree>
    <p:extLst>
      <p:ext uri="{BB962C8B-B14F-4D97-AF65-F5344CB8AC3E}">
        <p14:creationId xmlns:p14="http://schemas.microsoft.com/office/powerpoint/2010/main" val="45948555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69848" y="484632"/>
            <a:ext cx="10058400" cy="612648"/>
          </a:xfrm>
        </p:spPr>
        <p:txBody>
          <a:bodyPr>
            <a:normAutofit/>
          </a:bodyPr>
          <a:lstStyle/>
          <a:p>
            <a:r>
              <a:rPr lang="en-US" sz="2800" b="1" dirty="0"/>
              <a:t>Important questions: 1</a:t>
            </a:r>
          </a:p>
        </p:txBody>
      </p:sp>
      <p:graphicFrame>
        <p:nvGraphicFramePr>
          <p:cNvPr id="5" name="Content Placeholder 4"/>
          <p:cNvGraphicFramePr>
            <a:graphicFrameLocks noGrp="1"/>
          </p:cNvGraphicFramePr>
          <p:nvPr>
            <p:ph idx="1"/>
            <p:extLst>
              <p:ext uri="{D42A27DB-BD31-4B8C-83A1-F6EECF244321}">
                <p14:modId xmlns:p14="http://schemas.microsoft.com/office/powerpoint/2010/main" val="1843098747"/>
              </p:ext>
            </p:extLst>
          </p:nvPr>
        </p:nvGraphicFramePr>
        <p:xfrm>
          <a:off x="1069975" y="1231900"/>
          <a:ext cx="10058400" cy="1854200"/>
        </p:xfrm>
        <a:graphic>
          <a:graphicData uri="http://schemas.openxmlformats.org/drawingml/2006/table">
            <a:tbl>
              <a:tblPr firstRow="1" bandRow="1">
                <a:tableStyleId>{5C22544A-7EE6-4342-B048-85BDC9FD1C3A}</a:tableStyleId>
              </a:tblPr>
              <a:tblGrid>
                <a:gridCol w="2514600">
                  <a:extLst>
                    <a:ext uri="{9D8B030D-6E8A-4147-A177-3AD203B41FA5}">
                      <a16:colId xmlns:a16="http://schemas.microsoft.com/office/drawing/2014/main" val="20000"/>
                    </a:ext>
                  </a:extLst>
                </a:gridCol>
                <a:gridCol w="2514600">
                  <a:extLst>
                    <a:ext uri="{9D8B030D-6E8A-4147-A177-3AD203B41FA5}">
                      <a16:colId xmlns:a16="http://schemas.microsoft.com/office/drawing/2014/main" val="20001"/>
                    </a:ext>
                  </a:extLst>
                </a:gridCol>
                <a:gridCol w="2514600">
                  <a:extLst>
                    <a:ext uri="{9D8B030D-6E8A-4147-A177-3AD203B41FA5}">
                      <a16:colId xmlns:a16="http://schemas.microsoft.com/office/drawing/2014/main" val="20002"/>
                    </a:ext>
                  </a:extLst>
                </a:gridCol>
                <a:gridCol w="2514600">
                  <a:extLst>
                    <a:ext uri="{9D8B030D-6E8A-4147-A177-3AD203B41FA5}">
                      <a16:colId xmlns:a16="http://schemas.microsoft.com/office/drawing/2014/main" val="20003"/>
                    </a:ext>
                  </a:extLst>
                </a:gridCol>
              </a:tblGrid>
              <a:tr h="370840">
                <a:tc>
                  <a:txBody>
                    <a:bodyPr/>
                    <a:lstStyle/>
                    <a:p>
                      <a:r>
                        <a:rPr lang="en-US" sz="1600" dirty="0"/>
                        <a:t>Class</a:t>
                      </a:r>
                    </a:p>
                  </a:txBody>
                  <a:tcPr/>
                </a:tc>
                <a:tc>
                  <a:txBody>
                    <a:bodyPr/>
                    <a:lstStyle/>
                    <a:p>
                      <a:r>
                        <a:rPr lang="en-US" sz="1600" dirty="0"/>
                        <a:t>CPI</a:t>
                      </a:r>
                    </a:p>
                  </a:txBody>
                  <a:tcPr/>
                </a:tc>
                <a:tc>
                  <a:txBody>
                    <a:bodyPr/>
                    <a:lstStyle/>
                    <a:p>
                      <a:r>
                        <a:rPr lang="en-US" sz="1600" dirty="0"/>
                        <a:t>Compiler A</a:t>
                      </a:r>
                    </a:p>
                  </a:txBody>
                  <a:tcPr/>
                </a:tc>
                <a:tc>
                  <a:txBody>
                    <a:bodyPr/>
                    <a:lstStyle/>
                    <a:p>
                      <a:r>
                        <a:rPr lang="en-US" sz="1600" dirty="0"/>
                        <a:t>Compiler B</a:t>
                      </a:r>
                    </a:p>
                  </a:txBody>
                  <a:tcPr/>
                </a:tc>
                <a:extLst>
                  <a:ext uri="{0D108BD9-81ED-4DB2-BD59-A6C34878D82A}">
                    <a16:rowId xmlns:a16="http://schemas.microsoft.com/office/drawing/2014/main" val="10000"/>
                  </a:ext>
                </a:extLst>
              </a:tr>
              <a:tr h="370840">
                <a:tc>
                  <a:txBody>
                    <a:bodyPr/>
                    <a:lstStyle/>
                    <a:p>
                      <a:r>
                        <a:rPr lang="en-US" sz="1600" dirty="0"/>
                        <a:t>A</a:t>
                      </a:r>
                    </a:p>
                  </a:txBody>
                  <a:tcPr/>
                </a:tc>
                <a:tc>
                  <a:txBody>
                    <a:bodyPr/>
                    <a:lstStyle/>
                    <a:p>
                      <a:r>
                        <a:rPr lang="en-US" sz="1600" dirty="0"/>
                        <a:t>1</a:t>
                      </a:r>
                    </a:p>
                  </a:txBody>
                  <a:tcPr/>
                </a:tc>
                <a:tc>
                  <a:txBody>
                    <a:bodyPr/>
                    <a:lstStyle/>
                    <a:p>
                      <a:r>
                        <a:rPr lang="en-US" sz="1600" dirty="0"/>
                        <a:t>5</a:t>
                      </a:r>
                    </a:p>
                  </a:txBody>
                  <a:tcPr/>
                </a:tc>
                <a:tc>
                  <a:txBody>
                    <a:bodyPr/>
                    <a:lstStyle/>
                    <a:p>
                      <a:r>
                        <a:rPr lang="en-US" sz="1600" dirty="0"/>
                        <a:t>4</a:t>
                      </a:r>
                    </a:p>
                  </a:txBody>
                  <a:tcPr/>
                </a:tc>
                <a:extLst>
                  <a:ext uri="{0D108BD9-81ED-4DB2-BD59-A6C34878D82A}">
                    <a16:rowId xmlns:a16="http://schemas.microsoft.com/office/drawing/2014/main" val="10001"/>
                  </a:ext>
                </a:extLst>
              </a:tr>
              <a:tr h="370840">
                <a:tc>
                  <a:txBody>
                    <a:bodyPr/>
                    <a:lstStyle/>
                    <a:p>
                      <a:r>
                        <a:rPr lang="en-US" sz="1600" dirty="0"/>
                        <a:t>B</a:t>
                      </a:r>
                    </a:p>
                  </a:txBody>
                  <a:tcPr/>
                </a:tc>
                <a:tc>
                  <a:txBody>
                    <a:bodyPr/>
                    <a:lstStyle/>
                    <a:p>
                      <a:r>
                        <a:rPr lang="en-US" sz="1600" dirty="0"/>
                        <a:t>2</a:t>
                      </a:r>
                    </a:p>
                  </a:txBody>
                  <a:tcPr/>
                </a:tc>
                <a:tc>
                  <a:txBody>
                    <a:bodyPr/>
                    <a:lstStyle/>
                    <a:p>
                      <a:r>
                        <a:rPr lang="en-US" sz="1600" dirty="0"/>
                        <a:t>2</a:t>
                      </a:r>
                    </a:p>
                  </a:txBody>
                  <a:tcPr/>
                </a:tc>
                <a:tc>
                  <a:txBody>
                    <a:bodyPr/>
                    <a:lstStyle/>
                    <a:p>
                      <a:r>
                        <a:rPr lang="en-US" sz="1600" dirty="0"/>
                        <a:t>3</a:t>
                      </a:r>
                    </a:p>
                  </a:txBody>
                  <a:tcPr/>
                </a:tc>
                <a:extLst>
                  <a:ext uri="{0D108BD9-81ED-4DB2-BD59-A6C34878D82A}">
                    <a16:rowId xmlns:a16="http://schemas.microsoft.com/office/drawing/2014/main" val="10002"/>
                  </a:ext>
                </a:extLst>
              </a:tr>
              <a:tr h="370840">
                <a:tc>
                  <a:txBody>
                    <a:bodyPr/>
                    <a:lstStyle/>
                    <a:p>
                      <a:r>
                        <a:rPr lang="en-US" sz="1600" dirty="0"/>
                        <a:t>C</a:t>
                      </a:r>
                    </a:p>
                  </a:txBody>
                  <a:tcPr/>
                </a:tc>
                <a:tc>
                  <a:txBody>
                    <a:bodyPr/>
                    <a:lstStyle/>
                    <a:p>
                      <a:r>
                        <a:rPr lang="en-US" sz="1600" dirty="0"/>
                        <a:t>3</a:t>
                      </a:r>
                    </a:p>
                  </a:txBody>
                  <a:tcPr/>
                </a:tc>
                <a:tc>
                  <a:txBody>
                    <a:bodyPr/>
                    <a:lstStyle/>
                    <a:p>
                      <a:r>
                        <a:rPr lang="en-US" sz="1600" dirty="0"/>
                        <a:t>1</a:t>
                      </a:r>
                    </a:p>
                  </a:txBody>
                  <a:tcPr/>
                </a:tc>
                <a:tc>
                  <a:txBody>
                    <a:bodyPr/>
                    <a:lstStyle/>
                    <a:p>
                      <a:r>
                        <a:rPr lang="en-US" sz="1600" dirty="0"/>
                        <a:t>2</a:t>
                      </a:r>
                    </a:p>
                  </a:txBody>
                  <a:tcPr/>
                </a:tc>
                <a:extLst>
                  <a:ext uri="{0D108BD9-81ED-4DB2-BD59-A6C34878D82A}">
                    <a16:rowId xmlns:a16="http://schemas.microsoft.com/office/drawing/2014/main" val="10003"/>
                  </a:ext>
                </a:extLst>
              </a:tr>
              <a:tr h="370840">
                <a:tc gridSpan="4">
                  <a:txBody>
                    <a:bodyPr/>
                    <a:lstStyle/>
                    <a:p>
                      <a:r>
                        <a:rPr lang="en-US" sz="1600" dirty="0"/>
                        <a:t>Assuming a 2.5 GHz clock, calculate which compiler produces</a:t>
                      </a:r>
                      <a:r>
                        <a:rPr lang="en-US" sz="1600" baseline="0" dirty="0"/>
                        <a:t> faster codes?</a:t>
                      </a:r>
                      <a:endParaRPr lang="en-US" sz="1600" dirty="0"/>
                    </a:p>
                  </a:txBody>
                  <a:tcPr/>
                </a:tc>
                <a:tc hMerge="1">
                  <a:txBody>
                    <a:bodyPr/>
                    <a:lstStyle/>
                    <a:p>
                      <a:endParaRPr lang="en-US" dirty="0"/>
                    </a:p>
                  </a:txBody>
                  <a:tcPr/>
                </a:tc>
                <a:tc hMerge="1">
                  <a:txBody>
                    <a:bodyPr/>
                    <a:lstStyle/>
                    <a:p>
                      <a:endParaRPr lang="en-US" dirty="0"/>
                    </a:p>
                  </a:txBody>
                  <a:tcPr/>
                </a:tc>
                <a:tc hMerge="1">
                  <a:txBody>
                    <a:bodyPr/>
                    <a:lstStyle/>
                    <a:p>
                      <a:endParaRPr lang="en-US" dirty="0"/>
                    </a:p>
                  </a:txBody>
                  <a:tcPr/>
                </a:tc>
                <a:extLst>
                  <a:ext uri="{0D108BD9-81ED-4DB2-BD59-A6C34878D82A}">
                    <a16:rowId xmlns:a16="http://schemas.microsoft.com/office/drawing/2014/main" val="10004"/>
                  </a:ext>
                </a:extLst>
              </a:tr>
            </a:tbl>
          </a:graphicData>
        </a:graphic>
      </p:graphicFrame>
      <p:sp>
        <p:nvSpPr>
          <p:cNvPr id="4" name="Slide Number Placeholder 3"/>
          <p:cNvSpPr>
            <a:spLocks noGrp="1"/>
          </p:cNvSpPr>
          <p:nvPr>
            <p:ph type="sldNum" sz="quarter" idx="12"/>
          </p:nvPr>
        </p:nvSpPr>
        <p:spPr/>
        <p:txBody>
          <a:bodyPr/>
          <a:lstStyle/>
          <a:p>
            <a:fld id="{380846C1-CD93-4AE4-8DA9-0A1941B6C5F9}" type="slidenum">
              <a:rPr lang="en-US" smtClean="0"/>
              <a:t>44</a:t>
            </a:fld>
            <a:endParaRPr lang="en-US"/>
          </a:p>
        </p:txBody>
      </p:sp>
      <mc:AlternateContent xmlns:mc="http://schemas.openxmlformats.org/markup-compatibility/2006" xmlns:a14="http://schemas.microsoft.com/office/drawing/2010/main">
        <mc:Choice Requires="a14">
          <p:sp>
            <p:nvSpPr>
              <p:cNvPr id="3" name="TextBox 2"/>
              <p:cNvSpPr txBox="1"/>
              <p:nvPr/>
            </p:nvSpPr>
            <p:spPr>
              <a:xfrm>
                <a:off x="1069848" y="3445844"/>
                <a:ext cx="10058400" cy="1754326"/>
              </a:xfrm>
              <a:prstGeom prst="rect">
                <a:avLst/>
              </a:prstGeom>
              <a:noFill/>
            </p:spPr>
            <p:txBody>
              <a:bodyPr wrap="square" rtlCol="0">
                <a:spAutoFit/>
              </a:bodyPr>
              <a:lstStyle/>
              <a:p>
                <a:r>
                  <a:rPr lang="en-US" dirty="0"/>
                  <a:t>Compiler A’s Total CPI = (5x1)+(2x2)+(1x3) = 12 CPI</a:t>
                </a:r>
              </a:p>
              <a:p>
                <a:r>
                  <a:rPr lang="en-US" dirty="0"/>
                  <a:t>Compiler B’s Total CPI = (4x1)+(3x2)+(2x3) = 16 CPI</a:t>
                </a:r>
              </a:p>
              <a:p>
                <a:endParaRPr lang="en-US" dirty="0"/>
              </a:p>
              <a:p>
                <a:r>
                  <a:rPr lang="en-US" dirty="0"/>
                  <a:t>Compiler A’s execution time = 12 </a:t>
                </a:r>
                <a14:m>
                  <m:oMath xmlns:m="http://schemas.openxmlformats.org/officeDocument/2006/math">
                    <m:sSup>
                      <m:sSupPr>
                        <m:ctrlPr>
                          <a:rPr lang="en-US" i="1">
                            <a:latin typeface="Cambria Math" panose="02040503050406030204" pitchFamily="18" charset="0"/>
                          </a:rPr>
                        </m:ctrlPr>
                      </m:sSupPr>
                      <m:e>
                        <m:r>
                          <a:rPr lang="en-US" i="1">
                            <a:latin typeface="Cambria Math" panose="02040503050406030204" pitchFamily="18" charset="0"/>
                          </a:rPr>
                          <m:t>𝑥</m:t>
                        </m:r>
                        <m:r>
                          <a:rPr lang="en-US" i="1">
                            <a:latin typeface="Cambria Math" panose="02040503050406030204" pitchFamily="18" charset="0"/>
                          </a:rPr>
                          <m:t>10</m:t>
                        </m:r>
                      </m:e>
                      <m:sup>
                        <m:r>
                          <a:rPr lang="en-US" b="0" i="1" smtClean="0">
                            <a:latin typeface="Cambria Math" panose="02040503050406030204" pitchFamily="18" charset="0"/>
                          </a:rPr>
                          <m:t>6</m:t>
                        </m:r>
                      </m:sup>
                    </m:sSup>
                  </m:oMath>
                </a14:m>
                <a:r>
                  <a:rPr lang="en-US" dirty="0"/>
                  <a:t> / 2.5 </a:t>
                </a:r>
                <a14:m>
                  <m:oMath xmlns:m="http://schemas.openxmlformats.org/officeDocument/2006/math">
                    <m:sSup>
                      <m:sSupPr>
                        <m:ctrlPr>
                          <a:rPr lang="en-US" i="1" smtClean="0">
                            <a:latin typeface="Cambria Math" panose="02040503050406030204" pitchFamily="18" charset="0"/>
                          </a:rPr>
                        </m:ctrlPr>
                      </m:sSupPr>
                      <m:e>
                        <m:r>
                          <a:rPr lang="en-US" b="0" i="1" smtClean="0">
                            <a:latin typeface="Cambria Math" panose="02040503050406030204" pitchFamily="18" charset="0"/>
                          </a:rPr>
                          <m:t>𝑥</m:t>
                        </m:r>
                        <m:r>
                          <a:rPr lang="en-US" b="0" i="1" smtClean="0">
                            <a:latin typeface="Cambria Math" panose="02040503050406030204" pitchFamily="18" charset="0"/>
                          </a:rPr>
                          <m:t>10</m:t>
                        </m:r>
                      </m:e>
                      <m:sup>
                        <m:r>
                          <a:rPr lang="en-US" b="0" i="1" smtClean="0">
                            <a:latin typeface="Cambria Math" panose="02040503050406030204" pitchFamily="18" charset="0"/>
                          </a:rPr>
                          <m:t>9</m:t>
                        </m:r>
                      </m:sup>
                    </m:sSup>
                  </m:oMath>
                </a14:m>
                <a:r>
                  <a:rPr lang="en-US" dirty="0"/>
                  <a:t> = 0.0048 = 4.8 </a:t>
                </a:r>
                <a:r>
                  <a:rPr lang="en-US" dirty="0" err="1"/>
                  <a:t>ms</a:t>
                </a:r>
                <a:r>
                  <a:rPr lang="en-US" dirty="0"/>
                  <a:t> (Faster)</a:t>
                </a:r>
              </a:p>
              <a:p>
                <a:r>
                  <a:rPr lang="en-US" dirty="0"/>
                  <a:t>Compiler B’s execution time = 16 </a:t>
                </a:r>
                <a14:m>
                  <m:oMath xmlns:m="http://schemas.openxmlformats.org/officeDocument/2006/math">
                    <m:sSup>
                      <m:sSupPr>
                        <m:ctrlPr>
                          <a:rPr lang="en-US" i="1">
                            <a:latin typeface="Cambria Math" panose="02040503050406030204" pitchFamily="18" charset="0"/>
                          </a:rPr>
                        </m:ctrlPr>
                      </m:sSupPr>
                      <m:e>
                        <m:r>
                          <a:rPr lang="en-US" i="1">
                            <a:latin typeface="Cambria Math" panose="02040503050406030204" pitchFamily="18" charset="0"/>
                          </a:rPr>
                          <m:t>𝑥</m:t>
                        </m:r>
                        <m:r>
                          <a:rPr lang="en-US" i="1">
                            <a:latin typeface="Cambria Math" panose="02040503050406030204" pitchFamily="18" charset="0"/>
                          </a:rPr>
                          <m:t>10</m:t>
                        </m:r>
                      </m:e>
                      <m:sup>
                        <m:r>
                          <a:rPr lang="en-US" i="1">
                            <a:latin typeface="Cambria Math" panose="02040503050406030204" pitchFamily="18" charset="0"/>
                          </a:rPr>
                          <m:t>6</m:t>
                        </m:r>
                      </m:sup>
                    </m:sSup>
                  </m:oMath>
                </a14:m>
                <a:r>
                  <a:rPr lang="en-US" dirty="0"/>
                  <a:t> / 2.5 </a:t>
                </a:r>
                <a14:m>
                  <m:oMath xmlns:m="http://schemas.openxmlformats.org/officeDocument/2006/math">
                    <m:sSup>
                      <m:sSupPr>
                        <m:ctrlPr>
                          <a:rPr lang="en-US" i="1">
                            <a:latin typeface="Cambria Math" panose="02040503050406030204" pitchFamily="18" charset="0"/>
                          </a:rPr>
                        </m:ctrlPr>
                      </m:sSupPr>
                      <m:e>
                        <m:r>
                          <a:rPr lang="en-US" i="1">
                            <a:latin typeface="Cambria Math" panose="02040503050406030204" pitchFamily="18" charset="0"/>
                          </a:rPr>
                          <m:t>𝑥</m:t>
                        </m:r>
                        <m:r>
                          <a:rPr lang="en-US" i="1">
                            <a:latin typeface="Cambria Math" panose="02040503050406030204" pitchFamily="18" charset="0"/>
                          </a:rPr>
                          <m:t>10</m:t>
                        </m:r>
                      </m:e>
                      <m:sup>
                        <m:r>
                          <a:rPr lang="en-US" i="1">
                            <a:latin typeface="Cambria Math" panose="02040503050406030204" pitchFamily="18" charset="0"/>
                          </a:rPr>
                          <m:t>9</m:t>
                        </m:r>
                      </m:sup>
                    </m:sSup>
                  </m:oMath>
                </a14:m>
                <a:r>
                  <a:rPr lang="en-US" dirty="0"/>
                  <a:t> = 0.0064 = 6.4 </a:t>
                </a:r>
                <a:r>
                  <a:rPr lang="en-US" dirty="0" err="1"/>
                  <a:t>ms</a:t>
                </a:r>
                <a:endParaRPr lang="en-US" dirty="0"/>
              </a:p>
              <a:p>
                <a:endParaRPr lang="en-US" dirty="0"/>
              </a:p>
            </p:txBody>
          </p:sp>
        </mc:Choice>
        <mc:Fallback xmlns="">
          <p:sp>
            <p:nvSpPr>
              <p:cNvPr id="3" name="TextBox 2"/>
              <p:cNvSpPr txBox="1">
                <a:spLocks noRot="1" noChangeAspect="1" noMove="1" noResize="1" noEditPoints="1" noAdjustHandles="1" noChangeArrowheads="1" noChangeShapeType="1" noTextEdit="1"/>
              </p:cNvSpPr>
              <p:nvPr/>
            </p:nvSpPr>
            <p:spPr>
              <a:xfrm>
                <a:off x="1069848" y="3445844"/>
                <a:ext cx="10058400" cy="1754326"/>
              </a:xfrm>
              <a:prstGeom prst="rect">
                <a:avLst/>
              </a:prstGeom>
              <a:blipFill rotWithShape="0">
                <a:blip r:embed="rId2"/>
                <a:stretch>
                  <a:fillRect l="-545" t="-1736"/>
                </a:stretch>
              </a:blipFill>
            </p:spPr>
            <p:txBody>
              <a:bodyPr/>
              <a:lstStyle/>
              <a:p>
                <a:r>
                  <a:rPr lang="en-US">
                    <a:noFill/>
                  </a:rPr>
                  <a:t> </a:t>
                </a:r>
              </a:p>
            </p:txBody>
          </p:sp>
        </mc:Fallback>
      </mc:AlternateContent>
    </p:spTree>
    <p:extLst>
      <p:ext uri="{BB962C8B-B14F-4D97-AF65-F5344CB8AC3E}">
        <p14:creationId xmlns:p14="http://schemas.microsoft.com/office/powerpoint/2010/main" val="405770032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69848" y="484632"/>
            <a:ext cx="10058400" cy="612648"/>
          </a:xfrm>
        </p:spPr>
        <p:txBody>
          <a:bodyPr>
            <a:normAutofit/>
          </a:bodyPr>
          <a:lstStyle/>
          <a:p>
            <a:r>
              <a:rPr lang="en-US" sz="2800" b="1" dirty="0"/>
              <a:t>Important questions: 2</a:t>
            </a:r>
          </a:p>
        </p:txBody>
      </p:sp>
      <p:sp>
        <p:nvSpPr>
          <p:cNvPr id="4" name="Slide Number Placeholder 3"/>
          <p:cNvSpPr>
            <a:spLocks noGrp="1"/>
          </p:cNvSpPr>
          <p:nvPr>
            <p:ph type="sldNum" sz="quarter" idx="12"/>
          </p:nvPr>
        </p:nvSpPr>
        <p:spPr/>
        <p:txBody>
          <a:bodyPr/>
          <a:lstStyle/>
          <a:p>
            <a:fld id="{380846C1-CD93-4AE4-8DA9-0A1941B6C5F9}" type="slidenum">
              <a:rPr lang="en-US" smtClean="0"/>
              <a:t>45</a:t>
            </a:fld>
            <a:endParaRPr lang="en-US"/>
          </a:p>
        </p:txBody>
      </p:sp>
      <p:sp>
        <p:nvSpPr>
          <p:cNvPr id="3" name="Content Placeholder 2"/>
          <p:cNvSpPr>
            <a:spLocks noGrp="1"/>
          </p:cNvSpPr>
          <p:nvPr>
            <p:ph idx="1"/>
          </p:nvPr>
        </p:nvSpPr>
        <p:spPr>
          <a:xfrm>
            <a:off x="1069848" y="1318661"/>
            <a:ext cx="10058400" cy="4853539"/>
          </a:xfrm>
        </p:spPr>
        <p:txBody>
          <a:bodyPr>
            <a:normAutofit/>
          </a:bodyPr>
          <a:lstStyle/>
          <a:p>
            <a:r>
              <a:rPr lang="en-US" sz="2400" dirty="0"/>
              <a:t>Consider the following two CPU designs:</a:t>
            </a:r>
          </a:p>
          <a:p>
            <a:pPr marL="274320" lvl="1" indent="0">
              <a:buNone/>
            </a:pPr>
            <a:r>
              <a:rPr lang="en-US" sz="2000" dirty="0"/>
              <a:t>CPU 1: Clock rate = 2.5 GHz, AVG. CPI = 1.6</a:t>
            </a:r>
          </a:p>
          <a:p>
            <a:pPr marL="274320" lvl="1" indent="0">
              <a:buNone/>
            </a:pPr>
            <a:r>
              <a:rPr lang="en-US" sz="2000" dirty="0"/>
              <a:t>CPU 2: Clock rate = 2.0 GHz, AVG. CPI = 1.2</a:t>
            </a:r>
          </a:p>
          <a:p>
            <a:r>
              <a:rPr lang="en-US" sz="2400" dirty="0"/>
              <a:t>A program takes </a:t>
            </a:r>
            <a:r>
              <a:rPr lang="en-US" sz="2400" dirty="0">
                <a:solidFill>
                  <a:schemeClr val="accent1"/>
                </a:solidFill>
              </a:rPr>
              <a:t>2.2 billion instructions </a:t>
            </a:r>
            <a:r>
              <a:rPr lang="en-US" sz="2400" dirty="0"/>
              <a:t>to execute.</a:t>
            </a:r>
          </a:p>
          <a:p>
            <a:pPr marL="617220" lvl="1" indent="-342900">
              <a:buFont typeface="+mj-lt"/>
              <a:buAutoNum type="arabicParenR"/>
            </a:pPr>
            <a:r>
              <a:rPr lang="en-US" sz="2000" dirty="0"/>
              <a:t>Compute the execution time on each CPU.</a:t>
            </a:r>
          </a:p>
          <a:p>
            <a:pPr marL="617220" lvl="1" indent="-342900">
              <a:buFont typeface="+mj-lt"/>
              <a:buAutoNum type="arabicParenR"/>
            </a:pPr>
            <a:r>
              <a:rPr lang="en-US" sz="2000" dirty="0"/>
              <a:t>Which CPU is faster and by what percentage?</a:t>
            </a:r>
          </a:p>
        </p:txBody>
      </p:sp>
    </p:spTree>
    <p:extLst>
      <p:ext uri="{BB962C8B-B14F-4D97-AF65-F5344CB8AC3E}">
        <p14:creationId xmlns:p14="http://schemas.microsoft.com/office/powerpoint/2010/main" val="169458905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69848" y="484632"/>
            <a:ext cx="10058400" cy="612648"/>
          </a:xfrm>
        </p:spPr>
        <p:txBody>
          <a:bodyPr>
            <a:normAutofit/>
          </a:bodyPr>
          <a:lstStyle/>
          <a:p>
            <a:r>
              <a:rPr lang="en-US" sz="2800" b="1" dirty="0"/>
              <a:t>Important questions: 2</a:t>
            </a:r>
          </a:p>
        </p:txBody>
      </p:sp>
      <p:sp>
        <p:nvSpPr>
          <p:cNvPr id="4" name="Slide Number Placeholder 3"/>
          <p:cNvSpPr>
            <a:spLocks noGrp="1"/>
          </p:cNvSpPr>
          <p:nvPr>
            <p:ph type="sldNum" sz="quarter" idx="12"/>
          </p:nvPr>
        </p:nvSpPr>
        <p:spPr/>
        <p:txBody>
          <a:bodyPr/>
          <a:lstStyle/>
          <a:p>
            <a:fld id="{380846C1-CD93-4AE4-8DA9-0A1941B6C5F9}" type="slidenum">
              <a:rPr lang="en-US" smtClean="0"/>
              <a:t>46</a:t>
            </a:fld>
            <a:endParaRPr lang="en-US"/>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1069848" y="1318661"/>
                <a:ext cx="10058400" cy="4853539"/>
              </a:xfrm>
            </p:spPr>
            <p:txBody>
              <a:bodyPr>
                <a:normAutofit/>
              </a:bodyPr>
              <a:lstStyle/>
              <a:p>
                <a:r>
                  <a:rPr lang="en-US" dirty="0"/>
                  <a:t>Consider the following two CPU designs:</a:t>
                </a:r>
              </a:p>
              <a:p>
                <a:pPr marL="617220" lvl="1" indent="-342900">
                  <a:buFont typeface="+mj-lt"/>
                  <a:buAutoNum type="arabicPeriod"/>
                </a:pPr>
                <a:r>
                  <a:rPr lang="en-US" dirty="0"/>
                  <a:t>CPU 1: Clock rate = 2.5 GHz, AVG. CPI = 1.6</a:t>
                </a:r>
              </a:p>
              <a:p>
                <a:pPr marL="617220" lvl="1" indent="-342900">
                  <a:buFont typeface="+mj-lt"/>
                  <a:buAutoNum type="arabicPeriod"/>
                </a:pPr>
                <a:r>
                  <a:rPr lang="en-US" dirty="0"/>
                  <a:t>CPU 2: Clock rate = 2.0 GHz, AVG. CPI = 1.2</a:t>
                </a:r>
              </a:p>
              <a:p>
                <a:r>
                  <a:rPr lang="en-US" dirty="0"/>
                  <a:t>A program takes 2.2 billion instructions to execute.</a:t>
                </a:r>
              </a:p>
              <a:p>
                <a:pPr marL="617220" lvl="1" indent="-342900">
                  <a:buFont typeface="+mj-lt"/>
                  <a:buAutoNum type="arabicParenR"/>
                </a:pPr>
                <a:r>
                  <a:rPr lang="en-US" dirty="0"/>
                  <a:t>Compute the execution time on each CPU.</a:t>
                </a:r>
              </a:p>
              <a:p>
                <a:pPr marL="617220" lvl="1" indent="-342900">
                  <a:buFont typeface="+mj-lt"/>
                  <a:buAutoNum type="arabicParenR"/>
                </a:pPr>
                <a:r>
                  <a:rPr lang="en-US" dirty="0"/>
                  <a:t>Which CPU is faster and by what percentage?</a:t>
                </a:r>
              </a:p>
              <a:p>
                <a:pPr marL="342900" indent="-342900">
                  <a:buFont typeface="+mj-lt"/>
                  <a:buAutoNum type="arabicParenR"/>
                </a:pPr>
                <a:r>
                  <a:rPr lang="en-US" dirty="0"/>
                  <a:t>Execution time of,</a:t>
                </a:r>
              </a:p>
              <a:p>
                <a:pPr lvl="1">
                  <a:buFont typeface="Wingdings" panose="05000000000000000000" pitchFamily="2" charset="2"/>
                  <a:buChar char="Ø"/>
                </a:pPr>
                <a:r>
                  <a:rPr lang="en-US" dirty="0"/>
                  <a:t>CPU 1 = ( 2.2 </a:t>
                </a:r>
                <a14:m>
                  <m:oMath xmlns:m="http://schemas.openxmlformats.org/officeDocument/2006/math">
                    <m:sSup>
                      <m:sSupPr>
                        <m:ctrlPr>
                          <a:rPr lang="en-US" i="1">
                            <a:latin typeface="Cambria Math" panose="02040503050406030204" pitchFamily="18" charset="0"/>
                          </a:rPr>
                        </m:ctrlPr>
                      </m:sSupPr>
                      <m:e>
                        <m:r>
                          <a:rPr lang="en-US" i="1">
                            <a:latin typeface="Cambria Math" panose="02040503050406030204" pitchFamily="18" charset="0"/>
                          </a:rPr>
                          <m:t>𝑥</m:t>
                        </m:r>
                        <m:r>
                          <a:rPr lang="en-US" i="1">
                            <a:latin typeface="Cambria Math" panose="02040503050406030204" pitchFamily="18" charset="0"/>
                          </a:rPr>
                          <m:t>10</m:t>
                        </m:r>
                      </m:e>
                      <m:sup>
                        <m:r>
                          <a:rPr lang="en-US" i="1">
                            <a:latin typeface="Cambria Math" panose="02040503050406030204" pitchFamily="18" charset="0"/>
                          </a:rPr>
                          <m:t>9</m:t>
                        </m:r>
                      </m:sup>
                    </m:sSup>
                  </m:oMath>
                </a14:m>
                <a:r>
                  <a:rPr lang="en-US" dirty="0"/>
                  <a:t> x 1.6 ) / 2.5 </a:t>
                </a:r>
                <a14:m>
                  <m:oMath xmlns:m="http://schemas.openxmlformats.org/officeDocument/2006/math">
                    <m:sSup>
                      <m:sSupPr>
                        <m:ctrlPr>
                          <a:rPr lang="en-US" i="1">
                            <a:latin typeface="Cambria Math" panose="02040503050406030204" pitchFamily="18" charset="0"/>
                          </a:rPr>
                        </m:ctrlPr>
                      </m:sSupPr>
                      <m:e>
                        <m:r>
                          <a:rPr lang="en-US" i="1">
                            <a:latin typeface="Cambria Math" panose="02040503050406030204" pitchFamily="18" charset="0"/>
                          </a:rPr>
                          <m:t>𝑥</m:t>
                        </m:r>
                        <m:r>
                          <a:rPr lang="en-US" i="1">
                            <a:latin typeface="Cambria Math" panose="02040503050406030204" pitchFamily="18" charset="0"/>
                          </a:rPr>
                          <m:t>10</m:t>
                        </m:r>
                      </m:e>
                      <m:sup>
                        <m:r>
                          <a:rPr lang="en-US" i="1">
                            <a:latin typeface="Cambria Math" panose="02040503050406030204" pitchFamily="18" charset="0"/>
                          </a:rPr>
                          <m:t>9</m:t>
                        </m:r>
                      </m:sup>
                    </m:sSup>
                  </m:oMath>
                </a14:m>
                <a:r>
                  <a:rPr lang="en-US" dirty="0"/>
                  <a:t> = 1.40s</a:t>
                </a:r>
              </a:p>
              <a:p>
                <a:pPr lvl="1">
                  <a:buFont typeface="Wingdings" panose="05000000000000000000" pitchFamily="2" charset="2"/>
                  <a:buChar char="Ø"/>
                </a:pPr>
                <a:r>
                  <a:rPr lang="en-US" dirty="0"/>
                  <a:t>CPU 2 = ( 2.2 </a:t>
                </a:r>
                <a14:m>
                  <m:oMath xmlns:m="http://schemas.openxmlformats.org/officeDocument/2006/math">
                    <m:sSup>
                      <m:sSupPr>
                        <m:ctrlPr>
                          <a:rPr lang="en-US" i="1">
                            <a:latin typeface="Cambria Math" panose="02040503050406030204" pitchFamily="18" charset="0"/>
                          </a:rPr>
                        </m:ctrlPr>
                      </m:sSupPr>
                      <m:e>
                        <m:r>
                          <a:rPr lang="en-US" i="1">
                            <a:latin typeface="Cambria Math" panose="02040503050406030204" pitchFamily="18" charset="0"/>
                          </a:rPr>
                          <m:t>𝑥</m:t>
                        </m:r>
                        <m:r>
                          <a:rPr lang="en-US" i="1">
                            <a:latin typeface="Cambria Math" panose="02040503050406030204" pitchFamily="18" charset="0"/>
                          </a:rPr>
                          <m:t>10</m:t>
                        </m:r>
                      </m:e>
                      <m:sup>
                        <m:r>
                          <a:rPr lang="en-US" i="1">
                            <a:latin typeface="Cambria Math" panose="02040503050406030204" pitchFamily="18" charset="0"/>
                          </a:rPr>
                          <m:t>9</m:t>
                        </m:r>
                      </m:sup>
                    </m:sSup>
                  </m:oMath>
                </a14:m>
                <a:r>
                  <a:rPr lang="en-US" dirty="0"/>
                  <a:t> x 1.2 ) / 2.0 </a:t>
                </a:r>
                <a14:m>
                  <m:oMath xmlns:m="http://schemas.openxmlformats.org/officeDocument/2006/math">
                    <m:sSup>
                      <m:sSupPr>
                        <m:ctrlPr>
                          <a:rPr lang="en-US" i="1">
                            <a:latin typeface="Cambria Math" panose="02040503050406030204" pitchFamily="18" charset="0"/>
                          </a:rPr>
                        </m:ctrlPr>
                      </m:sSupPr>
                      <m:e>
                        <m:r>
                          <a:rPr lang="en-US" i="1">
                            <a:latin typeface="Cambria Math" panose="02040503050406030204" pitchFamily="18" charset="0"/>
                          </a:rPr>
                          <m:t>𝑥</m:t>
                        </m:r>
                        <m:r>
                          <a:rPr lang="en-US" i="1">
                            <a:latin typeface="Cambria Math" panose="02040503050406030204" pitchFamily="18" charset="0"/>
                          </a:rPr>
                          <m:t>10</m:t>
                        </m:r>
                      </m:e>
                      <m:sup>
                        <m:r>
                          <a:rPr lang="en-US" i="1">
                            <a:latin typeface="Cambria Math" panose="02040503050406030204" pitchFamily="18" charset="0"/>
                          </a:rPr>
                          <m:t>9</m:t>
                        </m:r>
                      </m:sup>
                    </m:sSup>
                  </m:oMath>
                </a14:m>
                <a:r>
                  <a:rPr lang="en-US" dirty="0"/>
                  <a:t> = 1.32s (Faster)</a:t>
                </a:r>
              </a:p>
              <a:p>
                <a:pPr marL="457200" indent="-457200">
                  <a:buFont typeface="+mj-lt"/>
                  <a:buAutoNum type="arabicParenR"/>
                </a:pPr>
                <a:r>
                  <a:rPr lang="en-US" dirty="0"/>
                  <a:t>By what percentage?</a:t>
                </a:r>
              </a:p>
              <a:p>
                <a:pPr lvl="1"/>
                <a:r>
                  <a:rPr lang="en-US" dirty="0"/>
                  <a:t>Slow / Fast = 1.40 / 1.32 = 1.060 = CPU2 is 6.0% Faster </a:t>
                </a:r>
                <a:r>
                  <a:rPr lang="en-US" dirty="0">
                    <a:solidFill>
                      <a:schemeClr val="bg1">
                        <a:lumMod val="75000"/>
                      </a:schemeClr>
                    </a:solidFill>
                  </a:rPr>
                  <a:t>(1 – 1.060) * 100%</a:t>
                </a:r>
              </a:p>
              <a:p>
                <a:pPr lvl="1">
                  <a:buFont typeface="Wingdings" panose="05000000000000000000" pitchFamily="2" charset="2"/>
                  <a:buChar char="Ø"/>
                </a:pPr>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1069848" y="1318661"/>
                <a:ext cx="10058400" cy="4853539"/>
              </a:xfrm>
              <a:blipFill rotWithShape="0">
                <a:blip r:embed="rId2"/>
                <a:stretch>
                  <a:fillRect l="-364" t="-1255"/>
                </a:stretch>
              </a:blipFill>
            </p:spPr>
            <p:txBody>
              <a:bodyPr/>
              <a:lstStyle/>
              <a:p>
                <a:r>
                  <a:rPr lang="en-US">
                    <a:noFill/>
                  </a:rPr>
                  <a:t> </a:t>
                </a:r>
              </a:p>
            </p:txBody>
          </p:sp>
        </mc:Fallback>
      </mc:AlternateContent>
    </p:spTree>
    <p:extLst>
      <p:ext uri="{BB962C8B-B14F-4D97-AF65-F5344CB8AC3E}">
        <p14:creationId xmlns:p14="http://schemas.microsoft.com/office/powerpoint/2010/main" val="230479726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69848" y="484632"/>
            <a:ext cx="10058400" cy="612648"/>
          </a:xfrm>
        </p:spPr>
        <p:txBody>
          <a:bodyPr>
            <a:normAutofit/>
          </a:bodyPr>
          <a:lstStyle/>
          <a:p>
            <a:r>
              <a:rPr lang="en-US" sz="2800" b="1" dirty="0"/>
              <a:t>Important questions: 3</a:t>
            </a:r>
          </a:p>
        </p:txBody>
      </p:sp>
      <p:sp>
        <p:nvSpPr>
          <p:cNvPr id="4" name="Slide Number Placeholder 3"/>
          <p:cNvSpPr>
            <a:spLocks noGrp="1"/>
          </p:cNvSpPr>
          <p:nvPr>
            <p:ph type="sldNum" sz="quarter" idx="12"/>
          </p:nvPr>
        </p:nvSpPr>
        <p:spPr/>
        <p:txBody>
          <a:bodyPr/>
          <a:lstStyle/>
          <a:p>
            <a:fld id="{380846C1-CD93-4AE4-8DA9-0A1941B6C5F9}" type="slidenum">
              <a:rPr lang="en-US" smtClean="0"/>
              <a:t>47</a:t>
            </a:fld>
            <a:endParaRPr lang="en-US"/>
          </a:p>
        </p:txBody>
      </p:sp>
      <p:sp>
        <p:nvSpPr>
          <p:cNvPr id="3" name="Content Placeholder 2"/>
          <p:cNvSpPr>
            <a:spLocks noGrp="1"/>
          </p:cNvSpPr>
          <p:nvPr>
            <p:ph idx="1"/>
          </p:nvPr>
        </p:nvSpPr>
        <p:spPr>
          <a:xfrm>
            <a:off x="1069848" y="1318661"/>
            <a:ext cx="10058400" cy="4853539"/>
          </a:xfrm>
        </p:spPr>
        <p:txBody>
          <a:bodyPr>
            <a:normAutofit/>
          </a:bodyPr>
          <a:lstStyle/>
          <a:p>
            <a:r>
              <a:rPr lang="en-US" sz="2400" dirty="0"/>
              <a:t>Translate the following MIPS instructions into machine code:</a:t>
            </a:r>
          </a:p>
          <a:p>
            <a:pPr marL="617220" lvl="1" indent="-342900">
              <a:buFont typeface="+mj-lt"/>
              <a:buAutoNum type="arabicPeriod"/>
            </a:pPr>
            <a:r>
              <a:rPr lang="en-US" sz="2400" dirty="0" err="1"/>
              <a:t>Addi</a:t>
            </a:r>
            <a:r>
              <a:rPr lang="en-US" sz="2400" dirty="0"/>
              <a:t> t1, t2, 15</a:t>
            </a:r>
          </a:p>
          <a:p>
            <a:pPr marL="617220" lvl="1" indent="-342900">
              <a:buFont typeface="+mj-lt"/>
              <a:buAutoNum type="arabicPeriod"/>
            </a:pPr>
            <a:r>
              <a:rPr lang="en-US" sz="2400" dirty="0" err="1"/>
              <a:t>Beq</a:t>
            </a:r>
            <a:r>
              <a:rPr lang="en-US" sz="2400" dirty="0"/>
              <a:t> s1, s2, -8</a:t>
            </a:r>
          </a:p>
          <a:p>
            <a:pPr marL="617220" lvl="1" indent="-342900">
              <a:buFont typeface="+mj-lt"/>
              <a:buAutoNum type="arabicPeriod"/>
            </a:pPr>
            <a:r>
              <a:rPr lang="en-US" sz="2400" dirty="0" err="1"/>
              <a:t>Lw</a:t>
            </a:r>
            <a:r>
              <a:rPr lang="en-US" sz="2400" dirty="0"/>
              <a:t> t0, 32(</a:t>
            </a:r>
            <a:r>
              <a:rPr lang="en-US" sz="2400" dirty="0" err="1"/>
              <a:t>sp</a:t>
            </a:r>
            <a:r>
              <a:rPr lang="en-US" sz="2400" dirty="0"/>
              <a:t>)</a:t>
            </a:r>
          </a:p>
        </p:txBody>
      </p:sp>
    </p:spTree>
    <p:extLst>
      <p:ext uri="{BB962C8B-B14F-4D97-AF65-F5344CB8AC3E}">
        <p14:creationId xmlns:p14="http://schemas.microsoft.com/office/powerpoint/2010/main" val="171653922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79473" y="2467436"/>
            <a:ext cx="10058400" cy="1609344"/>
          </a:xfrm>
        </p:spPr>
        <p:txBody>
          <a:bodyPr/>
          <a:lstStyle/>
          <a:p>
            <a:r>
              <a:rPr lang="en-US" dirty="0"/>
              <a:t>Segment-3</a:t>
            </a:r>
          </a:p>
        </p:txBody>
      </p:sp>
      <p:sp>
        <p:nvSpPr>
          <p:cNvPr id="3" name="Slide Number Placeholder 2"/>
          <p:cNvSpPr>
            <a:spLocks noGrp="1"/>
          </p:cNvSpPr>
          <p:nvPr>
            <p:ph type="sldNum" sz="quarter" idx="12"/>
          </p:nvPr>
        </p:nvSpPr>
        <p:spPr/>
        <p:txBody>
          <a:bodyPr/>
          <a:lstStyle/>
          <a:p>
            <a:fld id="{380846C1-CD93-4AE4-8DA9-0A1941B6C5F9}" type="slidenum">
              <a:rPr lang="en-US" smtClean="0"/>
              <a:t>48</a:t>
            </a:fld>
            <a:endParaRPr lang="en-US"/>
          </a:p>
        </p:txBody>
      </p:sp>
    </p:spTree>
    <p:extLst>
      <p:ext uri="{BB962C8B-B14F-4D97-AF65-F5344CB8AC3E}">
        <p14:creationId xmlns:p14="http://schemas.microsoft.com/office/powerpoint/2010/main" val="244451164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69848" y="484632"/>
            <a:ext cx="10058400" cy="612648"/>
          </a:xfrm>
        </p:spPr>
        <p:txBody>
          <a:bodyPr>
            <a:normAutofit/>
          </a:bodyPr>
          <a:lstStyle/>
          <a:p>
            <a:r>
              <a:rPr lang="en-US" sz="2800" b="1" dirty="0"/>
              <a:t>Arithmetic and Logical Operations</a:t>
            </a:r>
          </a:p>
        </p:txBody>
      </p:sp>
      <p:sp>
        <p:nvSpPr>
          <p:cNvPr id="3" name="Content Placeholder 2"/>
          <p:cNvSpPr>
            <a:spLocks noGrp="1"/>
          </p:cNvSpPr>
          <p:nvPr>
            <p:ph idx="1"/>
          </p:nvPr>
        </p:nvSpPr>
        <p:spPr>
          <a:xfrm>
            <a:off x="1069848" y="1232034"/>
            <a:ext cx="10058400" cy="4940166"/>
          </a:xfrm>
        </p:spPr>
        <p:txBody>
          <a:bodyPr>
            <a:noAutofit/>
          </a:bodyPr>
          <a:lstStyle/>
          <a:p>
            <a:r>
              <a:rPr lang="en-US" b="1" dirty="0"/>
              <a:t>Arithmetic Operations:</a:t>
            </a:r>
            <a:endParaRPr lang="en-US" dirty="0"/>
          </a:p>
          <a:p>
            <a:pPr lvl="1"/>
            <a:r>
              <a:rPr lang="en-US" sz="2000" dirty="0"/>
              <a:t>Addition: Adds two numbers together. </a:t>
            </a:r>
            <a:r>
              <a:rPr lang="en-US" sz="2000" dirty="0">
                <a:solidFill>
                  <a:schemeClr val="accent1"/>
                </a:solidFill>
              </a:rPr>
              <a:t>Example</a:t>
            </a:r>
            <a:r>
              <a:rPr lang="en-US" sz="2000" dirty="0"/>
              <a:t>: 5 + 10 = 15</a:t>
            </a:r>
          </a:p>
          <a:p>
            <a:pPr lvl="1"/>
            <a:r>
              <a:rPr lang="en-US" sz="2000" dirty="0"/>
              <a:t>Subtraction: Subtracts one number from another. </a:t>
            </a:r>
            <a:r>
              <a:rPr lang="en-US" sz="2000" dirty="0">
                <a:solidFill>
                  <a:schemeClr val="accent1"/>
                </a:solidFill>
              </a:rPr>
              <a:t>Example</a:t>
            </a:r>
            <a:r>
              <a:rPr lang="en-US" sz="2000" dirty="0"/>
              <a:t>: 15 - 5 = 10</a:t>
            </a:r>
          </a:p>
          <a:p>
            <a:r>
              <a:rPr lang="en-US" b="1" dirty="0"/>
              <a:t>Logical Operations:</a:t>
            </a:r>
            <a:endParaRPr lang="en-US" dirty="0"/>
          </a:p>
          <a:p>
            <a:pPr lvl="1"/>
            <a:r>
              <a:rPr lang="en-US" sz="2000" dirty="0"/>
              <a:t>Bitwise AND (&amp;): Sets each bit to 1 if both bits are 1. </a:t>
            </a:r>
            <a:r>
              <a:rPr lang="en-US" sz="2000" dirty="0">
                <a:solidFill>
                  <a:schemeClr val="accent1"/>
                </a:solidFill>
              </a:rPr>
              <a:t>Example</a:t>
            </a:r>
            <a:r>
              <a:rPr lang="en-US" sz="2000" dirty="0"/>
              <a:t>: 5 &amp; 3 → 0101 &amp; 0011 = 0001 (Result: 1)</a:t>
            </a:r>
          </a:p>
          <a:p>
            <a:pPr lvl="1"/>
            <a:r>
              <a:rPr lang="en-US" sz="2000" dirty="0"/>
              <a:t>Bitwise OR (|): Sets each bit to 1 if one of the bits is 1. </a:t>
            </a:r>
            <a:r>
              <a:rPr lang="en-US" sz="2000" dirty="0">
                <a:solidFill>
                  <a:schemeClr val="accent1"/>
                </a:solidFill>
              </a:rPr>
              <a:t>Example</a:t>
            </a:r>
            <a:r>
              <a:rPr lang="en-US" sz="2000" dirty="0"/>
              <a:t>: 5 | 3 → 0101 | 0011 = 0111 (Result: 7)</a:t>
            </a:r>
          </a:p>
          <a:p>
            <a:pPr marL="0" indent="0">
              <a:buNone/>
            </a:pPr>
            <a:endParaRPr lang="en-US" dirty="0"/>
          </a:p>
        </p:txBody>
      </p:sp>
      <p:sp>
        <p:nvSpPr>
          <p:cNvPr id="4" name="Slide Number Placeholder 3"/>
          <p:cNvSpPr>
            <a:spLocks noGrp="1"/>
          </p:cNvSpPr>
          <p:nvPr>
            <p:ph type="sldNum" sz="quarter" idx="12"/>
          </p:nvPr>
        </p:nvSpPr>
        <p:spPr/>
        <p:txBody>
          <a:bodyPr/>
          <a:lstStyle/>
          <a:p>
            <a:fld id="{380846C1-CD93-4AE4-8DA9-0A1941B6C5F9}" type="slidenum">
              <a:rPr lang="en-US" smtClean="0"/>
              <a:t>49</a:t>
            </a:fld>
            <a:endParaRPr lang="en-US"/>
          </a:p>
        </p:txBody>
      </p:sp>
    </p:spTree>
    <p:extLst>
      <p:ext uri="{BB962C8B-B14F-4D97-AF65-F5344CB8AC3E}">
        <p14:creationId xmlns:p14="http://schemas.microsoft.com/office/powerpoint/2010/main" val="1742433143"/>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69848" y="484632"/>
            <a:ext cx="10058400" cy="612648"/>
          </a:xfrm>
        </p:spPr>
        <p:txBody>
          <a:bodyPr>
            <a:normAutofit/>
          </a:bodyPr>
          <a:lstStyle/>
          <a:p>
            <a:r>
              <a:rPr lang="en-US" sz="2800" b="1" dirty="0"/>
              <a:t>Signed and Unsigned Numbers</a:t>
            </a:r>
          </a:p>
        </p:txBody>
      </p:sp>
      <p:sp>
        <p:nvSpPr>
          <p:cNvPr id="3" name="Content Placeholder 2"/>
          <p:cNvSpPr>
            <a:spLocks noGrp="1"/>
          </p:cNvSpPr>
          <p:nvPr>
            <p:ph idx="1"/>
          </p:nvPr>
        </p:nvSpPr>
        <p:spPr>
          <a:xfrm>
            <a:off x="1069848" y="1232034"/>
            <a:ext cx="10058400" cy="4940166"/>
          </a:xfrm>
        </p:spPr>
        <p:txBody>
          <a:bodyPr>
            <a:noAutofit/>
          </a:bodyPr>
          <a:lstStyle/>
          <a:p>
            <a:r>
              <a:rPr lang="en-US" dirty="0"/>
              <a:t>Unsigned numbers can only represent positive values, while signed numbers can represent both positive and negative values. </a:t>
            </a:r>
          </a:p>
          <a:p>
            <a:r>
              <a:rPr lang="en-US" dirty="0">
                <a:solidFill>
                  <a:schemeClr val="accent1"/>
                </a:solidFill>
              </a:rPr>
              <a:t>Example</a:t>
            </a:r>
            <a:r>
              <a:rPr lang="en-US" dirty="0"/>
              <a:t>: Representing -5 in 4-bit Two's Complement</a:t>
            </a:r>
          </a:p>
          <a:p>
            <a:pPr marL="617220" lvl="1" indent="-342900">
              <a:buFont typeface="+mj-lt"/>
              <a:buAutoNum type="arabicPeriod"/>
            </a:pPr>
            <a:r>
              <a:rPr lang="en-US" sz="2000" dirty="0"/>
              <a:t>Binary of +5: 0101</a:t>
            </a:r>
          </a:p>
          <a:p>
            <a:pPr marL="617220" lvl="1" indent="-342900">
              <a:buFont typeface="+mj-lt"/>
              <a:buAutoNum type="arabicPeriod"/>
            </a:pPr>
            <a:r>
              <a:rPr lang="en-US" sz="2000" dirty="0"/>
              <a:t>One's Complement: Invert all bits → 1010</a:t>
            </a:r>
          </a:p>
          <a:p>
            <a:pPr marL="617220" lvl="1" indent="-342900">
              <a:buFont typeface="+mj-lt"/>
              <a:buAutoNum type="arabicPeriod"/>
            </a:pPr>
            <a:r>
              <a:rPr lang="en-US" sz="2000" dirty="0"/>
              <a:t>Two's Complement: Add 1 → 1011</a:t>
            </a:r>
          </a:p>
          <a:p>
            <a:pPr marL="617220" lvl="1" indent="-342900">
              <a:buFont typeface="+mj-lt"/>
              <a:buAutoNum type="arabicPeriod"/>
            </a:pPr>
            <a:r>
              <a:rPr lang="en-US" sz="2000" dirty="0"/>
              <a:t>Signed interpretation: -5, Unsigned interpretation: 11</a:t>
            </a:r>
          </a:p>
          <a:p>
            <a:pPr marL="0" indent="0">
              <a:buNone/>
            </a:pPr>
            <a:endParaRPr lang="en-US" dirty="0"/>
          </a:p>
        </p:txBody>
      </p:sp>
      <p:sp>
        <p:nvSpPr>
          <p:cNvPr id="4" name="Slide Number Placeholder 3"/>
          <p:cNvSpPr>
            <a:spLocks noGrp="1"/>
          </p:cNvSpPr>
          <p:nvPr>
            <p:ph type="sldNum" sz="quarter" idx="12"/>
          </p:nvPr>
        </p:nvSpPr>
        <p:spPr/>
        <p:txBody>
          <a:bodyPr/>
          <a:lstStyle/>
          <a:p>
            <a:fld id="{380846C1-CD93-4AE4-8DA9-0A1941B6C5F9}" type="slidenum">
              <a:rPr lang="en-US" smtClean="0"/>
              <a:t>50</a:t>
            </a:fld>
            <a:endParaRPr lang="en-US"/>
          </a:p>
        </p:txBody>
      </p:sp>
    </p:spTree>
    <p:extLst>
      <p:ext uri="{BB962C8B-B14F-4D97-AF65-F5344CB8AC3E}">
        <p14:creationId xmlns:p14="http://schemas.microsoft.com/office/powerpoint/2010/main" val="331836325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69848" y="484632"/>
            <a:ext cx="10058400" cy="612648"/>
          </a:xfrm>
        </p:spPr>
        <p:txBody>
          <a:bodyPr>
            <a:normAutofit/>
          </a:bodyPr>
          <a:lstStyle/>
          <a:p>
            <a:r>
              <a:rPr lang="en-US" sz="2800" b="1" dirty="0"/>
              <a:t>Number Conversion and Representation</a:t>
            </a:r>
          </a:p>
        </p:txBody>
      </p:sp>
      <p:sp>
        <p:nvSpPr>
          <p:cNvPr id="3" name="Content Placeholder 2"/>
          <p:cNvSpPr>
            <a:spLocks noGrp="1"/>
          </p:cNvSpPr>
          <p:nvPr>
            <p:ph idx="1"/>
          </p:nvPr>
        </p:nvSpPr>
        <p:spPr>
          <a:xfrm>
            <a:off x="1069848" y="1232034"/>
            <a:ext cx="10058400" cy="4940166"/>
          </a:xfrm>
        </p:spPr>
        <p:txBody>
          <a:bodyPr>
            <a:noAutofit/>
          </a:bodyPr>
          <a:lstStyle/>
          <a:p>
            <a:r>
              <a:rPr lang="en-US" dirty="0"/>
              <a:t>Conversion between different numerical systems (binary, decimal, hexadecimal) and representation in computer memory.</a:t>
            </a:r>
          </a:p>
          <a:p>
            <a:r>
              <a:rPr lang="en-US" dirty="0">
                <a:solidFill>
                  <a:schemeClr val="accent1"/>
                </a:solidFill>
              </a:rPr>
              <a:t>Example</a:t>
            </a:r>
            <a:r>
              <a:rPr lang="en-US" dirty="0"/>
              <a:t>: Converting 13 from Decimal to Binary:</a:t>
            </a:r>
          </a:p>
          <a:p>
            <a:pPr marL="274320" lvl="1" indent="0">
              <a:buNone/>
            </a:pPr>
            <a:r>
              <a:rPr lang="en-US" sz="2000" dirty="0"/>
              <a:t>Division by 2 Method:</a:t>
            </a:r>
          </a:p>
          <a:p>
            <a:pPr marL="891540" lvl="2" indent="-342900">
              <a:buFont typeface="+mj-lt"/>
              <a:buAutoNum type="arabicPeriod"/>
            </a:pPr>
            <a:r>
              <a:rPr lang="en-US" sz="1800" dirty="0"/>
              <a:t>13 ÷ 2 = 6, remainder = 1</a:t>
            </a:r>
          </a:p>
          <a:p>
            <a:pPr marL="891540" lvl="2" indent="-342900">
              <a:buFont typeface="+mj-lt"/>
              <a:buAutoNum type="arabicPeriod"/>
            </a:pPr>
            <a:r>
              <a:rPr lang="en-US" sz="1800" dirty="0"/>
              <a:t>6 ÷ 2 = 3, remainder = 0</a:t>
            </a:r>
          </a:p>
          <a:p>
            <a:pPr marL="891540" lvl="2" indent="-342900">
              <a:buFont typeface="+mj-lt"/>
              <a:buAutoNum type="arabicPeriod"/>
            </a:pPr>
            <a:r>
              <a:rPr lang="en-US" sz="1800" dirty="0"/>
              <a:t>3 ÷ 2 = 1, remainder = 1</a:t>
            </a:r>
          </a:p>
          <a:p>
            <a:pPr marL="891540" lvl="2" indent="-342900">
              <a:buFont typeface="+mj-lt"/>
              <a:buAutoNum type="arabicPeriod"/>
            </a:pPr>
            <a:r>
              <a:rPr lang="en-US" sz="1800" dirty="0"/>
              <a:t>1 ÷ 2 = 0, remainder = 1</a:t>
            </a:r>
          </a:p>
          <a:p>
            <a:pPr marL="891540" lvl="2" indent="-342900">
              <a:buFont typeface="+mj-lt"/>
              <a:buAutoNum type="arabicPeriod"/>
            </a:pPr>
            <a:r>
              <a:rPr lang="en-US" sz="1800" dirty="0"/>
              <a:t>Read remainders bottom to top:</a:t>
            </a:r>
          </a:p>
          <a:p>
            <a:pPr marL="891540" lvl="2" indent="-342900">
              <a:buFont typeface="+mj-lt"/>
              <a:buAutoNum type="arabicPeriod"/>
            </a:pPr>
            <a:r>
              <a:rPr lang="en-US" sz="1800" dirty="0"/>
              <a:t>13 (Decimal) = 1101 (Binary)</a:t>
            </a:r>
          </a:p>
          <a:p>
            <a:pPr marL="0" indent="0">
              <a:buNone/>
            </a:pPr>
            <a:br>
              <a:rPr lang="en-US" dirty="0"/>
            </a:br>
            <a:endParaRPr lang="en-US" dirty="0"/>
          </a:p>
        </p:txBody>
      </p:sp>
      <p:sp>
        <p:nvSpPr>
          <p:cNvPr id="4" name="Slide Number Placeholder 3"/>
          <p:cNvSpPr>
            <a:spLocks noGrp="1"/>
          </p:cNvSpPr>
          <p:nvPr>
            <p:ph type="sldNum" sz="quarter" idx="12"/>
          </p:nvPr>
        </p:nvSpPr>
        <p:spPr/>
        <p:txBody>
          <a:bodyPr/>
          <a:lstStyle/>
          <a:p>
            <a:fld id="{380846C1-CD93-4AE4-8DA9-0A1941B6C5F9}" type="slidenum">
              <a:rPr lang="en-US" smtClean="0"/>
              <a:t>51</a:t>
            </a:fld>
            <a:endParaRPr lang="en-US"/>
          </a:p>
        </p:txBody>
      </p:sp>
    </p:spTree>
    <p:extLst>
      <p:ext uri="{BB962C8B-B14F-4D97-AF65-F5344CB8AC3E}">
        <p14:creationId xmlns:p14="http://schemas.microsoft.com/office/powerpoint/2010/main" val="285992420"/>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69848" y="125128"/>
            <a:ext cx="10058400" cy="577516"/>
          </a:xfrm>
        </p:spPr>
        <p:txBody>
          <a:bodyPr>
            <a:normAutofit/>
          </a:bodyPr>
          <a:lstStyle/>
          <a:p>
            <a:r>
              <a:rPr lang="en-US" sz="2800" b="1" dirty="0"/>
              <a:t>First Version of Multiplication Algorithm</a:t>
            </a:r>
          </a:p>
        </p:txBody>
      </p:sp>
      <p:sp>
        <p:nvSpPr>
          <p:cNvPr id="4" name="Slide Number Placeholder 3"/>
          <p:cNvSpPr>
            <a:spLocks noGrp="1"/>
          </p:cNvSpPr>
          <p:nvPr>
            <p:ph type="sldNum" sz="quarter" idx="12"/>
          </p:nvPr>
        </p:nvSpPr>
        <p:spPr/>
        <p:txBody>
          <a:bodyPr/>
          <a:lstStyle/>
          <a:p>
            <a:fld id="{380846C1-CD93-4AE4-8DA9-0A1941B6C5F9}" type="slidenum">
              <a:rPr lang="en-US" smtClean="0"/>
              <a:t>52</a:t>
            </a:fld>
            <a:endParaRPr lang="en-US"/>
          </a:p>
        </p:txBody>
      </p:sp>
      <p:pic>
        <p:nvPicPr>
          <p:cNvPr id="1026" name="Picture 2" descr="https://lh7-rt.googleusercontent.com/docsz/AD_4nXe8Og4CYeKaB50WYwVL16PcV3ln2IgKogY5x2ebPvmYnRxXtoQA1tz09o-QlNHwSPWZmU0mTOtovcPJjiE8b3Gc-R_apymmQ8N_1zzeEJREOZgCW5BQfZMwfOdYALjatOS_vwYPgA?key=3t1yVFxkmF-Va4PpDyArpCDB"/>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528500" y="683606"/>
            <a:ext cx="5038999" cy="5771740"/>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13" name="Table 12"/>
          <p:cNvGraphicFramePr>
            <a:graphicFrameLocks noGrp="1"/>
          </p:cNvGraphicFramePr>
          <p:nvPr>
            <p:extLst>
              <p:ext uri="{D42A27DB-BD31-4B8C-83A1-F6EECF244321}">
                <p14:modId xmlns:p14="http://schemas.microsoft.com/office/powerpoint/2010/main" val="4093211219"/>
              </p:ext>
            </p:extLst>
          </p:nvPr>
        </p:nvGraphicFramePr>
        <p:xfrm>
          <a:off x="5906010" y="1907952"/>
          <a:ext cx="5222240" cy="2933033"/>
        </p:xfrm>
        <a:graphic>
          <a:graphicData uri="http://schemas.openxmlformats.org/drawingml/2006/table">
            <a:tbl>
              <a:tblPr firstRow="1" bandRow="1">
                <a:tableStyleId>{5940675A-B579-460E-94D1-54222C63F5DA}</a:tableStyleId>
              </a:tblPr>
              <a:tblGrid>
                <a:gridCol w="1305560">
                  <a:extLst>
                    <a:ext uri="{9D8B030D-6E8A-4147-A177-3AD203B41FA5}">
                      <a16:colId xmlns:a16="http://schemas.microsoft.com/office/drawing/2014/main" val="20000"/>
                    </a:ext>
                  </a:extLst>
                </a:gridCol>
                <a:gridCol w="1305560">
                  <a:extLst>
                    <a:ext uri="{9D8B030D-6E8A-4147-A177-3AD203B41FA5}">
                      <a16:colId xmlns:a16="http://schemas.microsoft.com/office/drawing/2014/main" val="20001"/>
                    </a:ext>
                  </a:extLst>
                </a:gridCol>
                <a:gridCol w="1305560">
                  <a:extLst>
                    <a:ext uri="{9D8B030D-6E8A-4147-A177-3AD203B41FA5}">
                      <a16:colId xmlns:a16="http://schemas.microsoft.com/office/drawing/2014/main" val="20002"/>
                    </a:ext>
                  </a:extLst>
                </a:gridCol>
                <a:gridCol w="1305560">
                  <a:extLst>
                    <a:ext uri="{9D8B030D-6E8A-4147-A177-3AD203B41FA5}">
                      <a16:colId xmlns:a16="http://schemas.microsoft.com/office/drawing/2014/main" val="20003"/>
                    </a:ext>
                  </a:extLst>
                </a:gridCol>
              </a:tblGrid>
              <a:tr h="367633">
                <a:tc>
                  <a:txBody>
                    <a:bodyPr/>
                    <a:lstStyle/>
                    <a:p>
                      <a:r>
                        <a:rPr lang="en-US" sz="1400" b="1" dirty="0"/>
                        <a:t>Steps</a:t>
                      </a:r>
                    </a:p>
                  </a:txBody>
                  <a:tcPr/>
                </a:tc>
                <a:tc>
                  <a:txBody>
                    <a:bodyPr/>
                    <a:lstStyle/>
                    <a:p>
                      <a:r>
                        <a:rPr lang="en-US" sz="1400" b="1" dirty="0" err="1"/>
                        <a:t>Mutiplicand</a:t>
                      </a:r>
                      <a:endParaRPr lang="en-US" sz="1400" b="1" dirty="0"/>
                    </a:p>
                  </a:txBody>
                  <a:tcPr/>
                </a:tc>
                <a:tc>
                  <a:txBody>
                    <a:bodyPr/>
                    <a:lstStyle/>
                    <a:p>
                      <a:r>
                        <a:rPr lang="en-US" sz="1400" b="1" dirty="0"/>
                        <a:t>Multiplier</a:t>
                      </a:r>
                    </a:p>
                  </a:txBody>
                  <a:tcPr/>
                </a:tc>
                <a:tc>
                  <a:txBody>
                    <a:bodyPr/>
                    <a:lstStyle/>
                    <a:p>
                      <a:r>
                        <a:rPr lang="en-US" sz="1400" b="1" dirty="0"/>
                        <a:t>Product</a:t>
                      </a:r>
                    </a:p>
                  </a:txBody>
                  <a:tcPr/>
                </a:tc>
                <a:extLst>
                  <a:ext uri="{0D108BD9-81ED-4DB2-BD59-A6C34878D82A}">
                    <a16:rowId xmlns:a16="http://schemas.microsoft.com/office/drawing/2014/main" val="10000"/>
                  </a:ext>
                </a:extLst>
              </a:tr>
              <a:tr h="370840">
                <a:tc>
                  <a:txBody>
                    <a:bodyPr/>
                    <a:lstStyle/>
                    <a:p>
                      <a:r>
                        <a:rPr lang="en-US" dirty="0" err="1"/>
                        <a:t>Init</a:t>
                      </a:r>
                      <a:endParaRPr lang="en-US" dirty="0"/>
                    </a:p>
                  </a:txBody>
                  <a:tcPr/>
                </a:tc>
                <a:tc>
                  <a:txBody>
                    <a:bodyPr/>
                    <a:lstStyle/>
                    <a:p>
                      <a:r>
                        <a:rPr lang="en-US" dirty="0">
                          <a:solidFill>
                            <a:schemeClr val="tx1"/>
                          </a:solidFill>
                        </a:rPr>
                        <a:t>0011</a:t>
                      </a:r>
                    </a:p>
                  </a:txBody>
                  <a:tcPr/>
                </a:tc>
                <a:tc>
                  <a:txBody>
                    <a:bodyPr/>
                    <a:lstStyle/>
                    <a:p>
                      <a:r>
                        <a:rPr lang="en-US" dirty="0">
                          <a:solidFill>
                            <a:schemeClr val="tx1"/>
                          </a:solidFill>
                        </a:rPr>
                        <a:t>001</a:t>
                      </a:r>
                      <a:r>
                        <a:rPr lang="en-US" dirty="0">
                          <a:solidFill>
                            <a:srgbClr val="FF0000"/>
                          </a:solidFill>
                        </a:rPr>
                        <a:t>0</a:t>
                      </a:r>
                      <a:r>
                        <a:rPr lang="en-US" dirty="0">
                          <a:solidFill>
                            <a:schemeClr val="tx1"/>
                          </a:solidFill>
                        </a:rPr>
                        <a:t> 0010</a:t>
                      </a:r>
                    </a:p>
                  </a:txBody>
                  <a:tcPr/>
                </a:tc>
                <a:tc>
                  <a:txBody>
                    <a:bodyPr/>
                    <a:lstStyle/>
                    <a:p>
                      <a:r>
                        <a:rPr lang="en-US" dirty="0"/>
                        <a:t>0000 0000</a:t>
                      </a:r>
                    </a:p>
                  </a:txBody>
                  <a:tcPr/>
                </a:tc>
                <a:extLst>
                  <a:ext uri="{0D108BD9-81ED-4DB2-BD59-A6C34878D82A}">
                    <a16:rowId xmlns:a16="http://schemas.microsoft.com/office/drawing/2014/main" val="10001"/>
                  </a:ext>
                </a:extLst>
              </a:tr>
              <a:tr h="370840">
                <a:tc>
                  <a:txBody>
                    <a:bodyPr/>
                    <a:lstStyle/>
                    <a:p>
                      <a:r>
                        <a:rPr lang="en-US" dirty="0"/>
                        <a:t>2</a:t>
                      </a:r>
                    </a:p>
                    <a:p>
                      <a:r>
                        <a:rPr lang="en-US" dirty="0"/>
                        <a:t>3</a:t>
                      </a:r>
                    </a:p>
                  </a:txBody>
                  <a:tcPr/>
                </a:tc>
                <a:tc>
                  <a:txBody>
                    <a:bodyPr/>
                    <a:lstStyle/>
                    <a:p>
                      <a:r>
                        <a:rPr lang="en-US" dirty="0"/>
                        <a:t>0110</a:t>
                      </a:r>
                    </a:p>
                    <a:p>
                      <a:r>
                        <a:rPr lang="en-US" dirty="0"/>
                        <a:t>0110</a:t>
                      </a:r>
                    </a:p>
                  </a:txBody>
                  <a:tcPr/>
                </a:tc>
                <a:tc>
                  <a:txBody>
                    <a:bodyPr/>
                    <a:lstStyle/>
                    <a:p>
                      <a:r>
                        <a:rPr lang="en-US" dirty="0">
                          <a:solidFill>
                            <a:schemeClr val="tx1"/>
                          </a:solidFill>
                        </a:rPr>
                        <a:t>0010 0010</a:t>
                      </a:r>
                    </a:p>
                    <a:p>
                      <a:r>
                        <a:rPr lang="en-US" dirty="0">
                          <a:solidFill>
                            <a:schemeClr val="tx1"/>
                          </a:solidFill>
                        </a:rPr>
                        <a:t>00</a:t>
                      </a:r>
                      <a:r>
                        <a:rPr lang="en-US" dirty="0">
                          <a:solidFill>
                            <a:srgbClr val="FF0000"/>
                          </a:solidFill>
                        </a:rPr>
                        <a:t>1</a:t>
                      </a:r>
                      <a:r>
                        <a:rPr lang="en-US" dirty="0">
                          <a:solidFill>
                            <a:schemeClr val="tx1"/>
                          </a:solidFill>
                        </a:rPr>
                        <a:t>0 0001</a:t>
                      </a:r>
                    </a:p>
                  </a:txBody>
                  <a:tcPr/>
                </a:tc>
                <a:tc>
                  <a:txBody>
                    <a:bodyPr/>
                    <a:lstStyle/>
                    <a:p>
                      <a:r>
                        <a:rPr lang="en-US" dirty="0"/>
                        <a:t>0000 0000</a:t>
                      </a:r>
                    </a:p>
                    <a:p>
                      <a:r>
                        <a:rPr lang="en-US" dirty="0"/>
                        <a:t>0000</a:t>
                      </a:r>
                      <a:r>
                        <a:rPr lang="en-US" baseline="0" dirty="0"/>
                        <a:t> 0000</a:t>
                      </a:r>
                      <a:endParaRPr lang="en-US" dirty="0"/>
                    </a:p>
                  </a:txBody>
                  <a:tcPr/>
                </a:tc>
                <a:extLst>
                  <a:ext uri="{0D108BD9-81ED-4DB2-BD59-A6C34878D82A}">
                    <a16:rowId xmlns:a16="http://schemas.microsoft.com/office/drawing/2014/main" val="10002"/>
                  </a:ext>
                </a:extLst>
              </a:tr>
              <a:tr h="370840">
                <a:tc>
                  <a:txBody>
                    <a:bodyPr/>
                    <a:lstStyle/>
                    <a:p>
                      <a:r>
                        <a:rPr lang="en-US" dirty="0"/>
                        <a:t>1a</a:t>
                      </a:r>
                    </a:p>
                    <a:p>
                      <a:r>
                        <a:rPr lang="en-US" dirty="0"/>
                        <a:t>2</a:t>
                      </a:r>
                    </a:p>
                    <a:p>
                      <a:r>
                        <a:rPr lang="en-US" dirty="0"/>
                        <a:t>3</a:t>
                      </a:r>
                    </a:p>
                  </a:txBody>
                  <a:tcPr/>
                </a:tc>
                <a:tc>
                  <a:txBody>
                    <a:bodyPr/>
                    <a:lstStyle/>
                    <a:p>
                      <a:r>
                        <a:rPr lang="en-US" dirty="0"/>
                        <a:t>0110</a:t>
                      </a:r>
                    </a:p>
                    <a:p>
                      <a:r>
                        <a:rPr lang="en-US" dirty="0"/>
                        <a:t>1100</a:t>
                      </a:r>
                    </a:p>
                    <a:p>
                      <a:r>
                        <a:rPr lang="en-US" dirty="0"/>
                        <a:t>1100</a:t>
                      </a:r>
                    </a:p>
                  </a:txBody>
                  <a:tcPr/>
                </a:tc>
                <a:tc>
                  <a:txBody>
                    <a:bodyPr/>
                    <a:lstStyle/>
                    <a:p>
                      <a:r>
                        <a:rPr lang="en-US" dirty="0">
                          <a:solidFill>
                            <a:schemeClr val="tx1"/>
                          </a:solidFill>
                        </a:rPr>
                        <a:t>0010 0001</a:t>
                      </a:r>
                    </a:p>
                    <a:p>
                      <a:r>
                        <a:rPr lang="en-US" dirty="0">
                          <a:solidFill>
                            <a:schemeClr val="tx1"/>
                          </a:solidFill>
                        </a:rPr>
                        <a:t>0010 0001</a:t>
                      </a:r>
                    </a:p>
                    <a:p>
                      <a:r>
                        <a:rPr lang="en-US" dirty="0">
                          <a:solidFill>
                            <a:schemeClr val="tx1"/>
                          </a:solidFill>
                        </a:rPr>
                        <a:t>0010 0000</a:t>
                      </a:r>
                    </a:p>
                  </a:txBody>
                  <a:tcPr/>
                </a:tc>
                <a:tc>
                  <a:txBody>
                    <a:bodyPr/>
                    <a:lstStyle/>
                    <a:p>
                      <a:r>
                        <a:rPr lang="en-US" dirty="0"/>
                        <a:t>0000 0110</a:t>
                      </a:r>
                    </a:p>
                    <a:p>
                      <a:r>
                        <a:rPr lang="en-US" dirty="0"/>
                        <a:t>0000 0110</a:t>
                      </a:r>
                    </a:p>
                    <a:p>
                      <a:r>
                        <a:rPr lang="en-US" dirty="0"/>
                        <a:t>0000 0</a:t>
                      </a:r>
                      <a:r>
                        <a:rPr lang="en-US" dirty="0">
                          <a:solidFill>
                            <a:srgbClr val="FF0000"/>
                          </a:solidFill>
                        </a:rPr>
                        <a:t>110</a:t>
                      </a:r>
                    </a:p>
                  </a:txBody>
                  <a:tcPr/>
                </a:tc>
                <a:extLst>
                  <a:ext uri="{0D108BD9-81ED-4DB2-BD59-A6C34878D82A}">
                    <a16:rowId xmlns:a16="http://schemas.microsoft.com/office/drawing/2014/main" val="10003"/>
                  </a:ext>
                </a:extLst>
              </a:tr>
              <a:tr h="370840">
                <a:tc>
                  <a:txBody>
                    <a:bodyPr/>
                    <a:lstStyle/>
                    <a:p>
                      <a:endParaRPr lang="en-US"/>
                    </a:p>
                  </a:txBody>
                  <a:tcPr/>
                </a:tc>
                <a:tc>
                  <a:txBody>
                    <a:bodyPr/>
                    <a:lstStyle/>
                    <a:p>
                      <a:endParaRPr lang="en-US"/>
                    </a:p>
                  </a:txBody>
                  <a:tcPr/>
                </a:tc>
                <a:tc>
                  <a:txBody>
                    <a:bodyPr/>
                    <a:lstStyle/>
                    <a:p>
                      <a:endParaRPr lang="en-US" dirty="0"/>
                    </a:p>
                  </a:txBody>
                  <a:tcPr/>
                </a:tc>
                <a:tc>
                  <a:txBody>
                    <a:bodyPr/>
                    <a:lstStyle/>
                    <a:p>
                      <a:r>
                        <a:rPr lang="en-US" dirty="0"/>
                        <a:t>110 = 6 (ANS)</a:t>
                      </a:r>
                    </a:p>
                  </a:txBody>
                  <a:tcPr/>
                </a:tc>
                <a:extLst>
                  <a:ext uri="{0D108BD9-81ED-4DB2-BD59-A6C34878D82A}">
                    <a16:rowId xmlns:a16="http://schemas.microsoft.com/office/drawing/2014/main" val="10004"/>
                  </a:ext>
                </a:extLst>
              </a:tr>
            </a:tbl>
          </a:graphicData>
        </a:graphic>
      </p:graphicFrame>
      <p:sp>
        <p:nvSpPr>
          <p:cNvPr id="14" name="Rectangle 13"/>
          <p:cNvSpPr/>
          <p:nvPr/>
        </p:nvSpPr>
        <p:spPr>
          <a:xfrm>
            <a:off x="5906010" y="843633"/>
            <a:ext cx="1773434" cy="923330"/>
          </a:xfrm>
          <a:prstGeom prst="rect">
            <a:avLst/>
          </a:prstGeom>
        </p:spPr>
        <p:txBody>
          <a:bodyPr wrap="none">
            <a:spAutoFit/>
          </a:bodyPr>
          <a:lstStyle/>
          <a:p>
            <a:r>
              <a:rPr lang="en-US" dirty="0">
                <a:solidFill>
                  <a:srgbClr val="000000"/>
                </a:solidFill>
              </a:rPr>
              <a:t>Multiply 3 x 2 ?</a:t>
            </a:r>
          </a:p>
          <a:p>
            <a:r>
              <a:rPr lang="en-US" dirty="0">
                <a:solidFill>
                  <a:schemeClr val="accent1"/>
                </a:solidFill>
              </a:rPr>
              <a:t>2 = 0010</a:t>
            </a:r>
          </a:p>
          <a:p>
            <a:r>
              <a:rPr lang="en-US" dirty="0">
                <a:solidFill>
                  <a:schemeClr val="accent1"/>
                </a:solidFill>
              </a:rPr>
              <a:t>3 = 0011</a:t>
            </a:r>
          </a:p>
        </p:txBody>
      </p:sp>
    </p:spTree>
    <p:extLst>
      <p:ext uri="{BB962C8B-B14F-4D97-AF65-F5344CB8AC3E}">
        <p14:creationId xmlns:p14="http://schemas.microsoft.com/office/powerpoint/2010/main" val="3003869086"/>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69848" y="125128"/>
            <a:ext cx="10058400" cy="577516"/>
          </a:xfrm>
        </p:spPr>
        <p:txBody>
          <a:bodyPr>
            <a:normAutofit/>
          </a:bodyPr>
          <a:lstStyle/>
          <a:p>
            <a:r>
              <a:rPr lang="en-US" sz="2800" b="1" dirty="0"/>
              <a:t>Second Version of Multiplication Algorithm</a:t>
            </a:r>
          </a:p>
        </p:txBody>
      </p:sp>
      <p:sp>
        <p:nvSpPr>
          <p:cNvPr id="4" name="Slide Number Placeholder 3"/>
          <p:cNvSpPr>
            <a:spLocks noGrp="1"/>
          </p:cNvSpPr>
          <p:nvPr>
            <p:ph type="sldNum" sz="quarter" idx="12"/>
          </p:nvPr>
        </p:nvSpPr>
        <p:spPr/>
        <p:txBody>
          <a:bodyPr/>
          <a:lstStyle/>
          <a:p>
            <a:fld id="{380846C1-CD93-4AE4-8DA9-0A1941B6C5F9}" type="slidenum">
              <a:rPr lang="en-US" smtClean="0"/>
              <a:t>53</a:t>
            </a:fld>
            <a:endParaRPr lang="en-US"/>
          </a:p>
        </p:txBody>
      </p:sp>
      <p:graphicFrame>
        <p:nvGraphicFramePr>
          <p:cNvPr id="13" name="Table 12"/>
          <p:cNvGraphicFramePr>
            <a:graphicFrameLocks noGrp="1"/>
          </p:cNvGraphicFramePr>
          <p:nvPr>
            <p:extLst>
              <p:ext uri="{D42A27DB-BD31-4B8C-83A1-F6EECF244321}">
                <p14:modId xmlns:p14="http://schemas.microsoft.com/office/powerpoint/2010/main" val="1264182161"/>
              </p:ext>
            </p:extLst>
          </p:nvPr>
        </p:nvGraphicFramePr>
        <p:xfrm>
          <a:off x="5906010" y="1907952"/>
          <a:ext cx="5222240" cy="3847433"/>
        </p:xfrm>
        <a:graphic>
          <a:graphicData uri="http://schemas.openxmlformats.org/drawingml/2006/table">
            <a:tbl>
              <a:tblPr firstRow="1" bandRow="1">
                <a:tableStyleId>{5940675A-B579-460E-94D1-54222C63F5DA}</a:tableStyleId>
              </a:tblPr>
              <a:tblGrid>
                <a:gridCol w="1305560">
                  <a:extLst>
                    <a:ext uri="{9D8B030D-6E8A-4147-A177-3AD203B41FA5}">
                      <a16:colId xmlns:a16="http://schemas.microsoft.com/office/drawing/2014/main" val="20000"/>
                    </a:ext>
                  </a:extLst>
                </a:gridCol>
                <a:gridCol w="1305560">
                  <a:extLst>
                    <a:ext uri="{9D8B030D-6E8A-4147-A177-3AD203B41FA5}">
                      <a16:colId xmlns:a16="http://schemas.microsoft.com/office/drawing/2014/main" val="20001"/>
                    </a:ext>
                  </a:extLst>
                </a:gridCol>
                <a:gridCol w="1305560">
                  <a:extLst>
                    <a:ext uri="{9D8B030D-6E8A-4147-A177-3AD203B41FA5}">
                      <a16:colId xmlns:a16="http://schemas.microsoft.com/office/drawing/2014/main" val="20002"/>
                    </a:ext>
                  </a:extLst>
                </a:gridCol>
                <a:gridCol w="1305560">
                  <a:extLst>
                    <a:ext uri="{9D8B030D-6E8A-4147-A177-3AD203B41FA5}">
                      <a16:colId xmlns:a16="http://schemas.microsoft.com/office/drawing/2014/main" val="20003"/>
                    </a:ext>
                  </a:extLst>
                </a:gridCol>
              </a:tblGrid>
              <a:tr h="367633">
                <a:tc>
                  <a:txBody>
                    <a:bodyPr/>
                    <a:lstStyle/>
                    <a:p>
                      <a:r>
                        <a:rPr lang="en-US" sz="1400" b="1" dirty="0"/>
                        <a:t>Steps</a:t>
                      </a:r>
                    </a:p>
                  </a:txBody>
                  <a:tcPr/>
                </a:tc>
                <a:tc>
                  <a:txBody>
                    <a:bodyPr/>
                    <a:lstStyle/>
                    <a:p>
                      <a:r>
                        <a:rPr lang="en-US" sz="1400" b="1" dirty="0" err="1"/>
                        <a:t>Mutiplicand</a:t>
                      </a:r>
                      <a:endParaRPr lang="en-US" sz="1400" b="1" dirty="0"/>
                    </a:p>
                  </a:txBody>
                  <a:tcPr/>
                </a:tc>
                <a:tc>
                  <a:txBody>
                    <a:bodyPr/>
                    <a:lstStyle/>
                    <a:p>
                      <a:r>
                        <a:rPr lang="en-US" sz="1400" b="1" dirty="0"/>
                        <a:t>Multiplier</a:t>
                      </a:r>
                    </a:p>
                  </a:txBody>
                  <a:tcPr/>
                </a:tc>
                <a:tc>
                  <a:txBody>
                    <a:bodyPr/>
                    <a:lstStyle/>
                    <a:p>
                      <a:r>
                        <a:rPr lang="en-US" sz="1400" b="1" dirty="0"/>
                        <a:t>Product</a:t>
                      </a:r>
                    </a:p>
                  </a:txBody>
                  <a:tcPr/>
                </a:tc>
                <a:extLst>
                  <a:ext uri="{0D108BD9-81ED-4DB2-BD59-A6C34878D82A}">
                    <a16:rowId xmlns:a16="http://schemas.microsoft.com/office/drawing/2014/main" val="10000"/>
                  </a:ext>
                </a:extLst>
              </a:tr>
              <a:tr h="370840">
                <a:tc>
                  <a:txBody>
                    <a:bodyPr/>
                    <a:lstStyle/>
                    <a:p>
                      <a:r>
                        <a:rPr lang="en-US" dirty="0" err="1"/>
                        <a:t>Init</a:t>
                      </a:r>
                      <a:endParaRPr lang="en-US" dirty="0"/>
                    </a:p>
                  </a:txBody>
                  <a:tcPr/>
                </a:tc>
                <a:tc>
                  <a:txBody>
                    <a:bodyPr/>
                    <a:lstStyle/>
                    <a:p>
                      <a:r>
                        <a:rPr lang="en-US" dirty="0">
                          <a:solidFill>
                            <a:schemeClr val="tx1"/>
                          </a:solidFill>
                        </a:rPr>
                        <a:t>0011</a:t>
                      </a:r>
                    </a:p>
                  </a:txBody>
                  <a:tcPr/>
                </a:tc>
                <a:tc>
                  <a:txBody>
                    <a:bodyPr/>
                    <a:lstStyle/>
                    <a:p>
                      <a:r>
                        <a:rPr lang="en-US" dirty="0">
                          <a:solidFill>
                            <a:schemeClr val="tx1"/>
                          </a:solidFill>
                        </a:rPr>
                        <a:t>001</a:t>
                      </a:r>
                      <a:r>
                        <a:rPr lang="en-US" dirty="0">
                          <a:solidFill>
                            <a:srgbClr val="FF0000"/>
                          </a:solidFill>
                        </a:rPr>
                        <a:t>0</a:t>
                      </a:r>
                      <a:r>
                        <a:rPr lang="en-US" dirty="0">
                          <a:solidFill>
                            <a:schemeClr val="tx1"/>
                          </a:solidFill>
                        </a:rPr>
                        <a:t> 0010</a:t>
                      </a:r>
                    </a:p>
                  </a:txBody>
                  <a:tcPr/>
                </a:tc>
                <a:tc>
                  <a:txBody>
                    <a:bodyPr/>
                    <a:lstStyle/>
                    <a:p>
                      <a:r>
                        <a:rPr lang="en-US" dirty="0"/>
                        <a:t>0000 0000</a:t>
                      </a:r>
                    </a:p>
                  </a:txBody>
                  <a:tcPr/>
                </a:tc>
                <a:extLst>
                  <a:ext uri="{0D108BD9-81ED-4DB2-BD59-A6C34878D82A}">
                    <a16:rowId xmlns:a16="http://schemas.microsoft.com/office/drawing/2014/main" val="10001"/>
                  </a:ext>
                </a:extLst>
              </a:tr>
              <a:tr h="370840">
                <a:tc>
                  <a:txBody>
                    <a:bodyPr/>
                    <a:lstStyle/>
                    <a:p>
                      <a:r>
                        <a:rPr lang="en-US" dirty="0"/>
                        <a:t>2</a:t>
                      </a:r>
                    </a:p>
                    <a:p>
                      <a:r>
                        <a:rPr lang="en-US" dirty="0"/>
                        <a:t>3</a:t>
                      </a:r>
                    </a:p>
                  </a:txBody>
                  <a:tcPr/>
                </a:tc>
                <a:tc>
                  <a:txBody>
                    <a:bodyPr/>
                    <a:lstStyle/>
                    <a:p>
                      <a:endParaRPr lang="en-US" dirty="0"/>
                    </a:p>
                  </a:txBody>
                  <a:tcPr/>
                </a:tc>
                <a:tc>
                  <a:txBody>
                    <a:bodyPr/>
                    <a:lstStyle/>
                    <a:p>
                      <a:r>
                        <a:rPr lang="en-US" dirty="0">
                          <a:solidFill>
                            <a:schemeClr val="tx1"/>
                          </a:solidFill>
                        </a:rPr>
                        <a:t>0010 0010</a:t>
                      </a:r>
                    </a:p>
                    <a:p>
                      <a:r>
                        <a:rPr lang="en-US" dirty="0">
                          <a:solidFill>
                            <a:schemeClr val="tx1"/>
                          </a:solidFill>
                        </a:rPr>
                        <a:t>00</a:t>
                      </a:r>
                      <a:r>
                        <a:rPr lang="en-US" dirty="0">
                          <a:solidFill>
                            <a:srgbClr val="FF0000"/>
                          </a:solidFill>
                        </a:rPr>
                        <a:t>1</a:t>
                      </a:r>
                      <a:r>
                        <a:rPr lang="en-US" dirty="0">
                          <a:solidFill>
                            <a:schemeClr val="tx1"/>
                          </a:solidFill>
                        </a:rPr>
                        <a:t>0 0001</a:t>
                      </a:r>
                    </a:p>
                  </a:txBody>
                  <a:tcPr/>
                </a:tc>
                <a:tc>
                  <a:txBody>
                    <a:bodyPr/>
                    <a:lstStyle/>
                    <a:p>
                      <a:r>
                        <a:rPr lang="en-US" dirty="0"/>
                        <a:t>0000 0000</a:t>
                      </a:r>
                    </a:p>
                    <a:p>
                      <a:r>
                        <a:rPr lang="en-US" dirty="0"/>
                        <a:t>0000</a:t>
                      </a:r>
                      <a:r>
                        <a:rPr lang="en-US" baseline="0" dirty="0"/>
                        <a:t> 0000</a:t>
                      </a:r>
                      <a:endParaRPr lang="en-US" dirty="0"/>
                    </a:p>
                  </a:txBody>
                  <a:tcPr/>
                </a:tc>
                <a:extLst>
                  <a:ext uri="{0D108BD9-81ED-4DB2-BD59-A6C34878D82A}">
                    <a16:rowId xmlns:a16="http://schemas.microsoft.com/office/drawing/2014/main" val="10002"/>
                  </a:ext>
                </a:extLst>
              </a:tr>
              <a:tr h="370840">
                <a:tc>
                  <a:txBody>
                    <a:bodyPr/>
                    <a:lstStyle/>
                    <a:p>
                      <a:r>
                        <a:rPr lang="en-US" dirty="0"/>
                        <a:t>1a</a:t>
                      </a:r>
                    </a:p>
                    <a:p>
                      <a:r>
                        <a:rPr lang="en-US" dirty="0"/>
                        <a:t>2</a:t>
                      </a:r>
                    </a:p>
                    <a:p>
                      <a:r>
                        <a:rPr lang="en-US" dirty="0"/>
                        <a:t>3</a:t>
                      </a:r>
                    </a:p>
                  </a:txBody>
                  <a:tcPr/>
                </a:tc>
                <a:tc>
                  <a:txBody>
                    <a:bodyPr/>
                    <a:lstStyle/>
                    <a:p>
                      <a:endParaRPr lang="en-US" dirty="0"/>
                    </a:p>
                  </a:txBody>
                  <a:tcPr/>
                </a:tc>
                <a:tc>
                  <a:txBody>
                    <a:bodyPr/>
                    <a:lstStyle/>
                    <a:p>
                      <a:r>
                        <a:rPr lang="en-US" dirty="0">
                          <a:solidFill>
                            <a:schemeClr val="tx1"/>
                          </a:solidFill>
                        </a:rPr>
                        <a:t>0010 0001</a:t>
                      </a:r>
                    </a:p>
                    <a:p>
                      <a:r>
                        <a:rPr lang="en-US" dirty="0">
                          <a:solidFill>
                            <a:schemeClr val="tx1"/>
                          </a:solidFill>
                        </a:rPr>
                        <a:t>0010 0001</a:t>
                      </a:r>
                    </a:p>
                    <a:p>
                      <a:r>
                        <a:rPr lang="en-US" dirty="0">
                          <a:solidFill>
                            <a:schemeClr val="tx1"/>
                          </a:solidFill>
                        </a:rPr>
                        <a:t>0</a:t>
                      </a:r>
                      <a:r>
                        <a:rPr lang="en-US" dirty="0">
                          <a:solidFill>
                            <a:srgbClr val="FF0000"/>
                          </a:solidFill>
                        </a:rPr>
                        <a:t>0</a:t>
                      </a:r>
                      <a:r>
                        <a:rPr lang="en-US" dirty="0">
                          <a:solidFill>
                            <a:schemeClr val="tx1"/>
                          </a:solidFill>
                        </a:rPr>
                        <a:t>10 0000</a:t>
                      </a:r>
                    </a:p>
                  </a:txBody>
                  <a:tcPr/>
                </a:tc>
                <a:tc>
                  <a:txBody>
                    <a:bodyPr/>
                    <a:lstStyle/>
                    <a:p>
                      <a:r>
                        <a:rPr lang="en-US" dirty="0"/>
                        <a:t>0011 0000</a:t>
                      </a:r>
                    </a:p>
                    <a:p>
                      <a:r>
                        <a:rPr lang="en-US" dirty="0"/>
                        <a:t>0001 1000</a:t>
                      </a:r>
                    </a:p>
                    <a:p>
                      <a:r>
                        <a:rPr lang="en-US" dirty="0"/>
                        <a:t>0001</a:t>
                      </a:r>
                      <a:r>
                        <a:rPr lang="en-US" baseline="0" dirty="0"/>
                        <a:t> 1000</a:t>
                      </a:r>
                      <a:endParaRPr lang="en-US" dirty="0">
                        <a:solidFill>
                          <a:srgbClr val="FF0000"/>
                        </a:solidFill>
                      </a:endParaRPr>
                    </a:p>
                  </a:txBody>
                  <a:tcPr/>
                </a:tc>
                <a:extLst>
                  <a:ext uri="{0D108BD9-81ED-4DB2-BD59-A6C34878D82A}">
                    <a16:rowId xmlns:a16="http://schemas.microsoft.com/office/drawing/2014/main" val="10003"/>
                  </a:ext>
                </a:extLst>
              </a:tr>
              <a:tr h="370840">
                <a:tc>
                  <a:txBody>
                    <a:bodyPr/>
                    <a:lstStyle/>
                    <a:p>
                      <a:r>
                        <a:rPr lang="en-US" dirty="0"/>
                        <a:t>2</a:t>
                      </a:r>
                    </a:p>
                    <a:p>
                      <a:r>
                        <a:rPr lang="en-US" dirty="0"/>
                        <a:t>3</a:t>
                      </a:r>
                    </a:p>
                  </a:txBody>
                  <a:tcPr/>
                </a:tc>
                <a:tc>
                  <a:txBody>
                    <a:bodyPr/>
                    <a:lstStyle/>
                    <a:p>
                      <a:endParaRPr lang="en-US" dirty="0"/>
                    </a:p>
                  </a:txBody>
                  <a:tcPr/>
                </a:tc>
                <a:tc>
                  <a:txBody>
                    <a:bodyPr/>
                    <a:lstStyle/>
                    <a:p>
                      <a:r>
                        <a:rPr lang="en-US" dirty="0">
                          <a:solidFill>
                            <a:schemeClr val="tx1"/>
                          </a:solidFill>
                        </a:rPr>
                        <a:t>0010 0000</a:t>
                      </a:r>
                    </a:p>
                    <a:p>
                      <a:r>
                        <a:rPr lang="en-US" dirty="0">
                          <a:solidFill>
                            <a:srgbClr val="FF0000"/>
                          </a:solidFill>
                        </a:rPr>
                        <a:t>0</a:t>
                      </a:r>
                      <a:r>
                        <a:rPr lang="en-US" dirty="0">
                          <a:solidFill>
                            <a:schemeClr val="tx1"/>
                          </a:solidFill>
                        </a:rPr>
                        <a:t>010 0000</a:t>
                      </a:r>
                    </a:p>
                  </a:txBody>
                  <a:tcPr/>
                </a:tc>
                <a:tc>
                  <a:txBody>
                    <a:bodyPr/>
                    <a:lstStyle/>
                    <a:p>
                      <a:r>
                        <a:rPr lang="en-US" dirty="0"/>
                        <a:t>0000 1100</a:t>
                      </a:r>
                    </a:p>
                    <a:p>
                      <a:r>
                        <a:rPr lang="en-US" dirty="0"/>
                        <a:t>0000 1100</a:t>
                      </a:r>
                      <a:endParaRPr lang="en-US" dirty="0">
                        <a:solidFill>
                          <a:srgbClr val="FF0000"/>
                        </a:solidFill>
                      </a:endParaRPr>
                    </a:p>
                  </a:txBody>
                  <a:tcPr/>
                </a:tc>
                <a:extLst>
                  <a:ext uri="{0D108BD9-81ED-4DB2-BD59-A6C34878D82A}">
                    <a16:rowId xmlns:a16="http://schemas.microsoft.com/office/drawing/2014/main" val="10004"/>
                  </a:ext>
                </a:extLst>
              </a:tr>
              <a:tr h="370840">
                <a:tc>
                  <a:txBody>
                    <a:bodyPr/>
                    <a:lstStyle/>
                    <a:p>
                      <a:r>
                        <a:rPr lang="en-US" dirty="0"/>
                        <a:t>2</a:t>
                      </a:r>
                    </a:p>
                    <a:p>
                      <a:r>
                        <a:rPr lang="en-US" dirty="0"/>
                        <a:t>3</a:t>
                      </a:r>
                    </a:p>
                  </a:txBody>
                  <a:tcPr/>
                </a:tc>
                <a:tc>
                  <a:txBody>
                    <a:bodyPr/>
                    <a:lstStyle/>
                    <a:p>
                      <a:endParaRPr lang="en-US" dirty="0"/>
                    </a:p>
                  </a:txBody>
                  <a:tcPr/>
                </a:tc>
                <a:tc>
                  <a:txBody>
                    <a:bodyPr/>
                    <a:lstStyle/>
                    <a:p>
                      <a:r>
                        <a:rPr lang="en-US" dirty="0">
                          <a:solidFill>
                            <a:schemeClr val="tx1"/>
                          </a:solidFill>
                        </a:rPr>
                        <a:t>0010 0000</a:t>
                      </a:r>
                    </a:p>
                    <a:p>
                      <a:r>
                        <a:rPr lang="en-US" dirty="0">
                          <a:solidFill>
                            <a:schemeClr val="tx1"/>
                          </a:solidFill>
                        </a:rPr>
                        <a:t>0010 0000</a:t>
                      </a:r>
                    </a:p>
                  </a:txBody>
                  <a:tcPr/>
                </a:tc>
                <a:tc>
                  <a:txBody>
                    <a:bodyPr/>
                    <a:lstStyle/>
                    <a:p>
                      <a:r>
                        <a:rPr lang="en-US" dirty="0"/>
                        <a:t>0000 0110</a:t>
                      </a:r>
                    </a:p>
                    <a:p>
                      <a:r>
                        <a:rPr lang="en-US" dirty="0"/>
                        <a:t>0000 0</a:t>
                      </a:r>
                      <a:r>
                        <a:rPr lang="en-US" dirty="0">
                          <a:solidFill>
                            <a:srgbClr val="FF0000"/>
                          </a:solidFill>
                        </a:rPr>
                        <a:t>110</a:t>
                      </a:r>
                    </a:p>
                    <a:p>
                      <a:r>
                        <a:rPr lang="en-US" dirty="0">
                          <a:solidFill>
                            <a:srgbClr val="FF0000"/>
                          </a:solidFill>
                        </a:rPr>
                        <a:t>= 6 (ANS)</a:t>
                      </a:r>
                    </a:p>
                  </a:txBody>
                  <a:tcPr/>
                </a:tc>
                <a:extLst>
                  <a:ext uri="{0D108BD9-81ED-4DB2-BD59-A6C34878D82A}">
                    <a16:rowId xmlns:a16="http://schemas.microsoft.com/office/drawing/2014/main" val="10005"/>
                  </a:ext>
                </a:extLst>
              </a:tr>
            </a:tbl>
          </a:graphicData>
        </a:graphic>
      </p:graphicFrame>
      <p:sp>
        <p:nvSpPr>
          <p:cNvPr id="14" name="Rectangle 13"/>
          <p:cNvSpPr/>
          <p:nvPr/>
        </p:nvSpPr>
        <p:spPr>
          <a:xfrm>
            <a:off x="5906010" y="843633"/>
            <a:ext cx="1773434" cy="923330"/>
          </a:xfrm>
          <a:prstGeom prst="rect">
            <a:avLst/>
          </a:prstGeom>
        </p:spPr>
        <p:txBody>
          <a:bodyPr wrap="none">
            <a:spAutoFit/>
          </a:bodyPr>
          <a:lstStyle/>
          <a:p>
            <a:r>
              <a:rPr lang="en-US" dirty="0">
                <a:solidFill>
                  <a:srgbClr val="000000"/>
                </a:solidFill>
              </a:rPr>
              <a:t>Multiply 3 x 2 ?</a:t>
            </a:r>
          </a:p>
          <a:p>
            <a:r>
              <a:rPr lang="en-US" dirty="0">
                <a:solidFill>
                  <a:schemeClr val="accent1"/>
                </a:solidFill>
              </a:rPr>
              <a:t>2 = 0010</a:t>
            </a:r>
          </a:p>
          <a:p>
            <a:r>
              <a:rPr lang="en-US" dirty="0">
                <a:solidFill>
                  <a:schemeClr val="accent1"/>
                </a:solidFill>
              </a:rPr>
              <a:t>3 = 0011</a:t>
            </a:r>
          </a:p>
        </p:txBody>
      </p:sp>
      <p:pic>
        <p:nvPicPr>
          <p:cNvPr id="2052" name="Picture 4" descr="https://lh7-rt.googleusercontent.com/docsz/AD_4nXe6SGVzLWbNQtbu5XhOR4e3XG9v-Ed-LRQh3f-pkpEAiziBZDLgKxBqfWW3rInzp3r5fxRNhCaIdo8U0jN9EaCjSMzcVg35HaUoVDO7OJ6KIvkQOzv4gGPPv39QrhqGfvENEpBJ?key=3t1yVFxkmF-Va4PpDyArpCDB"/>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33391" y="702644"/>
            <a:ext cx="4290995" cy="584052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9614493"/>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69848" y="471641"/>
            <a:ext cx="10058400" cy="577516"/>
          </a:xfrm>
        </p:spPr>
        <p:txBody>
          <a:bodyPr>
            <a:normAutofit fontScale="90000"/>
          </a:bodyPr>
          <a:lstStyle/>
          <a:p>
            <a:r>
              <a:rPr lang="en-US" sz="2800" b="1" dirty="0"/>
              <a:t>First-second Version of Multiplication Algorithm: Example</a:t>
            </a:r>
          </a:p>
        </p:txBody>
      </p:sp>
      <p:sp>
        <p:nvSpPr>
          <p:cNvPr id="4" name="Slide Number Placeholder 3"/>
          <p:cNvSpPr>
            <a:spLocks noGrp="1"/>
          </p:cNvSpPr>
          <p:nvPr>
            <p:ph type="sldNum" sz="quarter" idx="12"/>
          </p:nvPr>
        </p:nvSpPr>
        <p:spPr/>
        <p:txBody>
          <a:bodyPr/>
          <a:lstStyle/>
          <a:p>
            <a:fld id="{380846C1-CD93-4AE4-8DA9-0A1941B6C5F9}" type="slidenum">
              <a:rPr lang="en-US" smtClean="0"/>
              <a:t>54</a:t>
            </a:fld>
            <a:endParaRPr lang="en-US"/>
          </a:p>
        </p:txBody>
      </p:sp>
      <p:sp>
        <p:nvSpPr>
          <p:cNvPr id="3" name="Content Placeholder 2"/>
          <p:cNvSpPr>
            <a:spLocks noGrp="1"/>
          </p:cNvSpPr>
          <p:nvPr>
            <p:ph idx="1"/>
          </p:nvPr>
        </p:nvSpPr>
        <p:spPr>
          <a:xfrm>
            <a:off x="1069848" y="1289785"/>
            <a:ext cx="10058400" cy="4882415"/>
          </a:xfrm>
        </p:spPr>
        <p:txBody>
          <a:bodyPr/>
          <a:lstStyle/>
          <a:p>
            <a:r>
              <a:rPr lang="en-US" dirty="0"/>
              <a:t>In an ancient village, people did not know the “x” multiplication symbol.</a:t>
            </a:r>
            <a:br>
              <a:rPr lang="en-US" dirty="0"/>
            </a:br>
            <a:r>
              <a:rPr lang="en-US" dirty="0"/>
              <a:t>Instead, they only knew how to </a:t>
            </a:r>
            <a:r>
              <a:rPr lang="en-US" b="1" dirty="0"/>
              <a:t>add</a:t>
            </a:r>
            <a:r>
              <a:rPr lang="en-US" dirty="0"/>
              <a:t> numbers.</a:t>
            </a:r>
          </a:p>
          <a:p>
            <a:r>
              <a:rPr lang="en-US" dirty="0"/>
              <a:t>Suppose a farmer wants to calculate how many mangoes he has in total.</a:t>
            </a:r>
            <a:br>
              <a:rPr lang="en-US" dirty="0"/>
            </a:br>
            <a:r>
              <a:rPr lang="en-US" dirty="0"/>
              <a:t>He has </a:t>
            </a:r>
            <a:r>
              <a:rPr lang="en-US" b="1" dirty="0"/>
              <a:t>7 baskets</a:t>
            </a:r>
            <a:r>
              <a:rPr lang="en-US" dirty="0"/>
              <a:t>, and each basket contains </a:t>
            </a:r>
            <a:r>
              <a:rPr lang="en-US" b="1" dirty="0"/>
              <a:t>5 mangoes</a:t>
            </a:r>
            <a:r>
              <a:rPr lang="en-US" dirty="0"/>
              <a:t>.</a:t>
            </a:r>
            <a:br>
              <a:rPr lang="en-US" dirty="0"/>
            </a:br>
            <a:r>
              <a:rPr lang="en-US" dirty="0"/>
              <a:t>Since he cannot multiply directly, he decides to use the </a:t>
            </a:r>
            <a:r>
              <a:rPr lang="en-US" b="1" dirty="0"/>
              <a:t>first and second version of multiplication algorithm</a:t>
            </a:r>
            <a:r>
              <a:rPr lang="en-US" dirty="0"/>
              <a:t> to test both work or not.</a:t>
            </a:r>
          </a:p>
          <a:p>
            <a:pPr marL="346075" indent="-346075">
              <a:buFont typeface="Wingdings" panose="05000000000000000000" pitchFamily="2" charset="2"/>
              <a:buChar char="ü"/>
            </a:pPr>
            <a:r>
              <a:rPr lang="en-US" dirty="0"/>
              <a:t>Write down the step-by-step addition process to find the total number of mangoes.</a:t>
            </a:r>
          </a:p>
        </p:txBody>
      </p:sp>
    </p:spTree>
    <p:extLst>
      <p:ext uri="{BB962C8B-B14F-4D97-AF65-F5344CB8AC3E}">
        <p14:creationId xmlns:p14="http://schemas.microsoft.com/office/powerpoint/2010/main" val="2569086699"/>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69848" y="125128"/>
            <a:ext cx="10058400" cy="577516"/>
          </a:xfrm>
        </p:spPr>
        <p:txBody>
          <a:bodyPr>
            <a:normAutofit/>
          </a:bodyPr>
          <a:lstStyle/>
          <a:p>
            <a:r>
              <a:rPr lang="en-US" sz="2800" b="1" dirty="0"/>
              <a:t>FINAL (REFINED) Version of Multiplication Algorithm</a:t>
            </a:r>
          </a:p>
        </p:txBody>
      </p:sp>
      <p:sp>
        <p:nvSpPr>
          <p:cNvPr id="4" name="Slide Number Placeholder 3"/>
          <p:cNvSpPr>
            <a:spLocks noGrp="1"/>
          </p:cNvSpPr>
          <p:nvPr>
            <p:ph type="sldNum" sz="quarter" idx="12"/>
          </p:nvPr>
        </p:nvSpPr>
        <p:spPr/>
        <p:txBody>
          <a:bodyPr/>
          <a:lstStyle/>
          <a:p>
            <a:fld id="{380846C1-CD93-4AE4-8DA9-0A1941B6C5F9}" type="slidenum">
              <a:rPr lang="en-US" smtClean="0"/>
              <a:t>55</a:t>
            </a:fld>
            <a:endParaRPr lang="en-US"/>
          </a:p>
        </p:txBody>
      </p:sp>
      <p:graphicFrame>
        <p:nvGraphicFramePr>
          <p:cNvPr id="13" name="Table 12"/>
          <p:cNvGraphicFramePr>
            <a:graphicFrameLocks noGrp="1"/>
          </p:cNvGraphicFramePr>
          <p:nvPr>
            <p:extLst>
              <p:ext uri="{D42A27DB-BD31-4B8C-83A1-F6EECF244321}">
                <p14:modId xmlns:p14="http://schemas.microsoft.com/office/powerpoint/2010/main" val="2269986396"/>
              </p:ext>
            </p:extLst>
          </p:nvPr>
        </p:nvGraphicFramePr>
        <p:xfrm>
          <a:off x="5906010" y="1907952"/>
          <a:ext cx="5222240" cy="2760313"/>
        </p:xfrm>
        <a:graphic>
          <a:graphicData uri="http://schemas.openxmlformats.org/drawingml/2006/table">
            <a:tbl>
              <a:tblPr firstRow="1" bandRow="1">
                <a:tableStyleId>{5940675A-B579-460E-94D1-54222C63F5DA}</a:tableStyleId>
              </a:tblPr>
              <a:tblGrid>
                <a:gridCol w="1305560">
                  <a:extLst>
                    <a:ext uri="{9D8B030D-6E8A-4147-A177-3AD203B41FA5}">
                      <a16:colId xmlns:a16="http://schemas.microsoft.com/office/drawing/2014/main" val="20000"/>
                    </a:ext>
                  </a:extLst>
                </a:gridCol>
                <a:gridCol w="1305560">
                  <a:extLst>
                    <a:ext uri="{9D8B030D-6E8A-4147-A177-3AD203B41FA5}">
                      <a16:colId xmlns:a16="http://schemas.microsoft.com/office/drawing/2014/main" val="20001"/>
                    </a:ext>
                  </a:extLst>
                </a:gridCol>
                <a:gridCol w="1305560">
                  <a:extLst>
                    <a:ext uri="{9D8B030D-6E8A-4147-A177-3AD203B41FA5}">
                      <a16:colId xmlns:a16="http://schemas.microsoft.com/office/drawing/2014/main" val="20002"/>
                    </a:ext>
                  </a:extLst>
                </a:gridCol>
                <a:gridCol w="1305560">
                  <a:extLst>
                    <a:ext uri="{9D8B030D-6E8A-4147-A177-3AD203B41FA5}">
                      <a16:colId xmlns:a16="http://schemas.microsoft.com/office/drawing/2014/main" val="20003"/>
                    </a:ext>
                  </a:extLst>
                </a:gridCol>
              </a:tblGrid>
              <a:tr h="367633">
                <a:tc>
                  <a:txBody>
                    <a:bodyPr/>
                    <a:lstStyle/>
                    <a:p>
                      <a:r>
                        <a:rPr lang="en-US" sz="1400" b="1" dirty="0"/>
                        <a:t>Steps</a:t>
                      </a:r>
                    </a:p>
                  </a:txBody>
                  <a:tcPr/>
                </a:tc>
                <a:tc>
                  <a:txBody>
                    <a:bodyPr/>
                    <a:lstStyle/>
                    <a:p>
                      <a:r>
                        <a:rPr lang="en-US" sz="1400" b="1" dirty="0" err="1"/>
                        <a:t>Mutiplicand</a:t>
                      </a:r>
                      <a:endParaRPr lang="en-US" sz="1400" b="1" dirty="0"/>
                    </a:p>
                  </a:txBody>
                  <a:tcPr/>
                </a:tc>
                <a:tc>
                  <a:txBody>
                    <a:bodyPr/>
                    <a:lstStyle/>
                    <a:p>
                      <a:r>
                        <a:rPr lang="en-US" sz="1400" b="1" dirty="0"/>
                        <a:t>Product0</a:t>
                      </a:r>
                    </a:p>
                  </a:txBody>
                  <a:tcPr/>
                </a:tc>
                <a:tc>
                  <a:txBody>
                    <a:bodyPr/>
                    <a:lstStyle/>
                    <a:p>
                      <a:r>
                        <a:rPr lang="en-US" sz="1400" b="1" dirty="0"/>
                        <a:t>Product</a:t>
                      </a:r>
                    </a:p>
                  </a:txBody>
                  <a:tcPr/>
                </a:tc>
                <a:extLst>
                  <a:ext uri="{0D108BD9-81ED-4DB2-BD59-A6C34878D82A}">
                    <a16:rowId xmlns:a16="http://schemas.microsoft.com/office/drawing/2014/main" val="10000"/>
                  </a:ext>
                </a:extLst>
              </a:tr>
              <a:tr h="370840">
                <a:tc>
                  <a:txBody>
                    <a:bodyPr/>
                    <a:lstStyle/>
                    <a:p>
                      <a:r>
                        <a:rPr lang="en-US" dirty="0" err="1"/>
                        <a:t>Init</a:t>
                      </a:r>
                      <a:endParaRPr lang="en-US" dirty="0"/>
                    </a:p>
                  </a:txBody>
                  <a:tcPr/>
                </a:tc>
                <a:tc>
                  <a:txBody>
                    <a:bodyPr/>
                    <a:lstStyle/>
                    <a:p>
                      <a:r>
                        <a:rPr lang="en-US" dirty="0">
                          <a:solidFill>
                            <a:schemeClr val="tx1"/>
                          </a:solidFill>
                        </a:rPr>
                        <a:t>0011</a:t>
                      </a:r>
                    </a:p>
                  </a:txBody>
                  <a:tcPr/>
                </a:tc>
                <a:tc>
                  <a:txBody>
                    <a:bodyPr/>
                    <a:lstStyle/>
                    <a:p>
                      <a:r>
                        <a:rPr lang="en-US" dirty="0">
                          <a:solidFill>
                            <a:schemeClr val="tx1"/>
                          </a:solidFill>
                        </a:rPr>
                        <a:t>0000 001</a:t>
                      </a:r>
                      <a:r>
                        <a:rPr lang="en-US" dirty="0">
                          <a:solidFill>
                            <a:srgbClr val="FF0000"/>
                          </a:solidFill>
                        </a:rPr>
                        <a:t>0</a:t>
                      </a:r>
                    </a:p>
                  </a:txBody>
                  <a:tcPr/>
                </a:tc>
                <a:tc>
                  <a:txBody>
                    <a:bodyPr/>
                    <a:lstStyle/>
                    <a:p>
                      <a:r>
                        <a:rPr lang="en-US" dirty="0"/>
                        <a:t>0000 001</a:t>
                      </a:r>
                      <a:r>
                        <a:rPr lang="en-US" dirty="0">
                          <a:solidFill>
                            <a:schemeClr val="tx1"/>
                          </a:solidFill>
                        </a:rPr>
                        <a:t>0</a:t>
                      </a:r>
                      <a:endParaRPr lang="en-US" dirty="0">
                        <a:solidFill>
                          <a:srgbClr val="FF0000"/>
                        </a:solidFill>
                      </a:endParaRPr>
                    </a:p>
                  </a:txBody>
                  <a:tcPr/>
                </a:tc>
                <a:extLst>
                  <a:ext uri="{0D108BD9-81ED-4DB2-BD59-A6C34878D82A}">
                    <a16:rowId xmlns:a16="http://schemas.microsoft.com/office/drawing/2014/main" val="10001"/>
                  </a:ext>
                </a:extLst>
              </a:tr>
              <a:tr h="370840">
                <a:tc>
                  <a:txBody>
                    <a:bodyPr/>
                    <a:lstStyle/>
                    <a:p>
                      <a:r>
                        <a:rPr lang="en-US" dirty="0"/>
                        <a:t>2</a:t>
                      </a:r>
                    </a:p>
                  </a:txBody>
                  <a:tcPr/>
                </a:tc>
                <a:tc>
                  <a:txBody>
                    <a:bodyPr/>
                    <a:lstStyle/>
                    <a:p>
                      <a:endParaRPr lang="en-US" dirty="0"/>
                    </a:p>
                  </a:txBody>
                  <a:tcPr/>
                </a:tc>
                <a:tc>
                  <a:txBody>
                    <a:bodyPr/>
                    <a:lstStyle/>
                    <a:p>
                      <a:r>
                        <a:rPr lang="en-US" dirty="0">
                          <a:solidFill>
                            <a:schemeClr val="tx1"/>
                          </a:solidFill>
                        </a:rPr>
                        <a:t>0000 00</a:t>
                      </a:r>
                      <a:r>
                        <a:rPr lang="en-US" dirty="0">
                          <a:solidFill>
                            <a:srgbClr val="FF0000"/>
                          </a:solidFill>
                        </a:rPr>
                        <a:t>1</a:t>
                      </a:r>
                      <a:r>
                        <a:rPr lang="en-US" dirty="0">
                          <a:solidFill>
                            <a:schemeClr val="tx1"/>
                          </a:solidFill>
                        </a:rPr>
                        <a:t>0</a:t>
                      </a:r>
                      <a:endParaRPr lang="en-US" dirty="0">
                        <a:solidFill>
                          <a:srgbClr val="FF0000"/>
                        </a:solidFill>
                      </a:endParaRPr>
                    </a:p>
                  </a:txBody>
                  <a:tcPr/>
                </a:tc>
                <a:tc>
                  <a:txBody>
                    <a:bodyPr/>
                    <a:lstStyle/>
                    <a:p>
                      <a:r>
                        <a:rPr lang="en-US" dirty="0"/>
                        <a:t>0000 0001</a:t>
                      </a:r>
                    </a:p>
                  </a:txBody>
                  <a:tcPr/>
                </a:tc>
                <a:extLst>
                  <a:ext uri="{0D108BD9-81ED-4DB2-BD59-A6C34878D82A}">
                    <a16:rowId xmlns:a16="http://schemas.microsoft.com/office/drawing/2014/main" val="10002"/>
                  </a:ext>
                </a:extLst>
              </a:tr>
              <a:tr h="370840">
                <a:tc>
                  <a:txBody>
                    <a:bodyPr/>
                    <a:lstStyle/>
                    <a:p>
                      <a:r>
                        <a:rPr lang="en-US" dirty="0"/>
                        <a:t>1a</a:t>
                      </a:r>
                    </a:p>
                    <a:p>
                      <a:r>
                        <a:rPr lang="en-US" dirty="0"/>
                        <a:t>2</a:t>
                      </a:r>
                    </a:p>
                  </a:txBody>
                  <a:tcPr/>
                </a:tc>
                <a:tc>
                  <a:txBody>
                    <a:bodyPr/>
                    <a:lstStyle/>
                    <a:p>
                      <a:endParaRPr lang="en-US" dirty="0"/>
                    </a:p>
                  </a:txBody>
                  <a:tcPr/>
                </a:tc>
                <a:tc>
                  <a:txBody>
                    <a:bodyPr/>
                    <a:lstStyle/>
                    <a:p>
                      <a:endParaRPr lang="en-US" dirty="0">
                        <a:solidFill>
                          <a:schemeClr val="tx1"/>
                        </a:solidFill>
                      </a:endParaRPr>
                    </a:p>
                    <a:p>
                      <a:r>
                        <a:rPr lang="en-US" dirty="0">
                          <a:solidFill>
                            <a:schemeClr val="tx1"/>
                          </a:solidFill>
                        </a:rPr>
                        <a:t>0000 0</a:t>
                      </a:r>
                      <a:r>
                        <a:rPr lang="en-US" dirty="0">
                          <a:solidFill>
                            <a:srgbClr val="FF0000"/>
                          </a:solidFill>
                        </a:rPr>
                        <a:t>0</a:t>
                      </a:r>
                      <a:r>
                        <a:rPr lang="en-US" dirty="0">
                          <a:solidFill>
                            <a:schemeClr val="tx1"/>
                          </a:solidFill>
                        </a:rPr>
                        <a:t>10</a:t>
                      </a:r>
                      <a:endParaRPr lang="en-US" dirty="0">
                        <a:solidFill>
                          <a:srgbClr val="FF0000"/>
                        </a:solidFill>
                      </a:endParaRPr>
                    </a:p>
                  </a:txBody>
                  <a:tcPr/>
                </a:tc>
                <a:tc>
                  <a:txBody>
                    <a:bodyPr/>
                    <a:lstStyle/>
                    <a:p>
                      <a:r>
                        <a:rPr lang="en-US" dirty="0"/>
                        <a:t>0011 0001</a:t>
                      </a:r>
                    </a:p>
                    <a:p>
                      <a:r>
                        <a:rPr lang="en-US" dirty="0"/>
                        <a:t>0001 1000</a:t>
                      </a:r>
                    </a:p>
                  </a:txBody>
                  <a:tcPr/>
                </a:tc>
                <a:extLst>
                  <a:ext uri="{0D108BD9-81ED-4DB2-BD59-A6C34878D82A}">
                    <a16:rowId xmlns:a16="http://schemas.microsoft.com/office/drawing/2014/main" val="10003"/>
                  </a:ext>
                </a:extLst>
              </a:tr>
              <a:tr h="370840">
                <a:tc>
                  <a:txBody>
                    <a:bodyPr/>
                    <a:lstStyle/>
                    <a:p>
                      <a:r>
                        <a:rPr lang="en-US" dirty="0"/>
                        <a:t>2</a:t>
                      </a:r>
                    </a:p>
                  </a:txBody>
                  <a:tcPr/>
                </a:tc>
                <a:tc>
                  <a:txBody>
                    <a:bodyPr/>
                    <a:lstStyle/>
                    <a:p>
                      <a:endParaRPr lang="en-US" dirty="0"/>
                    </a:p>
                  </a:txBody>
                  <a:tcPr/>
                </a:tc>
                <a:tc>
                  <a:txBody>
                    <a:bodyPr/>
                    <a:lstStyle/>
                    <a:p>
                      <a:r>
                        <a:rPr lang="en-US" dirty="0">
                          <a:solidFill>
                            <a:schemeClr val="tx1"/>
                          </a:solidFill>
                        </a:rPr>
                        <a:t>0000 </a:t>
                      </a:r>
                      <a:r>
                        <a:rPr lang="en-US" dirty="0">
                          <a:solidFill>
                            <a:srgbClr val="FF0000"/>
                          </a:solidFill>
                        </a:rPr>
                        <a:t>0</a:t>
                      </a:r>
                      <a:r>
                        <a:rPr lang="en-US" dirty="0">
                          <a:solidFill>
                            <a:schemeClr val="tx1"/>
                          </a:solidFill>
                        </a:rPr>
                        <a:t>010</a:t>
                      </a:r>
                      <a:endParaRPr lang="en-US" dirty="0">
                        <a:solidFill>
                          <a:srgbClr val="FF0000"/>
                        </a:solidFill>
                      </a:endParaRPr>
                    </a:p>
                  </a:txBody>
                  <a:tcPr/>
                </a:tc>
                <a:tc>
                  <a:txBody>
                    <a:bodyPr/>
                    <a:lstStyle/>
                    <a:p>
                      <a:r>
                        <a:rPr lang="en-US" dirty="0"/>
                        <a:t>0000 1100</a:t>
                      </a:r>
                    </a:p>
                  </a:txBody>
                  <a:tcPr/>
                </a:tc>
                <a:extLst>
                  <a:ext uri="{0D108BD9-81ED-4DB2-BD59-A6C34878D82A}">
                    <a16:rowId xmlns:a16="http://schemas.microsoft.com/office/drawing/2014/main" val="10004"/>
                  </a:ext>
                </a:extLst>
              </a:tr>
              <a:tr h="370840">
                <a:tc>
                  <a:txBody>
                    <a:bodyPr/>
                    <a:lstStyle/>
                    <a:p>
                      <a:r>
                        <a:rPr lang="en-US" dirty="0"/>
                        <a:t>2</a:t>
                      </a:r>
                    </a:p>
                  </a:txBody>
                  <a:tcPr/>
                </a:tc>
                <a:tc>
                  <a:txBody>
                    <a:bodyPr/>
                    <a:lstStyle/>
                    <a:p>
                      <a:endParaRPr lang="en-US" dirty="0"/>
                    </a:p>
                  </a:txBody>
                  <a:tcPr/>
                </a:tc>
                <a:tc>
                  <a:txBody>
                    <a:bodyPr/>
                    <a:lstStyle/>
                    <a:p>
                      <a:endParaRPr lang="en-US" dirty="0">
                        <a:solidFill>
                          <a:srgbClr val="FF0000"/>
                        </a:solidFill>
                      </a:endParaRPr>
                    </a:p>
                  </a:txBody>
                  <a:tcPr/>
                </a:tc>
                <a:tc>
                  <a:txBody>
                    <a:bodyPr/>
                    <a:lstStyle/>
                    <a:p>
                      <a:r>
                        <a:rPr lang="en-US" dirty="0"/>
                        <a:t>0000 0</a:t>
                      </a:r>
                      <a:r>
                        <a:rPr lang="en-US" dirty="0">
                          <a:solidFill>
                            <a:srgbClr val="FF0000"/>
                          </a:solidFill>
                        </a:rPr>
                        <a:t>110</a:t>
                      </a:r>
                    </a:p>
                    <a:p>
                      <a:r>
                        <a:rPr lang="en-US" dirty="0">
                          <a:solidFill>
                            <a:srgbClr val="FF0000"/>
                          </a:solidFill>
                        </a:rPr>
                        <a:t>= 6 (ANS)</a:t>
                      </a:r>
                    </a:p>
                  </a:txBody>
                  <a:tcPr/>
                </a:tc>
                <a:extLst>
                  <a:ext uri="{0D108BD9-81ED-4DB2-BD59-A6C34878D82A}">
                    <a16:rowId xmlns:a16="http://schemas.microsoft.com/office/drawing/2014/main" val="10005"/>
                  </a:ext>
                </a:extLst>
              </a:tr>
            </a:tbl>
          </a:graphicData>
        </a:graphic>
      </p:graphicFrame>
      <p:sp>
        <p:nvSpPr>
          <p:cNvPr id="14" name="Rectangle 13"/>
          <p:cNvSpPr/>
          <p:nvPr/>
        </p:nvSpPr>
        <p:spPr>
          <a:xfrm>
            <a:off x="5906010" y="843633"/>
            <a:ext cx="1773434" cy="923330"/>
          </a:xfrm>
          <a:prstGeom prst="rect">
            <a:avLst/>
          </a:prstGeom>
        </p:spPr>
        <p:txBody>
          <a:bodyPr wrap="none">
            <a:spAutoFit/>
          </a:bodyPr>
          <a:lstStyle/>
          <a:p>
            <a:r>
              <a:rPr lang="en-US" dirty="0">
                <a:solidFill>
                  <a:srgbClr val="000000"/>
                </a:solidFill>
              </a:rPr>
              <a:t>Multiply 3 x 2 ?</a:t>
            </a:r>
          </a:p>
          <a:p>
            <a:r>
              <a:rPr lang="en-US" dirty="0">
                <a:solidFill>
                  <a:schemeClr val="accent1"/>
                </a:solidFill>
              </a:rPr>
              <a:t>2 = 0010</a:t>
            </a:r>
          </a:p>
          <a:p>
            <a:r>
              <a:rPr lang="en-US" dirty="0">
                <a:solidFill>
                  <a:schemeClr val="accent1"/>
                </a:solidFill>
              </a:rPr>
              <a:t>3 = 0011</a:t>
            </a:r>
          </a:p>
        </p:txBody>
      </p:sp>
      <p:pic>
        <p:nvPicPr>
          <p:cNvPr id="3074" name="Picture 2" descr="https://lh7-rt.googleusercontent.com/docsz/AD_4nXdVSbIaq13RxXCXViTi6dC3uFkdisLrSWy04ewOtcPLoSMMvQH0k0K8yoBDKd6PF2f3iqTnj1-Tnr7GfiBJH8IwBYCoQTOuXOoqNSyItpg-y2EKTeFQvrPsvPa-XnmTKwZmUgWhwg?key=3t1yVFxkmF-Va4PpDyArpCDB"/>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29644" y="1148530"/>
            <a:ext cx="4364348" cy="525226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96762401"/>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69848" y="125128"/>
            <a:ext cx="10058400" cy="577516"/>
          </a:xfrm>
        </p:spPr>
        <p:txBody>
          <a:bodyPr>
            <a:normAutofit/>
          </a:bodyPr>
          <a:lstStyle/>
          <a:p>
            <a:r>
              <a:rPr lang="en-US" sz="2800" b="1" dirty="0"/>
              <a:t>First and Final Version of the Division Algorithm</a:t>
            </a:r>
          </a:p>
        </p:txBody>
      </p:sp>
      <p:sp>
        <p:nvSpPr>
          <p:cNvPr id="4" name="Slide Number Placeholder 3"/>
          <p:cNvSpPr>
            <a:spLocks noGrp="1"/>
          </p:cNvSpPr>
          <p:nvPr>
            <p:ph type="sldNum" sz="quarter" idx="12"/>
          </p:nvPr>
        </p:nvSpPr>
        <p:spPr/>
        <p:txBody>
          <a:bodyPr/>
          <a:lstStyle/>
          <a:p>
            <a:fld id="{380846C1-CD93-4AE4-8DA9-0A1941B6C5F9}" type="slidenum">
              <a:rPr lang="en-US" smtClean="0"/>
              <a:t>56</a:t>
            </a:fld>
            <a:endParaRPr lang="en-US"/>
          </a:p>
        </p:txBody>
      </p:sp>
      <p:pic>
        <p:nvPicPr>
          <p:cNvPr id="4098" name="Picture 2" descr="https://lh7-rt.googleusercontent.com/docsz/AD_4nXd-F2qX1UU9xCfbO5DsoZ3bN48wtoMvUc4LjrdFI9cMWXW1vwSsOVb9MhUW8RYGrE2pCFustjq6VM8cVb07tNsVUjsb-gCPm9G9qWnHgo_Rl4FoivWJl3TfAydugA64DOZSN1jCoA?key=3t1yVFxkmF-Va4PpDyArpCDB"/>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71891" y="702644"/>
            <a:ext cx="4897389" cy="5773912"/>
          </a:xfrm>
          <a:prstGeom prst="rect">
            <a:avLst/>
          </a:prstGeom>
          <a:noFill/>
          <a:extLst>
            <a:ext uri="{909E8E84-426E-40DD-AFC4-6F175D3DCCD1}">
              <a14:hiddenFill xmlns:a14="http://schemas.microsoft.com/office/drawing/2010/main">
                <a:solidFill>
                  <a:srgbClr val="FFFFFF"/>
                </a:solidFill>
              </a14:hiddenFill>
            </a:ext>
          </a:extLst>
        </p:spPr>
      </p:pic>
      <p:pic>
        <p:nvPicPr>
          <p:cNvPr id="4100" name="Picture 4" descr="https://lh7-rt.googleusercontent.com/docsz/AD_4nXfTWJ0Qq-mXd3xxKxE7fjlk6zPXrxgjup0IabUNMkLjYmobuQLUOn_F90e7yeDThaus9Fc8VFYgE8jJfyy2VjGjAwrbhpcJwwe8RHzlBXB5nWHt5M4AxmZMTVDrmpM45mAEPsxWFw?key=3t1yVFxkmF-Va4PpDyArpCDB"/>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23780" y="754351"/>
            <a:ext cx="4318014" cy="567049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85151608"/>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69848" y="484632"/>
            <a:ext cx="10058400" cy="612648"/>
          </a:xfrm>
        </p:spPr>
        <p:txBody>
          <a:bodyPr>
            <a:normAutofit/>
          </a:bodyPr>
          <a:lstStyle/>
          <a:p>
            <a:r>
              <a:rPr lang="en-US" sz="2800" b="1" dirty="0"/>
              <a:t>Resources for the algorithms</a:t>
            </a:r>
          </a:p>
        </p:txBody>
      </p:sp>
      <p:sp>
        <p:nvSpPr>
          <p:cNvPr id="3" name="Content Placeholder 2"/>
          <p:cNvSpPr>
            <a:spLocks noGrp="1"/>
          </p:cNvSpPr>
          <p:nvPr>
            <p:ph idx="1"/>
          </p:nvPr>
        </p:nvSpPr>
        <p:spPr>
          <a:xfrm>
            <a:off x="1069848" y="1232034"/>
            <a:ext cx="10058400" cy="4940166"/>
          </a:xfrm>
        </p:spPr>
        <p:txBody>
          <a:bodyPr>
            <a:noAutofit/>
          </a:bodyPr>
          <a:lstStyle/>
          <a:p>
            <a:r>
              <a:rPr lang="en-US" dirty="0">
                <a:hlinkClick r:id="rId2"/>
              </a:rPr>
              <a:t>First Version of Multiplication Algorithm</a:t>
            </a:r>
            <a:endParaRPr lang="en-US" dirty="0"/>
          </a:p>
          <a:p>
            <a:r>
              <a:rPr lang="en-US" dirty="0">
                <a:hlinkClick r:id="rId3"/>
              </a:rPr>
              <a:t>Final Version of the Multiplication Algorithm</a:t>
            </a:r>
            <a:endParaRPr lang="en-US" dirty="0"/>
          </a:p>
          <a:p>
            <a:r>
              <a:rPr lang="en-US" dirty="0">
                <a:hlinkClick r:id="rId4"/>
              </a:rPr>
              <a:t>First Version of the Division Algorithm</a:t>
            </a:r>
            <a:endParaRPr lang="en-US" dirty="0"/>
          </a:p>
          <a:p>
            <a:r>
              <a:rPr lang="en-US" dirty="0">
                <a:hlinkClick r:id="rId5"/>
              </a:rPr>
              <a:t>Final Version of the Division Algorithm</a:t>
            </a:r>
            <a:endParaRPr lang="en-US" dirty="0"/>
          </a:p>
          <a:p>
            <a:pPr marL="0" indent="0">
              <a:buNone/>
            </a:pPr>
            <a:endParaRPr lang="en-US" dirty="0"/>
          </a:p>
          <a:p>
            <a:pPr marL="0" indent="0">
              <a:buNone/>
            </a:pPr>
            <a:r>
              <a:rPr lang="en-US" dirty="0"/>
              <a:t>Click on the titles to redirect to the resources.</a:t>
            </a:r>
          </a:p>
        </p:txBody>
      </p:sp>
      <p:sp>
        <p:nvSpPr>
          <p:cNvPr id="4" name="Slide Number Placeholder 3"/>
          <p:cNvSpPr>
            <a:spLocks noGrp="1"/>
          </p:cNvSpPr>
          <p:nvPr>
            <p:ph type="sldNum" sz="quarter" idx="12"/>
          </p:nvPr>
        </p:nvSpPr>
        <p:spPr/>
        <p:txBody>
          <a:bodyPr/>
          <a:lstStyle/>
          <a:p>
            <a:fld id="{380846C1-CD93-4AE4-8DA9-0A1941B6C5F9}" type="slidenum">
              <a:rPr lang="en-US" smtClean="0"/>
              <a:t>57</a:t>
            </a:fld>
            <a:endParaRPr lang="en-US"/>
          </a:p>
        </p:txBody>
      </p:sp>
    </p:spTree>
    <p:extLst>
      <p:ext uri="{BB962C8B-B14F-4D97-AF65-F5344CB8AC3E}">
        <p14:creationId xmlns:p14="http://schemas.microsoft.com/office/powerpoint/2010/main" val="205848540"/>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69848" y="484632"/>
            <a:ext cx="10058400" cy="612648"/>
          </a:xfrm>
        </p:spPr>
        <p:txBody>
          <a:bodyPr>
            <a:normAutofit/>
          </a:bodyPr>
          <a:lstStyle/>
          <a:p>
            <a:r>
              <a:rPr lang="en-US" sz="2800" b="1" dirty="0"/>
              <a:t>Floating Point Representation</a:t>
            </a:r>
          </a:p>
        </p:txBody>
      </p:sp>
      <p:sp>
        <p:nvSpPr>
          <p:cNvPr id="3" name="Content Placeholder 2"/>
          <p:cNvSpPr>
            <a:spLocks noGrp="1"/>
          </p:cNvSpPr>
          <p:nvPr>
            <p:ph idx="1"/>
          </p:nvPr>
        </p:nvSpPr>
        <p:spPr>
          <a:xfrm>
            <a:off x="1069848" y="1232034"/>
            <a:ext cx="10058400" cy="4940166"/>
          </a:xfrm>
        </p:spPr>
        <p:txBody>
          <a:bodyPr>
            <a:noAutofit/>
          </a:bodyPr>
          <a:lstStyle/>
          <a:p>
            <a:r>
              <a:rPr lang="en-US" dirty="0"/>
              <a:t>Operations on real numbers, using formats like IEEE 754 to represent large/small decimal numbers.</a:t>
            </a:r>
          </a:p>
          <a:p>
            <a:r>
              <a:rPr lang="en-US" dirty="0"/>
              <a:t>Single and Double precision of </a:t>
            </a:r>
            <a:r>
              <a:rPr lang="en-US" b="1" dirty="0"/>
              <a:t>IEEE 754:</a:t>
            </a:r>
            <a:endParaRPr lang="en-US" dirty="0"/>
          </a:p>
        </p:txBody>
      </p:sp>
      <p:sp>
        <p:nvSpPr>
          <p:cNvPr id="4" name="Slide Number Placeholder 3"/>
          <p:cNvSpPr>
            <a:spLocks noGrp="1"/>
          </p:cNvSpPr>
          <p:nvPr>
            <p:ph type="sldNum" sz="quarter" idx="12"/>
          </p:nvPr>
        </p:nvSpPr>
        <p:spPr/>
        <p:txBody>
          <a:bodyPr/>
          <a:lstStyle/>
          <a:p>
            <a:fld id="{380846C1-CD93-4AE4-8DA9-0A1941B6C5F9}" type="slidenum">
              <a:rPr lang="en-US" smtClean="0"/>
              <a:t>58</a:t>
            </a:fld>
            <a:endParaRPr lang="en-US"/>
          </a:p>
        </p:txBody>
      </p:sp>
      <p:pic>
        <p:nvPicPr>
          <p:cNvPr id="1032" name="Picture 8" descr="https://lh7-rt.googleusercontent.com/docsz/AD_4nXdCeV6-9htksRzds4wMOLgdZRiLiWHCZDxoDf4y8LJA7nt6J16OmD0gGk9I9KfcJJgw8C79gwoINNXZIAeIMtqggnNhb3cS7w5ck37GLQ7xGabRE0Q4gOy2YYu4Zs7B39BRiZc2nA?key=3t1yVFxkmF-Va4PpDyArpCDB"/>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31184" y="2603867"/>
            <a:ext cx="7911468" cy="293066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9552058"/>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69848" y="484632"/>
            <a:ext cx="10058400" cy="612648"/>
          </a:xfrm>
        </p:spPr>
        <p:txBody>
          <a:bodyPr>
            <a:normAutofit/>
          </a:bodyPr>
          <a:lstStyle/>
          <a:p>
            <a:r>
              <a:rPr lang="en-US" sz="2800" b="1" dirty="0"/>
              <a:t>Floating Point Representation</a:t>
            </a:r>
          </a:p>
        </p:txBody>
      </p:sp>
      <p:sp>
        <p:nvSpPr>
          <p:cNvPr id="3" name="Content Placeholder 2"/>
          <p:cNvSpPr>
            <a:spLocks noGrp="1"/>
          </p:cNvSpPr>
          <p:nvPr>
            <p:ph idx="1"/>
          </p:nvPr>
        </p:nvSpPr>
        <p:spPr>
          <a:xfrm>
            <a:off x="1069848" y="1232034"/>
            <a:ext cx="10058400" cy="4940166"/>
          </a:xfrm>
        </p:spPr>
        <p:txBody>
          <a:bodyPr>
            <a:noAutofit/>
          </a:bodyPr>
          <a:lstStyle/>
          <a:p>
            <a:r>
              <a:rPr lang="en-US" sz="1800" i="1" dirty="0"/>
              <a:t>Sign Bit</a:t>
            </a:r>
            <a:endParaRPr lang="en-US" sz="1800" dirty="0"/>
          </a:p>
          <a:p>
            <a:pPr marL="617220" lvl="1" indent="-342900" fontAlgn="base">
              <a:buFont typeface="+mj-lt"/>
              <a:buAutoNum type="arabicPeriod"/>
            </a:pPr>
            <a:r>
              <a:rPr lang="en-US" dirty="0"/>
              <a:t>The sign bit determines whether the number is positive or negative.</a:t>
            </a:r>
          </a:p>
          <a:p>
            <a:pPr marL="617220" lvl="1" indent="-342900" fontAlgn="base">
              <a:buFont typeface="+mj-lt"/>
              <a:buAutoNum type="arabicPeriod"/>
            </a:pPr>
            <a:r>
              <a:rPr lang="en-US" dirty="0"/>
              <a:t>1 bit is allocated for the sign.</a:t>
            </a:r>
          </a:p>
          <a:p>
            <a:pPr marL="617220" lvl="1" indent="-342900" fontAlgn="base">
              <a:buFont typeface="+mj-lt"/>
              <a:buAutoNum type="arabicPeriod"/>
            </a:pPr>
            <a:r>
              <a:rPr lang="en-US" dirty="0"/>
              <a:t>If the sign bit is 0, the number is positive.</a:t>
            </a:r>
          </a:p>
          <a:p>
            <a:pPr marL="617220" lvl="1" indent="-342900" fontAlgn="base">
              <a:buFont typeface="+mj-lt"/>
              <a:buAutoNum type="arabicPeriod"/>
            </a:pPr>
            <a:r>
              <a:rPr lang="en-US" dirty="0"/>
              <a:t>If the sign bit is 1, the number is negative.</a:t>
            </a:r>
          </a:p>
          <a:p>
            <a:r>
              <a:rPr lang="en-US" sz="1800" i="1" dirty="0"/>
              <a:t>Exponent</a:t>
            </a:r>
            <a:endParaRPr lang="en-US" sz="1800" dirty="0"/>
          </a:p>
          <a:p>
            <a:pPr lvl="1" fontAlgn="base"/>
            <a:r>
              <a:rPr lang="en-US" dirty="0"/>
              <a:t>The exponent determines the power of 2 to which the mantissa is raised.</a:t>
            </a:r>
          </a:p>
          <a:p>
            <a:pPr lvl="1" fontAlgn="base"/>
            <a:r>
              <a:rPr lang="en-US" dirty="0"/>
              <a:t>It is stored using biased notation:</a:t>
            </a:r>
          </a:p>
          <a:p>
            <a:pPr marL="891540" lvl="2" indent="-342900" fontAlgn="base">
              <a:buFont typeface="+mj-lt"/>
              <a:buAutoNum type="arabicPeriod"/>
            </a:pPr>
            <a:r>
              <a:rPr lang="en-US" sz="1800" dirty="0"/>
              <a:t>Single precision (32-bit): 8-bit exponent, bias = 127.</a:t>
            </a:r>
          </a:p>
          <a:p>
            <a:pPr marL="891540" lvl="2" indent="-342900" fontAlgn="base">
              <a:buFont typeface="+mj-lt"/>
              <a:buAutoNum type="arabicPeriod"/>
            </a:pPr>
            <a:r>
              <a:rPr lang="en-US" sz="1800" dirty="0"/>
              <a:t>Double precision (64-bit): 11-bit exponent, bias = 1023.</a:t>
            </a:r>
          </a:p>
          <a:p>
            <a:pPr fontAlgn="base"/>
            <a:r>
              <a:rPr lang="en-US" sz="1800" dirty="0"/>
              <a:t>The exponent value is stored as: Exponent = Actual exponent + Bias</a:t>
            </a:r>
          </a:p>
        </p:txBody>
      </p:sp>
      <p:sp>
        <p:nvSpPr>
          <p:cNvPr id="4" name="Slide Number Placeholder 3"/>
          <p:cNvSpPr>
            <a:spLocks noGrp="1"/>
          </p:cNvSpPr>
          <p:nvPr>
            <p:ph type="sldNum" sz="quarter" idx="12"/>
          </p:nvPr>
        </p:nvSpPr>
        <p:spPr/>
        <p:txBody>
          <a:bodyPr/>
          <a:lstStyle/>
          <a:p>
            <a:fld id="{380846C1-CD93-4AE4-8DA9-0A1941B6C5F9}" type="slidenum">
              <a:rPr lang="en-US" smtClean="0"/>
              <a:t>59</a:t>
            </a:fld>
            <a:endParaRPr lang="en-US"/>
          </a:p>
        </p:txBody>
      </p:sp>
    </p:spTree>
    <p:extLst>
      <p:ext uri="{BB962C8B-B14F-4D97-AF65-F5344CB8AC3E}">
        <p14:creationId xmlns:p14="http://schemas.microsoft.com/office/powerpoint/2010/main" val="2430433465"/>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69848" y="484632"/>
            <a:ext cx="10058400" cy="612648"/>
          </a:xfrm>
        </p:spPr>
        <p:txBody>
          <a:bodyPr>
            <a:normAutofit/>
          </a:bodyPr>
          <a:lstStyle/>
          <a:p>
            <a:r>
              <a:rPr lang="en-US" sz="2800" b="1" dirty="0"/>
              <a:t>Floating Point Representation</a:t>
            </a:r>
          </a:p>
        </p:txBody>
      </p:sp>
      <p:sp>
        <p:nvSpPr>
          <p:cNvPr id="3" name="Content Placeholder 2"/>
          <p:cNvSpPr>
            <a:spLocks noGrp="1"/>
          </p:cNvSpPr>
          <p:nvPr>
            <p:ph idx="1"/>
          </p:nvPr>
        </p:nvSpPr>
        <p:spPr>
          <a:xfrm>
            <a:off x="1069848" y="1232034"/>
            <a:ext cx="10058400" cy="4940166"/>
          </a:xfrm>
        </p:spPr>
        <p:txBody>
          <a:bodyPr>
            <a:noAutofit/>
          </a:bodyPr>
          <a:lstStyle/>
          <a:p>
            <a:r>
              <a:rPr lang="en-US" i="1" dirty="0"/>
              <a:t>Mantissa (Fraction)</a:t>
            </a:r>
            <a:endParaRPr lang="en-US" dirty="0"/>
          </a:p>
          <a:p>
            <a:pPr marL="617220" lvl="1" indent="-342900" fontAlgn="base">
              <a:buFont typeface="+mj-lt"/>
              <a:buAutoNum type="arabicPeriod"/>
            </a:pPr>
            <a:r>
              <a:rPr lang="en-US" dirty="0"/>
              <a:t>The mantissa (or fraction) represents the significant part of the number.</a:t>
            </a:r>
          </a:p>
          <a:p>
            <a:pPr marL="617220" lvl="1" indent="-342900" fontAlgn="base">
              <a:buFont typeface="+mj-lt"/>
              <a:buAutoNum type="arabicPeriod"/>
            </a:pPr>
            <a:r>
              <a:rPr lang="en-US" dirty="0"/>
              <a:t>In IEEE 754, we use normalized representation, meaning the leading 1 is implied and not stored.</a:t>
            </a:r>
          </a:p>
          <a:p>
            <a:pPr marL="617220" lvl="1" indent="-342900" fontAlgn="base">
              <a:buFont typeface="+mj-lt"/>
              <a:buAutoNum type="arabicPeriod"/>
            </a:pPr>
            <a:r>
              <a:rPr lang="en-US" dirty="0"/>
              <a:t>Only the fractional part after the leading 1 is stored</a:t>
            </a:r>
          </a:p>
        </p:txBody>
      </p:sp>
      <p:sp>
        <p:nvSpPr>
          <p:cNvPr id="4" name="Slide Number Placeholder 3"/>
          <p:cNvSpPr>
            <a:spLocks noGrp="1"/>
          </p:cNvSpPr>
          <p:nvPr>
            <p:ph type="sldNum" sz="quarter" idx="12"/>
          </p:nvPr>
        </p:nvSpPr>
        <p:spPr/>
        <p:txBody>
          <a:bodyPr/>
          <a:lstStyle/>
          <a:p>
            <a:fld id="{380846C1-CD93-4AE4-8DA9-0A1941B6C5F9}" type="slidenum">
              <a:rPr lang="en-US" smtClean="0"/>
              <a:t>60</a:t>
            </a:fld>
            <a:endParaRPr lang="en-US"/>
          </a:p>
        </p:txBody>
      </p:sp>
    </p:spTree>
    <p:extLst>
      <p:ext uri="{BB962C8B-B14F-4D97-AF65-F5344CB8AC3E}">
        <p14:creationId xmlns:p14="http://schemas.microsoft.com/office/powerpoint/2010/main" val="981682166"/>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69848" y="484632"/>
            <a:ext cx="10058400" cy="612648"/>
          </a:xfrm>
        </p:spPr>
        <p:txBody>
          <a:bodyPr>
            <a:normAutofit/>
          </a:bodyPr>
          <a:lstStyle/>
          <a:p>
            <a:r>
              <a:rPr lang="en-US" sz="2800" b="1" dirty="0"/>
              <a:t>Floating Point Representation: Example</a:t>
            </a:r>
          </a:p>
        </p:txBody>
      </p:sp>
      <p:sp>
        <p:nvSpPr>
          <p:cNvPr id="3" name="Content Placeholder 2"/>
          <p:cNvSpPr>
            <a:spLocks noGrp="1"/>
          </p:cNvSpPr>
          <p:nvPr>
            <p:ph idx="1"/>
          </p:nvPr>
        </p:nvSpPr>
        <p:spPr>
          <a:xfrm>
            <a:off x="1069848" y="1232034"/>
            <a:ext cx="10058400" cy="4940166"/>
          </a:xfrm>
        </p:spPr>
        <p:txBody>
          <a:bodyPr>
            <a:noAutofit/>
          </a:bodyPr>
          <a:lstStyle/>
          <a:p>
            <a:r>
              <a:rPr lang="en-US" dirty="0"/>
              <a:t>Show the IEEE 754 binary representation of the number –0.375₁₀ in single and double precision.</a:t>
            </a:r>
          </a:p>
          <a:p>
            <a:r>
              <a:rPr lang="en-US" b="1" dirty="0"/>
              <a:t>Step-1:</a:t>
            </a:r>
            <a:r>
              <a:rPr lang="en-US" dirty="0"/>
              <a:t> Convert 0.375 to binary:</a:t>
            </a:r>
          </a:p>
          <a:p>
            <a:endParaRPr lang="en-US" dirty="0"/>
          </a:p>
          <a:p>
            <a:endParaRPr lang="en-US" dirty="0"/>
          </a:p>
          <a:p>
            <a:endParaRPr lang="en-US" dirty="0"/>
          </a:p>
          <a:p>
            <a:endParaRPr lang="en-US" dirty="0"/>
          </a:p>
          <a:p>
            <a:endParaRPr lang="en-US" dirty="0"/>
          </a:p>
          <a:p>
            <a:r>
              <a:rPr lang="en-US" dirty="0"/>
              <a:t>So, we got 0.011 in binary of 0.375.</a:t>
            </a:r>
          </a:p>
          <a:p>
            <a:endParaRPr lang="en-US" dirty="0"/>
          </a:p>
        </p:txBody>
      </p:sp>
      <p:sp>
        <p:nvSpPr>
          <p:cNvPr id="4" name="Slide Number Placeholder 3"/>
          <p:cNvSpPr>
            <a:spLocks noGrp="1"/>
          </p:cNvSpPr>
          <p:nvPr>
            <p:ph type="sldNum" sz="quarter" idx="12"/>
          </p:nvPr>
        </p:nvSpPr>
        <p:spPr/>
        <p:txBody>
          <a:bodyPr/>
          <a:lstStyle/>
          <a:p>
            <a:fld id="{380846C1-CD93-4AE4-8DA9-0A1941B6C5F9}" type="slidenum">
              <a:rPr lang="en-US" smtClean="0"/>
              <a:t>61</a:t>
            </a:fld>
            <a:endParaRPr lang="en-US"/>
          </a:p>
        </p:txBody>
      </p:sp>
      <p:graphicFrame>
        <p:nvGraphicFramePr>
          <p:cNvPr id="7" name="Table 6"/>
          <p:cNvGraphicFramePr>
            <a:graphicFrameLocks noGrp="1"/>
          </p:cNvGraphicFramePr>
          <p:nvPr>
            <p:extLst>
              <p:ext uri="{D42A27DB-BD31-4B8C-83A1-F6EECF244321}">
                <p14:modId xmlns:p14="http://schemas.microsoft.com/office/powerpoint/2010/main" val="2838442684"/>
              </p:ext>
            </p:extLst>
          </p:nvPr>
        </p:nvGraphicFramePr>
        <p:xfrm>
          <a:off x="2035048" y="2452213"/>
          <a:ext cx="8127999" cy="1605638"/>
        </p:xfrm>
        <a:graphic>
          <a:graphicData uri="http://schemas.openxmlformats.org/drawingml/2006/table">
            <a:tbl>
              <a:tblPr firstRow="1" bandRow="1">
                <a:tableStyleId>{5940675A-B579-460E-94D1-54222C63F5DA}</a:tableStyleId>
              </a:tblPr>
              <a:tblGrid>
                <a:gridCol w="2709333">
                  <a:extLst>
                    <a:ext uri="{9D8B030D-6E8A-4147-A177-3AD203B41FA5}">
                      <a16:colId xmlns:a16="http://schemas.microsoft.com/office/drawing/2014/main" val="20000"/>
                    </a:ext>
                  </a:extLst>
                </a:gridCol>
                <a:gridCol w="2709333">
                  <a:extLst>
                    <a:ext uri="{9D8B030D-6E8A-4147-A177-3AD203B41FA5}">
                      <a16:colId xmlns:a16="http://schemas.microsoft.com/office/drawing/2014/main" val="20001"/>
                    </a:ext>
                  </a:extLst>
                </a:gridCol>
                <a:gridCol w="2709333">
                  <a:extLst>
                    <a:ext uri="{9D8B030D-6E8A-4147-A177-3AD203B41FA5}">
                      <a16:colId xmlns:a16="http://schemas.microsoft.com/office/drawing/2014/main" val="20002"/>
                    </a:ext>
                  </a:extLst>
                </a:gridCol>
              </a:tblGrid>
              <a:tr h="493118">
                <a:tc>
                  <a:txBody>
                    <a:bodyPr/>
                    <a:lstStyle/>
                    <a:p>
                      <a:pPr rtl="0" fontAlgn="t">
                        <a:spcBef>
                          <a:spcPts val="0"/>
                        </a:spcBef>
                        <a:spcAft>
                          <a:spcPts val="0"/>
                        </a:spcAft>
                      </a:pPr>
                      <a:r>
                        <a:rPr lang="en-US" sz="1600" b="1" u="none" strike="noStrike" dirty="0" err="1">
                          <a:effectLst/>
                        </a:rPr>
                        <a:t>Mul</a:t>
                      </a:r>
                      <a:r>
                        <a:rPr lang="en-US" sz="1600" b="1" u="none" strike="noStrike" dirty="0">
                          <a:effectLst/>
                        </a:rPr>
                        <a:t> by 2</a:t>
                      </a:r>
                      <a:endParaRPr lang="en-US" sz="2800" b="1" dirty="0">
                        <a:effectLst/>
                      </a:endParaRPr>
                    </a:p>
                  </a:txBody>
                  <a:tcPr marL="63500" marR="63500" marT="63500" marB="63500"/>
                </a:tc>
                <a:tc>
                  <a:txBody>
                    <a:bodyPr/>
                    <a:lstStyle/>
                    <a:p>
                      <a:pPr fontAlgn="t"/>
                      <a:endParaRPr lang="en-US" sz="1800" b="1" dirty="0">
                        <a:effectLst/>
                      </a:endParaRPr>
                    </a:p>
                  </a:txBody>
                  <a:tcPr marL="63500" marR="63500" marT="63500" marB="63500"/>
                </a:tc>
                <a:tc>
                  <a:txBody>
                    <a:bodyPr/>
                    <a:lstStyle/>
                    <a:p>
                      <a:pPr rtl="0" fontAlgn="t">
                        <a:spcBef>
                          <a:spcPts val="0"/>
                        </a:spcBef>
                        <a:spcAft>
                          <a:spcPts val="0"/>
                        </a:spcAft>
                      </a:pPr>
                      <a:r>
                        <a:rPr lang="en-US" sz="1600" b="1" u="none" strike="noStrike" dirty="0">
                          <a:effectLst/>
                        </a:rPr>
                        <a:t>Integer part</a:t>
                      </a:r>
                      <a:endParaRPr lang="en-US" sz="2800" b="1" dirty="0">
                        <a:effectLst/>
                      </a:endParaRPr>
                    </a:p>
                  </a:txBody>
                  <a:tcPr marL="63500" marR="63500" marT="63500" marB="63500"/>
                </a:tc>
                <a:extLst>
                  <a:ext uri="{0D108BD9-81ED-4DB2-BD59-A6C34878D82A}">
                    <a16:rowId xmlns:a16="http://schemas.microsoft.com/office/drawing/2014/main" val="10000"/>
                  </a:ext>
                </a:extLst>
              </a:tr>
              <a:tr h="370840">
                <a:tc>
                  <a:txBody>
                    <a:bodyPr/>
                    <a:lstStyle/>
                    <a:p>
                      <a:pPr rtl="0" fontAlgn="t">
                        <a:spcBef>
                          <a:spcPts val="0"/>
                        </a:spcBef>
                        <a:spcAft>
                          <a:spcPts val="0"/>
                        </a:spcAft>
                      </a:pPr>
                      <a:r>
                        <a:rPr lang="en-US" sz="1600" u="none" strike="noStrike">
                          <a:effectLst/>
                        </a:rPr>
                        <a:t>0.375 * 2</a:t>
                      </a:r>
                      <a:endParaRPr lang="en-US" sz="2800">
                        <a:effectLst/>
                      </a:endParaRPr>
                    </a:p>
                  </a:txBody>
                  <a:tcPr marL="63500" marR="63500" marT="63500" marB="63500"/>
                </a:tc>
                <a:tc>
                  <a:txBody>
                    <a:bodyPr/>
                    <a:lstStyle/>
                    <a:p>
                      <a:pPr rtl="0" fontAlgn="t">
                        <a:spcBef>
                          <a:spcPts val="0"/>
                        </a:spcBef>
                        <a:spcAft>
                          <a:spcPts val="0"/>
                        </a:spcAft>
                      </a:pPr>
                      <a:r>
                        <a:rPr lang="en-US" sz="1600" u="none" strike="noStrike">
                          <a:effectLst/>
                        </a:rPr>
                        <a:t>0.75</a:t>
                      </a:r>
                      <a:endParaRPr lang="en-US" sz="2800">
                        <a:effectLst/>
                      </a:endParaRPr>
                    </a:p>
                  </a:txBody>
                  <a:tcPr marL="63500" marR="63500" marT="63500" marB="63500"/>
                </a:tc>
                <a:tc>
                  <a:txBody>
                    <a:bodyPr/>
                    <a:lstStyle/>
                    <a:p>
                      <a:pPr rtl="0" fontAlgn="t">
                        <a:spcBef>
                          <a:spcPts val="0"/>
                        </a:spcBef>
                        <a:spcAft>
                          <a:spcPts val="0"/>
                        </a:spcAft>
                      </a:pPr>
                      <a:r>
                        <a:rPr lang="en-US" sz="1600" u="none" strike="noStrike">
                          <a:effectLst/>
                        </a:rPr>
                        <a:t>0</a:t>
                      </a:r>
                      <a:endParaRPr lang="en-US" sz="2800">
                        <a:effectLst/>
                      </a:endParaRPr>
                    </a:p>
                  </a:txBody>
                  <a:tcPr marL="63500" marR="63500" marT="63500" marB="63500"/>
                </a:tc>
                <a:extLst>
                  <a:ext uri="{0D108BD9-81ED-4DB2-BD59-A6C34878D82A}">
                    <a16:rowId xmlns:a16="http://schemas.microsoft.com/office/drawing/2014/main" val="10001"/>
                  </a:ext>
                </a:extLst>
              </a:tr>
              <a:tr h="370840">
                <a:tc>
                  <a:txBody>
                    <a:bodyPr/>
                    <a:lstStyle/>
                    <a:p>
                      <a:pPr rtl="0" fontAlgn="t">
                        <a:spcBef>
                          <a:spcPts val="0"/>
                        </a:spcBef>
                        <a:spcAft>
                          <a:spcPts val="0"/>
                        </a:spcAft>
                      </a:pPr>
                      <a:r>
                        <a:rPr lang="en-US" sz="1600" u="none" strike="noStrike">
                          <a:effectLst/>
                        </a:rPr>
                        <a:t>0.75 * 2</a:t>
                      </a:r>
                      <a:endParaRPr lang="en-US" sz="2800">
                        <a:effectLst/>
                      </a:endParaRPr>
                    </a:p>
                  </a:txBody>
                  <a:tcPr marL="63500" marR="63500" marT="63500" marB="63500"/>
                </a:tc>
                <a:tc>
                  <a:txBody>
                    <a:bodyPr/>
                    <a:lstStyle/>
                    <a:p>
                      <a:pPr rtl="0" fontAlgn="t">
                        <a:spcBef>
                          <a:spcPts val="0"/>
                        </a:spcBef>
                        <a:spcAft>
                          <a:spcPts val="0"/>
                        </a:spcAft>
                      </a:pPr>
                      <a:r>
                        <a:rPr lang="en-US" sz="1600" u="none" strike="noStrike">
                          <a:effectLst/>
                        </a:rPr>
                        <a:t>1.5</a:t>
                      </a:r>
                      <a:endParaRPr lang="en-US" sz="2800">
                        <a:effectLst/>
                      </a:endParaRPr>
                    </a:p>
                  </a:txBody>
                  <a:tcPr marL="63500" marR="63500" marT="63500" marB="63500"/>
                </a:tc>
                <a:tc>
                  <a:txBody>
                    <a:bodyPr/>
                    <a:lstStyle/>
                    <a:p>
                      <a:pPr rtl="0" fontAlgn="t">
                        <a:spcBef>
                          <a:spcPts val="0"/>
                        </a:spcBef>
                        <a:spcAft>
                          <a:spcPts val="0"/>
                        </a:spcAft>
                      </a:pPr>
                      <a:r>
                        <a:rPr lang="en-US" sz="1600" u="none" strike="noStrike">
                          <a:effectLst/>
                        </a:rPr>
                        <a:t>1</a:t>
                      </a:r>
                      <a:endParaRPr lang="en-US" sz="2800">
                        <a:effectLst/>
                      </a:endParaRPr>
                    </a:p>
                  </a:txBody>
                  <a:tcPr marL="63500" marR="63500" marT="63500" marB="63500"/>
                </a:tc>
                <a:extLst>
                  <a:ext uri="{0D108BD9-81ED-4DB2-BD59-A6C34878D82A}">
                    <a16:rowId xmlns:a16="http://schemas.microsoft.com/office/drawing/2014/main" val="10002"/>
                  </a:ext>
                </a:extLst>
              </a:tr>
              <a:tr h="370840">
                <a:tc>
                  <a:txBody>
                    <a:bodyPr/>
                    <a:lstStyle/>
                    <a:p>
                      <a:pPr rtl="0" fontAlgn="t">
                        <a:spcBef>
                          <a:spcPts val="0"/>
                        </a:spcBef>
                        <a:spcAft>
                          <a:spcPts val="0"/>
                        </a:spcAft>
                      </a:pPr>
                      <a:r>
                        <a:rPr lang="en-US" sz="1600" u="none" strike="noStrike">
                          <a:effectLst/>
                        </a:rPr>
                        <a:t>0.5 * 2</a:t>
                      </a:r>
                      <a:endParaRPr lang="en-US" sz="2800">
                        <a:effectLst/>
                      </a:endParaRPr>
                    </a:p>
                  </a:txBody>
                  <a:tcPr marL="63500" marR="63500" marT="63500" marB="63500"/>
                </a:tc>
                <a:tc>
                  <a:txBody>
                    <a:bodyPr/>
                    <a:lstStyle/>
                    <a:p>
                      <a:pPr rtl="0" fontAlgn="t">
                        <a:spcBef>
                          <a:spcPts val="0"/>
                        </a:spcBef>
                        <a:spcAft>
                          <a:spcPts val="0"/>
                        </a:spcAft>
                      </a:pPr>
                      <a:r>
                        <a:rPr lang="en-US" sz="1600" u="none" strike="noStrike" dirty="0">
                          <a:effectLst/>
                        </a:rPr>
                        <a:t>1.0</a:t>
                      </a:r>
                      <a:endParaRPr lang="en-US" sz="2800" dirty="0">
                        <a:effectLst/>
                      </a:endParaRPr>
                    </a:p>
                  </a:txBody>
                  <a:tcPr marL="63500" marR="63500" marT="63500" marB="63500"/>
                </a:tc>
                <a:tc>
                  <a:txBody>
                    <a:bodyPr/>
                    <a:lstStyle/>
                    <a:p>
                      <a:pPr rtl="0" fontAlgn="t">
                        <a:spcBef>
                          <a:spcPts val="0"/>
                        </a:spcBef>
                        <a:spcAft>
                          <a:spcPts val="0"/>
                        </a:spcAft>
                      </a:pPr>
                      <a:r>
                        <a:rPr lang="en-US" sz="1600" u="none" strike="noStrike" dirty="0">
                          <a:effectLst/>
                        </a:rPr>
                        <a:t>1</a:t>
                      </a:r>
                      <a:endParaRPr lang="en-US" sz="2800" dirty="0">
                        <a:effectLst/>
                      </a:endParaRPr>
                    </a:p>
                  </a:txBody>
                  <a:tcPr marL="63500" marR="63500" marT="63500" marB="63500"/>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3092030921"/>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69848" y="484632"/>
            <a:ext cx="10058400" cy="612648"/>
          </a:xfrm>
        </p:spPr>
        <p:txBody>
          <a:bodyPr>
            <a:normAutofit/>
          </a:bodyPr>
          <a:lstStyle/>
          <a:p>
            <a:r>
              <a:rPr lang="en-US" sz="2800" b="1" dirty="0"/>
              <a:t>Floating Point Representation: Example</a:t>
            </a:r>
          </a:p>
        </p:txBody>
      </p:sp>
      <p:sp>
        <p:nvSpPr>
          <p:cNvPr id="3" name="Content Placeholder 2"/>
          <p:cNvSpPr>
            <a:spLocks noGrp="1"/>
          </p:cNvSpPr>
          <p:nvPr>
            <p:ph idx="1"/>
          </p:nvPr>
        </p:nvSpPr>
        <p:spPr>
          <a:xfrm>
            <a:off x="1069848" y="1232034"/>
            <a:ext cx="10058400" cy="4940166"/>
          </a:xfrm>
        </p:spPr>
        <p:txBody>
          <a:bodyPr>
            <a:noAutofit/>
          </a:bodyPr>
          <a:lstStyle/>
          <a:p>
            <a:r>
              <a:rPr lang="en-US" b="1" dirty="0"/>
              <a:t>Step-2: Normalize the Binary:</a:t>
            </a:r>
            <a:endParaRPr lang="en-US" dirty="0"/>
          </a:p>
          <a:p>
            <a:pPr marL="617220" lvl="1" indent="-342900">
              <a:buFont typeface="+mj-lt"/>
              <a:buAutoNum type="arabicPeriod"/>
            </a:pPr>
            <a:r>
              <a:rPr lang="en-US" dirty="0"/>
              <a:t>To normalize we use </a:t>
            </a:r>
            <a:r>
              <a:rPr lang="en-US" b="1" dirty="0"/>
              <a:t>implicit normalization</a:t>
            </a:r>
            <a:r>
              <a:rPr lang="en-US" dirty="0"/>
              <a:t> for accuracy:</a:t>
            </a:r>
          </a:p>
          <a:p>
            <a:pPr marL="617220" lvl="1" indent="-342900">
              <a:buFont typeface="+mj-lt"/>
              <a:buAutoNum type="arabicPeriod"/>
            </a:pPr>
            <a:r>
              <a:rPr lang="en-US" i="1" dirty="0"/>
              <a:t>Format</a:t>
            </a:r>
            <a:r>
              <a:rPr lang="en-US" dirty="0"/>
              <a:t>:  1.xxxx * 10 ^ n</a:t>
            </a:r>
          </a:p>
          <a:p>
            <a:pPr marL="617220" lvl="1" indent="-342900">
              <a:buFont typeface="+mj-lt"/>
              <a:buAutoNum type="arabicPeriod"/>
            </a:pPr>
            <a:r>
              <a:rPr lang="en-US" dirty="0"/>
              <a:t>For 0.011, it will be 1.1 * 10 ^ -2.</a:t>
            </a:r>
          </a:p>
          <a:p>
            <a:r>
              <a:rPr lang="en-US" b="1" dirty="0"/>
              <a:t>Step-3: IEEE 754 Single Precision Representation (32-bit):</a:t>
            </a:r>
            <a:endParaRPr lang="en-US" dirty="0"/>
          </a:p>
          <a:p>
            <a:r>
              <a:rPr lang="en-US" dirty="0"/>
              <a:t>IEEE 754 single precision consists of:</a:t>
            </a:r>
          </a:p>
          <a:p>
            <a:pPr marL="617220" lvl="1" indent="-342900" fontAlgn="base">
              <a:buFont typeface="+mj-lt"/>
              <a:buAutoNum type="arabicPeriod"/>
            </a:pPr>
            <a:r>
              <a:rPr lang="en-US" dirty="0"/>
              <a:t>1 bit for the sign</a:t>
            </a:r>
          </a:p>
          <a:p>
            <a:pPr marL="617220" lvl="1" indent="-342900" fontAlgn="base">
              <a:buFont typeface="+mj-lt"/>
              <a:buAutoNum type="arabicPeriod"/>
            </a:pPr>
            <a:r>
              <a:rPr lang="en-US" dirty="0"/>
              <a:t>8 bits for the exponent</a:t>
            </a:r>
          </a:p>
          <a:p>
            <a:pPr marL="617220" lvl="1" indent="-342900" fontAlgn="base">
              <a:buFont typeface="+mj-lt"/>
              <a:buAutoNum type="arabicPeriod"/>
            </a:pPr>
            <a:r>
              <a:rPr lang="en-US" dirty="0"/>
              <a:t>23 bits for the mantissa (fractional part after 1.)</a:t>
            </a:r>
          </a:p>
        </p:txBody>
      </p:sp>
      <p:sp>
        <p:nvSpPr>
          <p:cNvPr id="4" name="Slide Number Placeholder 3"/>
          <p:cNvSpPr>
            <a:spLocks noGrp="1"/>
          </p:cNvSpPr>
          <p:nvPr>
            <p:ph type="sldNum" sz="quarter" idx="12"/>
          </p:nvPr>
        </p:nvSpPr>
        <p:spPr/>
        <p:txBody>
          <a:bodyPr/>
          <a:lstStyle/>
          <a:p>
            <a:fld id="{380846C1-CD93-4AE4-8DA9-0A1941B6C5F9}" type="slidenum">
              <a:rPr lang="en-US" smtClean="0"/>
              <a:t>62</a:t>
            </a:fld>
            <a:endParaRPr lang="en-US"/>
          </a:p>
        </p:txBody>
      </p:sp>
    </p:spTree>
    <p:extLst>
      <p:ext uri="{BB962C8B-B14F-4D97-AF65-F5344CB8AC3E}">
        <p14:creationId xmlns:p14="http://schemas.microsoft.com/office/powerpoint/2010/main" val="1838868793"/>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69848" y="484632"/>
            <a:ext cx="10058400" cy="612648"/>
          </a:xfrm>
        </p:spPr>
        <p:txBody>
          <a:bodyPr>
            <a:normAutofit/>
          </a:bodyPr>
          <a:lstStyle/>
          <a:p>
            <a:r>
              <a:rPr lang="en-US" sz="2800" b="1" dirty="0"/>
              <a:t>Floating Point Representation: Example</a:t>
            </a:r>
          </a:p>
        </p:txBody>
      </p:sp>
      <p:sp>
        <p:nvSpPr>
          <p:cNvPr id="3" name="Content Placeholder 2"/>
          <p:cNvSpPr>
            <a:spLocks noGrp="1"/>
          </p:cNvSpPr>
          <p:nvPr>
            <p:ph idx="1"/>
          </p:nvPr>
        </p:nvSpPr>
        <p:spPr>
          <a:xfrm>
            <a:off x="1069848" y="1232034"/>
            <a:ext cx="10058400" cy="4940166"/>
          </a:xfrm>
        </p:spPr>
        <p:txBody>
          <a:bodyPr>
            <a:noAutofit/>
          </a:bodyPr>
          <a:lstStyle/>
          <a:p>
            <a:r>
              <a:rPr lang="en-US" dirty="0"/>
              <a:t>Sign Bit (1 bit): Since the number (-0.375) is negative, the sign bit = 1.</a:t>
            </a:r>
          </a:p>
          <a:p>
            <a:r>
              <a:rPr lang="en-US" dirty="0"/>
              <a:t>Exponent (8 bits): IEEE 754 uses a biased exponent with a bias of 127:</a:t>
            </a:r>
          </a:p>
          <a:p>
            <a:pPr marL="617220" lvl="1" indent="-342900">
              <a:buFont typeface="+mj-lt"/>
              <a:buAutoNum type="arabicPeriod"/>
            </a:pPr>
            <a:r>
              <a:rPr lang="en-US" dirty="0"/>
              <a:t>Exponent = Actual exponent + Bias = −2 + 127 = 125.</a:t>
            </a:r>
          </a:p>
          <a:p>
            <a:pPr marL="617220" lvl="1" indent="-342900">
              <a:buFont typeface="+mj-lt"/>
              <a:buAutoNum type="arabicPeriod"/>
            </a:pPr>
            <a:r>
              <a:rPr lang="en-US" dirty="0"/>
              <a:t>Convert 125​ to binary: 125 = 01111101 = 01111101 ​= 01111101.</a:t>
            </a:r>
          </a:p>
          <a:p>
            <a:pPr marL="617220" lvl="1" indent="-342900">
              <a:buFont typeface="+mj-lt"/>
              <a:buAutoNum type="arabicPeriod"/>
            </a:pPr>
            <a:r>
              <a:rPr lang="en-US" dirty="0"/>
              <a:t>So, the 8-bit exponent = 01111101.</a:t>
            </a:r>
          </a:p>
          <a:p>
            <a:r>
              <a:rPr lang="en-US" dirty="0"/>
              <a:t>Mantissa (23 bits): We take the fractional part from step-2 = 1.1 (drop the leading 1.), so: </a:t>
            </a:r>
            <a:r>
              <a:rPr lang="en-US" dirty="0">
                <a:solidFill>
                  <a:schemeClr val="accent1"/>
                </a:solidFill>
              </a:rPr>
              <a:t>1000000……</a:t>
            </a:r>
          </a:p>
          <a:p>
            <a:r>
              <a:rPr lang="en-US" b="1" dirty="0"/>
              <a:t>Final IEEE 754 Single Precision Representation:</a:t>
            </a:r>
            <a:endParaRPr lang="en-US" dirty="0"/>
          </a:p>
          <a:p>
            <a:pPr marL="274320" lvl="1" indent="0">
              <a:buNone/>
            </a:pPr>
            <a:r>
              <a:rPr lang="en-US" dirty="0"/>
              <a:t>			1 01111101 10000000000000000000000</a:t>
            </a:r>
          </a:p>
          <a:p>
            <a:r>
              <a:rPr lang="en-US" dirty="0"/>
              <a:t>Binary: 1011 1110 1100 0000 0000 0000 0000 0000</a:t>
            </a:r>
          </a:p>
          <a:p>
            <a:r>
              <a:rPr lang="en-US" dirty="0"/>
              <a:t>Hexadecimal: 0xBE800000</a:t>
            </a:r>
          </a:p>
        </p:txBody>
      </p:sp>
      <p:sp>
        <p:nvSpPr>
          <p:cNvPr id="4" name="Slide Number Placeholder 3"/>
          <p:cNvSpPr>
            <a:spLocks noGrp="1"/>
          </p:cNvSpPr>
          <p:nvPr>
            <p:ph type="sldNum" sz="quarter" idx="12"/>
          </p:nvPr>
        </p:nvSpPr>
        <p:spPr/>
        <p:txBody>
          <a:bodyPr/>
          <a:lstStyle/>
          <a:p>
            <a:fld id="{380846C1-CD93-4AE4-8DA9-0A1941B6C5F9}" type="slidenum">
              <a:rPr lang="en-US" smtClean="0"/>
              <a:t>63</a:t>
            </a:fld>
            <a:endParaRPr lang="en-US"/>
          </a:p>
        </p:txBody>
      </p:sp>
    </p:spTree>
    <p:extLst>
      <p:ext uri="{BB962C8B-B14F-4D97-AF65-F5344CB8AC3E}">
        <p14:creationId xmlns:p14="http://schemas.microsoft.com/office/powerpoint/2010/main" val="1137653136"/>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69848" y="484632"/>
            <a:ext cx="10058400" cy="612648"/>
          </a:xfrm>
        </p:spPr>
        <p:txBody>
          <a:bodyPr>
            <a:normAutofit/>
          </a:bodyPr>
          <a:lstStyle/>
          <a:p>
            <a:r>
              <a:rPr lang="en-US" sz="2800" b="1" dirty="0"/>
              <a:t>Floating Point Representation: Example</a:t>
            </a:r>
          </a:p>
        </p:txBody>
      </p:sp>
      <p:sp>
        <p:nvSpPr>
          <p:cNvPr id="3" name="Content Placeholder 2"/>
          <p:cNvSpPr>
            <a:spLocks noGrp="1"/>
          </p:cNvSpPr>
          <p:nvPr>
            <p:ph idx="1"/>
          </p:nvPr>
        </p:nvSpPr>
        <p:spPr>
          <a:xfrm>
            <a:off x="1069848" y="1232034"/>
            <a:ext cx="10058400" cy="4940166"/>
          </a:xfrm>
        </p:spPr>
        <p:txBody>
          <a:bodyPr>
            <a:noAutofit/>
          </a:bodyPr>
          <a:lstStyle/>
          <a:p>
            <a:r>
              <a:rPr lang="en-US" b="1" dirty="0"/>
              <a:t>Step-4: IEEE 754 Double Precision Representation (64-bit):</a:t>
            </a:r>
            <a:endParaRPr lang="en-US" dirty="0"/>
          </a:p>
          <a:p>
            <a:r>
              <a:rPr lang="en-US" dirty="0"/>
              <a:t>IEEE 754 double precision consists of:</a:t>
            </a:r>
          </a:p>
          <a:p>
            <a:pPr marL="617220" lvl="1" indent="-342900" fontAlgn="base">
              <a:buFont typeface="+mj-lt"/>
              <a:buAutoNum type="arabicPeriod"/>
            </a:pPr>
            <a:r>
              <a:rPr lang="en-US" dirty="0"/>
              <a:t>1 bit for the sign</a:t>
            </a:r>
          </a:p>
          <a:p>
            <a:pPr marL="617220" lvl="1" indent="-342900" fontAlgn="base">
              <a:buFont typeface="+mj-lt"/>
              <a:buAutoNum type="arabicPeriod"/>
            </a:pPr>
            <a:r>
              <a:rPr lang="en-US" dirty="0"/>
              <a:t>11 bits for the exponent</a:t>
            </a:r>
          </a:p>
          <a:p>
            <a:pPr marL="617220" lvl="1" indent="-342900" fontAlgn="base">
              <a:buFont typeface="+mj-lt"/>
              <a:buAutoNum type="arabicPeriod"/>
            </a:pPr>
            <a:r>
              <a:rPr lang="en-US" dirty="0"/>
              <a:t>52 bits for the mantissa</a:t>
            </a:r>
          </a:p>
          <a:p>
            <a:r>
              <a:rPr lang="en-US" dirty="0"/>
              <a:t>Sign Bit (1 bit): Since the number is negative, the sign bit = 1.</a:t>
            </a:r>
          </a:p>
          <a:p>
            <a:r>
              <a:rPr lang="en-US" dirty="0"/>
              <a:t>Exponent (11 bits): IEEE 754 double precision uses a bias of 1023:</a:t>
            </a:r>
          </a:p>
          <a:p>
            <a:pPr marL="617220" lvl="1" indent="-342900">
              <a:buFont typeface="+mj-lt"/>
              <a:buAutoNum type="arabicPeriod"/>
            </a:pPr>
            <a:r>
              <a:rPr lang="en-US" dirty="0"/>
              <a:t>Exponent = Actual exponent + Bias = −2 + 1023 = 1021.</a:t>
            </a:r>
          </a:p>
          <a:p>
            <a:pPr marL="617220" lvl="1" indent="-342900">
              <a:buFont typeface="+mj-lt"/>
              <a:buAutoNum type="arabicPeriod"/>
            </a:pPr>
            <a:r>
              <a:rPr lang="en-US" dirty="0"/>
              <a:t>Convert 1021 to binary: 1021 = 01111111011.</a:t>
            </a:r>
          </a:p>
          <a:p>
            <a:pPr marL="617220" lvl="1" indent="-342900">
              <a:buFont typeface="+mj-lt"/>
              <a:buAutoNum type="arabicPeriod"/>
            </a:pPr>
            <a:r>
              <a:rPr lang="en-US" dirty="0"/>
              <a:t>So, the 11-bit exponent =  01111111011.</a:t>
            </a:r>
          </a:p>
          <a:p>
            <a:r>
              <a:rPr lang="en-US" dirty="0"/>
              <a:t>Mantissa (52 bits): We take the fractional part 1.1 (drop the leading 1.), so: 100000….</a:t>
            </a:r>
          </a:p>
          <a:p>
            <a:r>
              <a:rPr lang="en-US" b="1" dirty="0"/>
              <a:t>Final IEEE 754 Double Precision Representation</a:t>
            </a:r>
          </a:p>
          <a:p>
            <a:pPr marL="274320" lvl="1" indent="0">
              <a:buNone/>
            </a:pPr>
            <a:r>
              <a:rPr lang="en-US" dirty="0"/>
              <a:t>	1 01111111011 1000000000000000000000000000000000000000000000000000</a:t>
            </a:r>
            <a:br>
              <a:rPr lang="en-US" dirty="0"/>
            </a:br>
            <a:endParaRPr lang="en-US" dirty="0"/>
          </a:p>
        </p:txBody>
      </p:sp>
      <p:sp>
        <p:nvSpPr>
          <p:cNvPr id="4" name="Slide Number Placeholder 3"/>
          <p:cNvSpPr>
            <a:spLocks noGrp="1"/>
          </p:cNvSpPr>
          <p:nvPr>
            <p:ph type="sldNum" sz="quarter" idx="12"/>
          </p:nvPr>
        </p:nvSpPr>
        <p:spPr/>
        <p:txBody>
          <a:bodyPr/>
          <a:lstStyle/>
          <a:p>
            <a:fld id="{380846C1-CD93-4AE4-8DA9-0A1941B6C5F9}" type="slidenum">
              <a:rPr lang="en-US" smtClean="0"/>
              <a:t>64</a:t>
            </a:fld>
            <a:endParaRPr lang="en-US"/>
          </a:p>
        </p:txBody>
      </p:sp>
    </p:spTree>
    <p:extLst>
      <p:ext uri="{BB962C8B-B14F-4D97-AF65-F5344CB8AC3E}">
        <p14:creationId xmlns:p14="http://schemas.microsoft.com/office/powerpoint/2010/main" val="3927072863"/>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69848" y="484632"/>
            <a:ext cx="10058400" cy="612648"/>
          </a:xfrm>
        </p:spPr>
        <p:txBody>
          <a:bodyPr>
            <a:normAutofit/>
          </a:bodyPr>
          <a:lstStyle/>
          <a:p>
            <a:r>
              <a:rPr lang="en-US" sz="2800" b="1" dirty="0"/>
              <a:t>Floating Point Representation: Example</a:t>
            </a:r>
          </a:p>
        </p:txBody>
      </p:sp>
      <p:sp>
        <p:nvSpPr>
          <p:cNvPr id="3" name="Content Placeholder 2"/>
          <p:cNvSpPr>
            <a:spLocks noGrp="1"/>
          </p:cNvSpPr>
          <p:nvPr>
            <p:ph idx="1"/>
          </p:nvPr>
        </p:nvSpPr>
        <p:spPr>
          <a:xfrm>
            <a:off x="1069848" y="1232034"/>
            <a:ext cx="10058400" cy="4940166"/>
          </a:xfrm>
        </p:spPr>
        <p:txBody>
          <a:bodyPr>
            <a:noAutofit/>
          </a:bodyPr>
          <a:lstStyle/>
          <a:p>
            <a:r>
              <a:rPr lang="en-US" dirty="0"/>
              <a:t>Binary: 1011 1111 1011 1000 0000 0000 0000 0000 0000 0000 0000 0000 0000 0000 0000 0000</a:t>
            </a:r>
          </a:p>
          <a:p>
            <a:r>
              <a:rPr lang="en-US" dirty="0"/>
              <a:t>Hexadecimal: 0xBFD8000000000000 </a:t>
            </a:r>
            <a:r>
              <a:rPr lang="en-US" i="1" dirty="0"/>
              <a:t>(ANS.)</a:t>
            </a:r>
            <a:endParaRPr lang="en-US" dirty="0"/>
          </a:p>
          <a:p>
            <a:pPr marL="0" indent="0">
              <a:buNone/>
            </a:pPr>
            <a:endParaRPr lang="en-US" dirty="0"/>
          </a:p>
          <a:p>
            <a:pPr marL="0" indent="0">
              <a:buNone/>
            </a:pPr>
            <a:r>
              <a:rPr lang="en-US" dirty="0"/>
              <a:t>Resources:</a:t>
            </a:r>
          </a:p>
          <a:p>
            <a:pPr marL="457200" indent="-457200">
              <a:buAutoNum type="arabicPeriod"/>
            </a:pPr>
            <a:r>
              <a:rPr lang="en-US" dirty="0">
                <a:hlinkClick r:id="rId2"/>
              </a:rPr>
              <a:t>Decimal to IEEE 754</a:t>
            </a:r>
            <a:endParaRPr lang="en-US" dirty="0"/>
          </a:p>
          <a:p>
            <a:pPr marL="457200" indent="-457200">
              <a:buAutoNum type="arabicPeriod"/>
            </a:pPr>
            <a:r>
              <a:rPr lang="en-US" dirty="0">
                <a:hlinkClick r:id="rId3"/>
              </a:rPr>
              <a:t>IEEE 754 to Decimal</a:t>
            </a:r>
            <a:endParaRPr lang="en-US" dirty="0"/>
          </a:p>
          <a:p>
            <a:pPr marL="0" indent="0">
              <a:buNone/>
            </a:pPr>
            <a:endParaRPr lang="en-US" dirty="0"/>
          </a:p>
        </p:txBody>
      </p:sp>
      <p:sp>
        <p:nvSpPr>
          <p:cNvPr id="4" name="Slide Number Placeholder 3"/>
          <p:cNvSpPr>
            <a:spLocks noGrp="1"/>
          </p:cNvSpPr>
          <p:nvPr>
            <p:ph type="sldNum" sz="quarter" idx="12"/>
          </p:nvPr>
        </p:nvSpPr>
        <p:spPr/>
        <p:txBody>
          <a:bodyPr/>
          <a:lstStyle/>
          <a:p>
            <a:fld id="{380846C1-CD93-4AE4-8DA9-0A1941B6C5F9}" type="slidenum">
              <a:rPr lang="en-US" smtClean="0"/>
              <a:t>65</a:t>
            </a:fld>
            <a:endParaRPr lang="en-US"/>
          </a:p>
        </p:txBody>
      </p:sp>
    </p:spTree>
    <p:extLst>
      <p:ext uri="{BB962C8B-B14F-4D97-AF65-F5344CB8AC3E}">
        <p14:creationId xmlns:p14="http://schemas.microsoft.com/office/powerpoint/2010/main" val="3053749005"/>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69848" y="484632"/>
            <a:ext cx="10058400" cy="612648"/>
          </a:xfrm>
        </p:spPr>
        <p:txBody>
          <a:bodyPr>
            <a:normAutofit/>
          </a:bodyPr>
          <a:lstStyle/>
          <a:p>
            <a:r>
              <a:rPr lang="en-US" sz="2800" b="1" dirty="0"/>
              <a:t>Longest Common Subsequence (LCS)</a:t>
            </a:r>
          </a:p>
        </p:txBody>
      </p:sp>
      <p:sp>
        <p:nvSpPr>
          <p:cNvPr id="3" name="Content Placeholder 2"/>
          <p:cNvSpPr>
            <a:spLocks noGrp="1"/>
          </p:cNvSpPr>
          <p:nvPr>
            <p:ph idx="1"/>
          </p:nvPr>
        </p:nvSpPr>
        <p:spPr>
          <a:xfrm>
            <a:off x="1069848" y="1232034"/>
            <a:ext cx="10058400" cy="4940166"/>
          </a:xfrm>
        </p:spPr>
        <p:txBody>
          <a:bodyPr>
            <a:noAutofit/>
          </a:bodyPr>
          <a:lstStyle/>
          <a:p>
            <a:r>
              <a:rPr lang="en-US" dirty="0"/>
              <a:t>The </a:t>
            </a:r>
            <a:r>
              <a:rPr lang="en-US" b="1" dirty="0"/>
              <a:t>Longest Common Subsequence (LCS)</a:t>
            </a:r>
            <a:r>
              <a:rPr lang="en-US" dirty="0"/>
              <a:t> problem is a classic problem in computer science and dynamic programming. Given two sequences, the goal is to find the longest subsequence that appears in both sequences in the same order (but not necessarily consecutively).</a:t>
            </a:r>
          </a:p>
          <a:p>
            <a:r>
              <a:rPr lang="en-US" dirty="0"/>
              <a:t>Example: Two strings given:</a:t>
            </a:r>
          </a:p>
          <a:p>
            <a:pPr marL="274320" lvl="1" indent="0">
              <a:buNone/>
            </a:pPr>
            <a:r>
              <a:rPr lang="en-US" dirty="0"/>
              <a:t>X = BACDB</a:t>
            </a:r>
          </a:p>
          <a:p>
            <a:pPr marL="274320" lvl="1" indent="0">
              <a:buNone/>
            </a:pPr>
            <a:r>
              <a:rPr lang="en-US" dirty="0"/>
              <a:t>Y = BDCB</a:t>
            </a:r>
          </a:p>
          <a:p>
            <a:pPr marL="0" indent="0">
              <a:buNone/>
            </a:pPr>
            <a:br>
              <a:rPr lang="en-US" dirty="0"/>
            </a:br>
            <a:endParaRPr lang="en-US" dirty="0"/>
          </a:p>
        </p:txBody>
      </p:sp>
      <p:sp>
        <p:nvSpPr>
          <p:cNvPr id="4" name="Slide Number Placeholder 3"/>
          <p:cNvSpPr>
            <a:spLocks noGrp="1"/>
          </p:cNvSpPr>
          <p:nvPr>
            <p:ph type="sldNum" sz="quarter" idx="12"/>
          </p:nvPr>
        </p:nvSpPr>
        <p:spPr/>
        <p:txBody>
          <a:bodyPr/>
          <a:lstStyle/>
          <a:p>
            <a:fld id="{380846C1-CD93-4AE4-8DA9-0A1941B6C5F9}" type="slidenum">
              <a:rPr lang="en-US" smtClean="0"/>
              <a:t>66</a:t>
            </a:fld>
            <a:endParaRPr lang="en-US"/>
          </a:p>
        </p:txBody>
      </p:sp>
      <p:pic>
        <p:nvPicPr>
          <p:cNvPr id="5122" name="Picture 2" descr="https://lh7-rt.googleusercontent.com/docsz/AD_4nXdnLY08iSpbTB1wbB67NE9cM_JwxXr0LJFbGpCttRc97x2gNbbGbWfwIUiaixsTocO_-tnrGR0OEr8jDbj11xuux1trhjBt-n6aZOOCiZR3eP6Kmsxn31-aoUWRFg0T5kxAagxt?key=3t1yVFxkmF-Va4PpDyArpCDB"/>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735490" y="3229025"/>
            <a:ext cx="4471290" cy="283489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65991599"/>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69848" y="484632"/>
            <a:ext cx="10058400" cy="612648"/>
          </a:xfrm>
        </p:spPr>
        <p:txBody>
          <a:bodyPr>
            <a:normAutofit/>
          </a:bodyPr>
          <a:lstStyle/>
          <a:p>
            <a:r>
              <a:rPr lang="en-US" sz="2800" b="1" dirty="0"/>
              <a:t>Complexity Analysis of Algorithms</a:t>
            </a:r>
          </a:p>
        </p:txBody>
      </p:sp>
      <p:sp>
        <p:nvSpPr>
          <p:cNvPr id="3" name="Content Placeholder 2"/>
          <p:cNvSpPr>
            <a:spLocks noGrp="1"/>
          </p:cNvSpPr>
          <p:nvPr>
            <p:ph idx="1"/>
          </p:nvPr>
        </p:nvSpPr>
        <p:spPr>
          <a:xfrm>
            <a:off x="1069848" y="1232034"/>
            <a:ext cx="10058400" cy="4940166"/>
          </a:xfrm>
        </p:spPr>
        <p:txBody>
          <a:bodyPr>
            <a:noAutofit/>
          </a:bodyPr>
          <a:lstStyle/>
          <a:p>
            <a:r>
              <a:rPr lang="en-US" b="1" dirty="0"/>
              <a:t>Complexity Analysis of Algorithms:</a:t>
            </a:r>
            <a:endParaRPr lang="en-US" dirty="0"/>
          </a:p>
          <a:p>
            <a:r>
              <a:rPr lang="en-US" dirty="0"/>
              <a:t>Complexity analysis of an algorithm determines the amount of resources (time and space) an algorithm requires based on the input size. It helps in evaluating algorithm efficiency, comparing different algorithms, and optimizing performance.</a:t>
            </a:r>
          </a:p>
          <a:p>
            <a:r>
              <a:rPr lang="en-US" i="1" dirty="0"/>
              <a:t>Types of Complexity Analysis</a:t>
            </a:r>
            <a:endParaRPr lang="en-US" dirty="0"/>
          </a:p>
          <a:p>
            <a:pPr marL="0" indent="0" fontAlgn="base">
              <a:buNone/>
            </a:pPr>
            <a:r>
              <a:rPr lang="en-US" b="1" dirty="0"/>
              <a:t>1. Time Complexity:</a:t>
            </a:r>
            <a:r>
              <a:rPr lang="en-US" dirty="0"/>
              <a:t> Measures the number of basic operations an algorithm performs as a function of input size n. Expressed using Big-O notation. </a:t>
            </a:r>
          </a:p>
          <a:p>
            <a:r>
              <a:rPr lang="en-US" i="1" dirty="0"/>
              <a:t>Common time complexities:</a:t>
            </a:r>
            <a:endParaRPr lang="en-US" dirty="0"/>
          </a:p>
          <a:p>
            <a:pPr marL="617220" lvl="1" indent="-342900" fontAlgn="base">
              <a:buFont typeface="+mj-lt"/>
              <a:buAutoNum type="arabicPeriod"/>
            </a:pPr>
            <a:r>
              <a:rPr lang="en-US" dirty="0"/>
              <a:t>O(1) = Constant Time = Accessing an element in an array</a:t>
            </a:r>
          </a:p>
          <a:p>
            <a:pPr marL="617220" lvl="1" indent="-342900" fontAlgn="base">
              <a:buFont typeface="+mj-lt"/>
              <a:buAutoNum type="arabicPeriod"/>
            </a:pPr>
            <a:r>
              <a:rPr lang="en-US" dirty="0"/>
              <a:t>O(n) = Linear Time = Traversing an array</a:t>
            </a:r>
          </a:p>
          <a:p>
            <a:pPr marL="617220" lvl="1" indent="-342900" fontAlgn="base">
              <a:buFont typeface="+mj-lt"/>
              <a:buAutoNum type="arabicPeriod"/>
            </a:pPr>
            <a:r>
              <a:rPr lang="en-US" dirty="0"/>
              <a:t>O(log n) = Logarithmic Time = Binary Search</a:t>
            </a:r>
          </a:p>
          <a:p>
            <a:pPr marL="617220" lvl="1" indent="-342900" fontAlgn="base">
              <a:buFont typeface="+mj-lt"/>
              <a:buAutoNum type="arabicPeriod"/>
            </a:pPr>
            <a:r>
              <a:rPr lang="en-US" dirty="0"/>
              <a:t>O(n log n) = </a:t>
            </a:r>
            <a:r>
              <a:rPr lang="en-US" dirty="0" err="1"/>
              <a:t>Linearithmic</a:t>
            </a:r>
            <a:r>
              <a:rPr lang="en-US" dirty="0"/>
              <a:t> Time = Merge sort, Quick sort</a:t>
            </a:r>
          </a:p>
          <a:p>
            <a:pPr marL="617220" lvl="1" indent="-342900">
              <a:buFont typeface="+mj-lt"/>
              <a:buAutoNum type="arabicPeriod"/>
            </a:pPr>
            <a:r>
              <a:rPr lang="en-US" dirty="0"/>
              <a:t>O(n2) = Quadratic Time = Bubble sort</a:t>
            </a:r>
          </a:p>
        </p:txBody>
      </p:sp>
      <p:sp>
        <p:nvSpPr>
          <p:cNvPr id="4" name="Slide Number Placeholder 3"/>
          <p:cNvSpPr>
            <a:spLocks noGrp="1"/>
          </p:cNvSpPr>
          <p:nvPr>
            <p:ph type="sldNum" sz="quarter" idx="12"/>
          </p:nvPr>
        </p:nvSpPr>
        <p:spPr/>
        <p:txBody>
          <a:bodyPr/>
          <a:lstStyle/>
          <a:p>
            <a:fld id="{380846C1-CD93-4AE4-8DA9-0A1941B6C5F9}" type="slidenum">
              <a:rPr lang="en-US" smtClean="0"/>
              <a:t>67</a:t>
            </a:fld>
            <a:endParaRPr lang="en-US"/>
          </a:p>
        </p:txBody>
      </p:sp>
    </p:spTree>
    <p:extLst>
      <p:ext uri="{BB962C8B-B14F-4D97-AF65-F5344CB8AC3E}">
        <p14:creationId xmlns:p14="http://schemas.microsoft.com/office/powerpoint/2010/main" val="3145244277"/>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69848" y="484632"/>
            <a:ext cx="10058400" cy="612648"/>
          </a:xfrm>
        </p:spPr>
        <p:txBody>
          <a:bodyPr>
            <a:normAutofit/>
          </a:bodyPr>
          <a:lstStyle/>
          <a:p>
            <a:r>
              <a:rPr lang="en-US" sz="2800" b="1" dirty="0"/>
              <a:t>Complexity Analysis of Algorithms</a:t>
            </a:r>
          </a:p>
        </p:txBody>
      </p:sp>
      <p:sp>
        <p:nvSpPr>
          <p:cNvPr id="3" name="Content Placeholder 2"/>
          <p:cNvSpPr>
            <a:spLocks noGrp="1"/>
          </p:cNvSpPr>
          <p:nvPr>
            <p:ph idx="1"/>
          </p:nvPr>
        </p:nvSpPr>
        <p:spPr>
          <a:xfrm>
            <a:off x="1069848" y="1232034"/>
            <a:ext cx="10058400" cy="4940166"/>
          </a:xfrm>
        </p:spPr>
        <p:txBody>
          <a:bodyPr>
            <a:noAutofit/>
          </a:bodyPr>
          <a:lstStyle/>
          <a:p>
            <a:r>
              <a:rPr lang="en-US" i="1" dirty="0"/>
              <a:t>Best, Worst, and Average Case Complexity</a:t>
            </a:r>
            <a:endParaRPr lang="en-US" dirty="0"/>
          </a:p>
          <a:p>
            <a:pPr marL="617220" lvl="1" indent="-342900" fontAlgn="base">
              <a:buFont typeface="+mj-lt"/>
              <a:buAutoNum type="arabicPeriod"/>
            </a:pPr>
            <a:r>
              <a:rPr lang="en-US" dirty="0"/>
              <a:t>Best Case (Ω - Omega): Minimum time an algorithm takes for optimal input.</a:t>
            </a:r>
          </a:p>
          <a:p>
            <a:pPr marL="617220" lvl="1" indent="-342900" fontAlgn="base">
              <a:buFont typeface="+mj-lt"/>
              <a:buAutoNum type="arabicPeriod"/>
            </a:pPr>
            <a:r>
              <a:rPr lang="en-US" dirty="0"/>
              <a:t>Worst Case (O): Maximum time an algorithm takes for the worst input.</a:t>
            </a:r>
          </a:p>
          <a:p>
            <a:pPr marL="617220" lvl="1" indent="-342900" fontAlgn="base">
              <a:buFont typeface="+mj-lt"/>
              <a:buAutoNum type="arabicPeriod"/>
            </a:pPr>
            <a:r>
              <a:rPr lang="en-US" dirty="0"/>
              <a:t>Average Case (Θ - Theta): Expected runtime for random input.</a:t>
            </a:r>
          </a:p>
        </p:txBody>
      </p:sp>
      <p:sp>
        <p:nvSpPr>
          <p:cNvPr id="4" name="Slide Number Placeholder 3"/>
          <p:cNvSpPr>
            <a:spLocks noGrp="1"/>
          </p:cNvSpPr>
          <p:nvPr>
            <p:ph type="sldNum" sz="quarter" idx="12"/>
          </p:nvPr>
        </p:nvSpPr>
        <p:spPr/>
        <p:txBody>
          <a:bodyPr/>
          <a:lstStyle/>
          <a:p>
            <a:fld id="{380846C1-CD93-4AE4-8DA9-0A1941B6C5F9}" type="slidenum">
              <a:rPr lang="en-US" smtClean="0"/>
              <a:t>68</a:t>
            </a:fld>
            <a:endParaRPr lang="en-US"/>
          </a:p>
        </p:txBody>
      </p:sp>
    </p:spTree>
    <p:extLst>
      <p:ext uri="{BB962C8B-B14F-4D97-AF65-F5344CB8AC3E}">
        <p14:creationId xmlns:p14="http://schemas.microsoft.com/office/powerpoint/2010/main" val="1476430081"/>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69848" y="484632"/>
            <a:ext cx="10058400" cy="612648"/>
          </a:xfrm>
        </p:spPr>
        <p:txBody>
          <a:bodyPr>
            <a:normAutofit/>
          </a:bodyPr>
          <a:lstStyle/>
          <a:p>
            <a:r>
              <a:rPr lang="en-US" sz="2800" b="1" dirty="0"/>
              <a:t>Complexity Analysis of Algorithms</a:t>
            </a:r>
          </a:p>
        </p:txBody>
      </p:sp>
      <p:sp>
        <p:nvSpPr>
          <p:cNvPr id="3" name="Content Placeholder 2"/>
          <p:cNvSpPr>
            <a:spLocks noGrp="1"/>
          </p:cNvSpPr>
          <p:nvPr>
            <p:ph idx="1"/>
          </p:nvPr>
        </p:nvSpPr>
        <p:spPr>
          <a:xfrm>
            <a:off x="1069848" y="1232034"/>
            <a:ext cx="10058400" cy="4940166"/>
          </a:xfrm>
        </p:spPr>
        <p:txBody>
          <a:bodyPr>
            <a:noAutofit/>
          </a:bodyPr>
          <a:lstStyle/>
          <a:p>
            <a:pPr marL="0" indent="0" fontAlgn="base">
              <a:buNone/>
            </a:pPr>
            <a:r>
              <a:rPr lang="en-US" b="1" dirty="0"/>
              <a:t>2. Space Complexity:</a:t>
            </a:r>
            <a:r>
              <a:rPr lang="en-US" dirty="0"/>
              <a:t> Measures the amount of extra memory an algorithm needs during execution.</a:t>
            </a:r>
          </a:p>
          <a:p>
            <a:pPr marL="0" indent="0" fontAlgn="base">
              <a:buNone/>
            </a:pPr>
            <a:r>
              <a:rPr lang="en-US" dirty="0"/>
              <a:t>3. Why Does </a:t>
            </a:r>
            <a:r>
              <a:rPr lang="en-US" b="1" dirty="0"/>
              <a:t>Complexity Analysis Matter</a:t>
            </a:r>
            <a:r>
              <a:rPr lang="en-US" dirty="0"/>
              <a:t>?</a:t>
            </a:r>
          </a:p>
          <a:p>
            <a:pPr marL="617220" lvl="1" indent="-342900" fontAlgn="base">
              <a:buFont typeface="+mj-lt"/>
              <a:buAutoNum type="arabicPeriod"/>
            </a:pPr>
            <a:r>
              <a:rPr lang="en-US" dirty="0"/>
              <a:t>Helps in selecting the best algorithm for a problem.</a:t>
            </a:r>
          </a:p>
          <a:p>
            <a:pPr marL="617220" lvl="1" indent="-342900" fontAlgn="base">
              <a:buFont typeface="+mj-lt"/>
              <a:buAutoNum type="arabicPeriod"/>
            </a:pPr>
            <a:r>
              <a:rPr lang="en-US" dirty="0"/>
              <a:t>Identifies bottlenecks and improves efficiency.</a:t>
            </a:r>
          </a:p>
          <a:p>
            <a:pPr marL="617220" lvl="1" indent="-342900" fontAlgn="base">
              <a:buFont typeface="+mj-lt"/>
              <a:buAutoNum type="arabicPeriod"/>
            </a:pPr>
            <a:r>
              <a:rPr lang="en-US" dirty="0"/>
              <a:t>Ensures scalability for large inputs</a:t>
            </a:r>
          </a:p>
        </p:txBody>
      </p:sp>
      <p:sp>
        <p:nvSpPr>
          <p:cNvPr id="4" name="Slide Number Placeholder 3"/>
          <p:cNvSpPr>
            <a:spLocks noGrp="1"/>
          </p:cNvSpPr>
          <p:nvPr>
            <p:ph type="sldNum" sz="quarter" idx="12"/>
          </p:nvPr>
        </p:nvSpPr>
        <p:spPr/>
        <p:txBody>
          <a:bodyPr/>
          <a:lstStyle/>
          <a:p>
            <a:fld id="{380846C1-CD93-4AE4-8DA9-0A1941B6C5F9}" type="slidenum">
              <a:rPr lang="en-US" smtClean="0"/>
              <a:t>69</a:t>
            </a:fld>
            <a:endParaRPr lang="en-US"/>
          </a:p>
        </p:txBody>
      </p:sp>
    </p:spTree>
    <p:extLst>
      <p:ext uri="{BB962C8B-B14F-4D97-AF65-F5344CB8AC3E}">
        <p14:creationId xmlns:p14="http://schemas.microsoft.com/office/powerpoint/2010/main" val="1598303498"/>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69848" y="484632"/>
            <a:ext cx="10058400" cy="612648"/>
          </a:xfrm>
        </p:spPr>
        <p:txBody>
          <a:bodyPr>
            <a:normAutofit/>
          </a:bodyPr>
          <a:lstStyle/>
          <a:p>
            <a:r>
              <a:rPr lang="en-US" sz="2800" b="1" dirty="0"/>
              <a:t>Matrix-Chain Multiplication</a:t>
            </a:r>
          </a:p>
        </p:txBody>
      </p:sp>
      <p:sp>
        <p:nvSpPr>
          <p:cNvPr id="3" name="Content Placeholder 2"/>
          <p:cNvSpPr>
            <a:spLocks noGrp="1"/>
          </p:cNvSpPr>
          <p:nvPr>
            <p:ph idx="1"/>
          </p:nvPr>
        </p:nvSpPr>
        <p:spPr>
          <a:xfrm>
            <a:off x="1069848" y="1232034"/>
            <a:ext cx="10058400" cy="4940166"/>
          </a:xfrm>
        </p:spPr>
        <p:txBody>
          <a:bodyPr>
            <a:noAutofit/>
          </a:bodyPr>
          <a:lstStyle/>
          <a:p>
            <a:r>
              <a:rPr lang="en-US" dirty="0"/>
              <a:t>A problem in which the goal is to find the most efficient way to multiply a sequence of matrices.</a:t>
            </a:r>
          </a:p>
          <a:p>
            <a:r>
              <a:rPr lang="en-US" dirty="0"/>
              <a:t>Conditions: </a:t>
            </a:r>
          </a:p>
          <a:p>
            <a:r>
              <a:rPr lang="en-US" dirty="0"/>
              <a:t>Suppose you have two matrices </a:t>
            </a:r>
            <a:r>
              <a:rPr lang="en-US" dirty="0">
                <a:solidFill>
                  <a:schemeClr val="accent1"/>
                </a:solidFill>
              </a:rPr>
              <a:t>A and B </a:t>
            </a:r>
            <a:r>
              <a:rPr lang="en-US" dirty="0"/>
              <a:t>with </a:t>
            </a:r>
            <a:r>
              <a:rPr lang="en-US" dirty="0">
                <a:solidFill>
                  <a:schemeClr val="accent1"/>
                </a:solidFill>
              </a:rPr>
              <a:t>rows * columns </a:t>
            </a:r>
            <a:r>
              <a:rPr lang="en-US" dirty="0"/>
              <a:t>are </a:t>
            </a:r>
            <a:r>
              <a:rPr lang="en-US" dirty="0">
                <a:solidFill>
                  <a:schemeClr val="accent1"/>
                </a:solidFill>
              </a:rPr>
              <a:t>5*4</a:t>
            </a:r>
            <a:r>
              <a:rPr lang="en-US" dirty="0"/>
              <a:t> and </a:t>
            </a:r>
            <a:r>
              <a:rPr lang="en-US" dirty="0">
                <a:solidFill>
                  <a:schemeClr val="accent1"/>
                </a:solidFill>
              </a:rPr>
              <a:t>4*3</a:t>
            </a:r>
            <a:r>
              <a:rPr lang="en-US" dirty="0"/>
              <a:t>, if the first matrix (A)’s column (4) is equal to the second matrix(B)’s row (4), then we can multiply them.</a:t>
            </a:r>
          </a:p>
          <a:p>
            <a:pPr marL="617220" lvl="1" indent="-342900">
              <a:buFont typeface="+mj-lt"/>
              <a:buAutoNum type="arabicPeriod"/>
            </a:pPr>
            <a:r>
              <a:rPr lang="en-US" sz="2000" dirty="0"/>
              <a:t>By following it, if </a:t>
            </a:r>
            <a:r>
              <a:rPr lang="en-US" sz="2000" dirty="0">
                <a:solidFill>
                  <a:schemeClr val="accent1"/>
                </a:solidFill>
              </a:rPr>
              <a:t>A * B = C</a:t>
            </a:r>
            <a:r>
              <a:rPr lang="en-US" sz="2000" dirty="0"/>
              <a:t>, then C’s dimension will be </a:t>
            </a:r>
            <a:r>
              <a:rPr lang="en-US" sz="2000" dirty="0">
                <a:solidFill>
                  <a:schemeClr val="accent1"/>
                </a:solidFill>
              </a:rPr>
              <a:t>5*3</a:t>
            </a:r>
            <a:r>
              <a:rPr lang="en-US" sz="2000" dirty="0"/>
              <a:t>, which means row of </a:t>
            </a:r>
            <a:r>
              <a:rPr lang="en-US" sz="2000" dirty="0">
                <a:solidFill>
                  <a:schemeClr val="accent1"/>
                </a:solidFill>
              </a:rPr>
              <a:t>A * column of B</a:t>
            </a:r>
            <a:r>
              <a:rPr lang="en-US" sz="2000" dirty="0"/>
              <a:t>.</a:t>
            </a:r>
          </a:p>
          <a:p>
            <a:pPr marL="617220" lvl="1" indent="-342900">
              <a:buFont typeface="+mj-lt"/>
              <a:buAutoNum type="arabicPeriod"/>
            </a:pPr>
            <a:r>
              <a:rPr lang="en-US" sz="2000" dirty="0"/>
              <a:t>So how many multiplications do we need to fill up the matrix C?</a:t>
            </a:r>
          </a:p>
          <a:p>
            <a:pPr marL="617220" lvl="1" indent="-342900">
              <a:buFont typeface="+mj-lt"/>
              <a:buAutoNum type="arabicPeriod"/>
            </a:pPr>
            <a:r>
              <a:rPr lang="en-US" sz="2000" dirty="0"/>
              <a:t>Cost = 5*3*4 = 60 multiplications.</a:t>
            </a:r>
          </a:p>
          <a:p>
            <a:r>
              <a:rPr lang="en-US" dirty="0"/>
              <a:t>How many ways can we multiply some matrices?</a:t>
            </a:r>
          </a:p>
        </p:txBody>
      </p:sp>
      <p:sp>
        <p:nvSpPr>
          <p:cNvPr id="4" name="Slide Number Placeholder 3"/>
          <p:cNvSpPr>
            <a:spLocks noGrp="1"/>
          </p:cNvSpPr>
          <p:nvPr>
            <p:ph type="sldNum" sz="quarter" idx="12"/>
          </p:nvPr>
        </p:nvSpPr>
        <p:spPr/>
        <p:txBody>
          <a:bodyPr/>
          <a:lstStyle/>
          <a:p>
            <a:fld id="{380846C1-CD93-4AE4-8DA9-0A1941B6C5F9}" type="slidenum">
              <a:rPr lang="en-US" smtClean="0"/>
              <a:t>70</a:t>
            </a:fld>
            <a:endParaRPr lang="en-US"/>
          </a:p>
        </p:txBody>
      </p:sp>
    </p:spTree>
    <p:extLst>
      <p:ext uri="{BB962C8B-B14F-4D97-AF65-F5344CB8AC3E}">
        <p14:creationId xmlns:p14="http://schemas.microsoft.com/office/powerpoint/2010/main" val="1016264670"/>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69848" y="484632"/>
            <a:ext cx="10058400" cy="612648"/>
          </a:xfrm>
        </p:spPr>
        <p:txBody>
          <a:bodyPr>
            <a:normAutofit/>
          </a:bodyPr>
          <a:lstStyle/>
          <a:p>
            <a:r>
              <a:rPr lang="en-US" sz="2800" b="1" dirty="0"/>
              <a:t>Matrix-Chain Multiplication</a:t>
            </a:r>
          </a:p>
        </p:txBody>
      </p:sp>
      <p:sp>
        <p:nvSpPr>
          <p:cNvPr id="3" name="Content Placeholder 2"/>
          <p:cNvSpPr>
            <a:spLocks noGrp="1"/>
          </p:cNvSpPr>
          <p:nvPr>
            <p:ph idx="1"/>
          </p:nvPr>
        </p:nvSpPr>
        <p:spPr>
          <a:xfrm>
            <a:off x="1069848" y="1232034"/>
            <a:ext cx="10058400" cy="4940166"/>
          </a:xfrm>
        </p:spPr>
        <p:txBody>
          <a:bodyPr>
            <a:noAutofit/>
          </a:bodyPr>
          <a:lstStyle/>
          <a:p>
            <a:r>
              <a:rPr lang="en-US" dirty="0"/>
              <a:t>Suppose we have (A1 x A2) x (A3 x A4)</a:t>
            </a:r>
          </a:p>
          <a:p>
            <a:r>
              <a:rPr lang="en-US" dirty="0"/>
              <a:t>The tree would be:</a:t>
            </a:r>
          </a:p>
          <a:p>
            <a:endParaRPr lang="en-US" dirty="0"/>
          </a:p>
          <a:p>
            <a:endParaRPr lang="en-US" dirty="0"/>
          </a:p>
          <a:p>
            <a:endParaRPr lang="en-US" dirty="0"/>
          </a:p>
          <a:p>
            <a:endParaRPr lang="en-US" dirty="0"/>
          </a:p>
          <a:p>
            <a:r>
              <a:rPr lang="en-US" dirty="0"/>
              <a:t>Simple equation to take out the possible ways:</a:t>
            </a:r>
          </a:p>
          <a:p>
            <a:pPr marL="0" indent="0">
              <a:buNone/>
            </a:pPr>
            <a:endParaRPr lang="en-US" dirty="0"/>
          </a:p>
          <a:p>
            <a:r>
              <a:rPr lang="en-US" dirty="0"/>
              <a:t>where n is the number of nodes. </a:t>
            </a:r>
          </a:p>
          <a:p>
            <a:r>
              <a:rPr lang="en-US" dirty="0"/>
              <a:t>= ( 2n! / </a:t>
            </a:r>
            <a:r>
              <a:rPr lang="en-US" dirty="0" err="1"/>
              <a:t>n!n</a:t>
            </a:r>
            <a:r>
              <a:rPr lang="en-US" dirty="0"/>
              <a:t>! ) / n+1</a:t>
            </a:r>
          </a:p>
          <a:p>
            <a:pPr marL="0" indent="0">
              <a:buNone/>
            </a:pPr>
            <a:br>
              <a:rPr lang="en-US" dirty="0"/>
            </a:br>
            <a:endParaRPr lang="en-US" dirty="0"/>
          </a:p>
        </p:txBody>
      </p:sp>
      <p:sp>
        <p:nvSpPr>
          <p:cNvPr id="4" name="Slide Number Placeholder 3"/>
          <p:cNvSpPr>
            <a:spLocks noGrp="1"/>
          </p:cNvSpPr>
          <p:nvPr>
            <p:ph type="sldNum" sz="quarter" idx="12"/>
          </p:nvPr>
        </p:nvSpPr>
        <p:spPr/>
        <p:txBody>
          <a:bodyPr/>
          <a:lstStyle/>
          <a:p>
            <a:fld id="{380846C1-CD93-4AE4-8DA9-0A1941B6C5F9}" type="slidenum">
              <a:rPr lang="en-US" smtClean="0"/>
              <a:t>71</a:t>
            </a:fld>
            <a:endParaRPr lang="en-US"/>
          </a:p>
        </p:txBody>
      </p:sp>
      <p:pic>
        <p:nvPicPr>
          <p:cNvPr id="9" name="Picture 8"/>
          <p:cNvPicPr>
            <a:picLocks noChangeAspect="1"/>
          </p:cNvPicPr>
          <p:nvPr/>
        </p:nvPicPr>
        <p:blipFill>
          <a:blip r:embed="rId2"/>
          <a:stretch>
            <a:fillRect/>
          </a:stretch>
        </p:blipFill>
        <p:spPr>
          <a:xfrm>
            <a:off x="7561949" y="1232034"/>
            <a:ext cx="2871835" cy="2282083"/>
          </a:xfrm>
          <a:prstGeom prst="rect">
            <a:avLst/>
          </a:prstGeom>
        </p:spPr>
      </p:pic>
      <p:pic>
        <p:nvPicPr>
          <p:cNvPr id="12" name="Picture 11"/>
          <p:cNvPicPr>
            <a:picLocks noChangeAspect="1"/>
          </p:cNvPicPr>
          <p:nvPr/>
        </p:nvPicPr>
        <p:blipFill>
          <a:blip r:embed="rId3"/>
          <a:stretch>
            <a:fillRect/>
          </a:stretch>
        </p:blipFill>
        <p:spPr>
          <a:xfrm>
            <a:off x="8011891" y="4123920"/>
            <a:ext cx="1971950" cy="1438476"/>
          </a:xfrm>
          <a:prstGeom prst="rect">
            <a:avLst/>
          </a:prstGeom>
        </p:spPr>
      </p:pic>
    </p:spTree>
    <p:extLst>
      <p:ext uri="{BB962C8B-B14F-4D97-AF65-F5344CB8AC3E}">
        <p14:creationId xmlns:p14="http://schemas.microsoft.com/office/powerpoint/2010/main" val="105311879"/>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69848" y="484632"/>
            <a:ext cx="10058400" cy="612648"/>
          </a:xfrm>
        </p:spPr>
        <p:txBody>
          <a:bodyPr>
            <a:normAutofit/>
          </a:bodyPr>
          <a:lstStyle/>
          <a:p>
            <a:r>
              <a:rPr lang="en-US" sz="2800" b="1" dirty="0"/>
              <a:t>Practice in class</a:t>
            </a:r>
          </a:p>
        </p:txBody>
      </p:sp>
      <p:sp>
        <p:nvSpPr>
          <p:cNvPr id="3" name="Content Placeholder 2"/>
          <p:cNvSpPr>
            <a:spLocks noGrp="1"/>
          </p:cNvSpPr>
          <p:nvPr>
            <p:ph idx="1"/>
          </p:nvPr>
        </p:nvSpPr>
        <p:spPr>
          <a:xfrm>
            <a:off x="1069848" y="1232034"/>
            <a:ext cx="10058400" cy="4940166"/>
          </a:xfrm>
        </p:spPr>
        <p:txBody>
          <a:bodyPr>
            <a:noAutofit/>
          </a:bodyPr>
          <a:lstStyle/>
          <a:p>
            <a:r>
              <a:rPr lang="en-US" dirty="0"/>
              <a:t>What is the assembly language statement corresponding to this machine instruction? </a:t>
            </a:r>
          </a:p>
          <a:p>
            <a:pPr marL="0" indent="0" algn="ctr">
              <a:buNone/>
            </a:pPr>
            <a:r>
              <a:rPr lang="en-US" dirty="0">
                <a:solidFill>
                  <a:schemeClr val="accent1"/>
                </a:solidFill>
              </a:rPr>
              <a:t>00af8020hex</a:t>
            </a:r>
          </a:p>
          <a:p>
            <a:r>
              <a:rPr lang="en-US" dirty="0"/>
              <a:t>A somewhat complex statement contains the five variables f, g, h, </a:t>
            </a:r>
            <a:r>
              <a:rPr lang="en-US" dirty="0" err="1"/>
              <a:t>i</a:t>
            </a:r>
            <a:r>
              <a:rPr lang="en-US" dirty="0"/>
              <a:t>, and j: </a:t>
            </a:r>
          </a:p>
          <a:p>
            <a:pPr marL="0" indent="0">
              <a:buNone/>
            </a:pPr>
            <a:r>
              <a:rPr lang="en-US" dirty="0">
                <a:solidFill>
                  <a:schemeClr val="accent1"/>
                </a:solidFill>
              </a:rPr>
              <a:t> 		f = (g + h) – (</a:t>
            </a:r>
            <a:r>
              <a:rPr lang="en-US" dirty="0" err="1">
                <a:solidFill>
                  <a:schemeClr val="accent1"/>
                </a:solidFill>
              </a:rPr>
              <a:t>i</a:t>
            </a:r>
            <a:r>
              <a:rPr lang="en-US" dirty="0">
                <a:solidFill>
                  <a:schemeClr val="accent1"/>
                </a:solidFill>
              </a:rPr>
              <a:t> + j);  </a:t>
            </a:r>
            <a:r>
              <a:rPr lang="en-US" dirty="0"/>
              <a:t>What might an Assembly compiler produce?</a:t>
            </a:r>
          </a:p>
          <a:p>
            <a:r>
              <a:rPr lang="en-US" dirty="0"/>
              <a:t>Show the IEEE 754 binary representation of the number </a:t>
            </a:r>
            <a:r>
              <a:rPr lang="en-US"/>
              <a:t>–0.75 </a:t>
            </a:r>
            <a:r>
              <a:rPr lang="en-US" dirty="0"/>
              <a:t>in single and double precision.</a:t>
            </a:r>
          </a:p>
        </p:txBody>
      </p:sp>
      <p:sp>
        <p:nvSpPr>
          <p:cNvPr id="4" name="Slide Number Placeholder 3"/>
          <p:cNvSpPr>
            <a:spLocks noGrp="1"/>
          </p:cNvSpPr>
          <p:nvPr>
            <p:ph type="sldNum" sz="quarter" idx="12"/>
          </p:nvPr>
        </p:nvSpPr>
        <p:spPr/>
        <p:txBody>
          <a:bodyPr/>
          <a:lstStyle/>
          <a:p>
            <a:fld id="{380846C1-CD93-4AE4-8DA9-0A1941B6C5F9}" type="slidenum">
              <a:rPr lang="en-US" smtClean="0"/>
              <a:t>72</a:t>
            </a:fld>
            <a:endParaRPr lang="en-US"/>
          </a:p>
        </p:txBody>
      </p:sp>
    </p:spTree>
    <p:extLst>
      <p:ext uri="{BB962C8B-B14F-4D97-AF65-F5344CB8AC3E}">
        <p14:creationId xmlns:p14="http://schemas.microsoft.com/office/powerpoint/2010/main" val="2900279867"/>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44720" y="2525187"/>
            <a:ext cx="10058400" cy="1609344"/>
          </a:xfrm>
        </p:spPr>
        <p:txBody>
          <a:bodyPr/>
          <a:lstStyle/>
          <a:p>
            <a:r>
              <a:rPr lang="en-US" dirty="0"/>
              <a:t>The end</a:t>
            </a:r>
          </a:p>
        </p:txBody>
      </p:sp>
      <p:sp>
        <p:nvSpPr>
          <p:cNvPr id="3" name="Slide Number Placeholder 2"/>
          <p:cNvSpPr>
            <a:spLocks noGrp="1"/>
          </p:cNvSpPr>
          <p:nvPr>
            <p:ph type="sldNum" sz="quarter" idx="12"/>
          </p:nvPr>
        </p:nvSpPr>
        <p:spPr/>
        <p:txBody>
          <a:bodyPr/>
          <a:lstStyle/>
          <a:p>
            <a:fld id="{380846C1-CD93-4AE4-8DA9-0A1941B6C5F9}" type="slidenum">
              <a:rPr lang="en-US" smtClean="0"/>
              <a:t>73</a:t>
            </a:fld>
            <a:endParaRPr lang="en-US"/>
          </a:p>
        </p:txBody>
      </p:sp>
    </p:spTree>
    <p:extLst>
      <p:ext uri="{BB962C8B-B14F-4D97-AF65-F5344CB8AC3E}">
        <p14:creationId xmlns:p14="http://schemas.microsoft.com/office/powerpoint/2010/main" val="781109630"/>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Wood Type">
  <a:themeElements>
    <a:clrScheme name="Wood Type">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Wood Type">
      <a:majorFont>
        <a:latin typeface="Rockwell Condensed" panose="02060603050405020104"/>
        <a:ea typeface=""/>
        <a:cs typeface=""/>
        <a:font script="Grek" typeface="Cambria"/>
        <a:font script="Cyrl" typeface="Cambria"/>
        <a:font script="Jpan" typeface="HG明朝B"/>
        <a:font script="Hang" typeface="바탕"/>
        <a:font script="Hans" typeface="方正姚体"/>
        <a:font script="Hant" typeface="微軟正黑體"/>
        <a:font script="Arab" typeface="Times New Roman"/>
        <a:font script="Hebr" typeface="David"/>
        <a:font script="Thai" typeface="Jasmine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Rockwell" panose="02060603020205020403"/>
        <a:ea typeface=""/>
        <a:cs typeface=""/>
        <a:font script="Grek" typeface="Cambria"/>
        <a:font script="Cyrl" typeface="Cambria"/>
        <a:font script="Jpan" typeface="HG明朝B"/>
        <a:font script="Hang" typeface="바탕"/>
        <a:font script="Hans" typeface="方正姚体"/>
        <a:font script="Hant" typeface="標楷體"/>
        <a:font script="Arab" typeface="Times New Roman"/>
        <a:font script="Hebr" typeface="David"/>
        <a:font script="Thai" typeface="Jasmine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Wood Type">
      <a:fillStyleLst>
        <a:solidFill>
          <a:schemeClr val="phClr"/>
        </a:solidFill>
        <a:blipFill rotWithShape="1">
          <a:blip xmlns:r="http://schemas.openxmlformats.org/officeDocument/2006/relationships" r:embed="rId1">
            <a:duotone>
              <a:schemeClr val="phClr">
                <a:tint val="70000"/>
                <a:shade val="63000"/>
              </a:schemeClr>
              <a:schemeClr val="phClr">
                <a:tint val="10000"/>
                <a:satMod val="150000"/>
              </a:schemeClr>
            </a:duotone>
          </a:blip>
          <a:tile tx="0" ty="0" sx="60000" sy="59000" flip="none" algn="tl"/>
        </a:blipFill>
        <a:blipFill rotWithShape="1">
          <a:blip xmlns:r="http://schemas.openxmlformats.org/officeDocument/2006/relationships" r:embed="rId1">
            <a:duotone>
              <a:schemeClr val="phClr">
                <a:shade val="36000"/>
                <a:satMod val="120000"/>
              </a:schemeClr>
              <a:schemeClr val="phClr">
                <a:tint val="40000"/>
              </a:schemeClr>
            </a:duotone>
          </a:blip>
          <a:tile tx="0" ty="0" sx="60000" sy="59000" flip="none" algn="tl"/>
        </a:blip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softEdge rad="12700"/>
          </a:effectLst>
        </a:effectStyle>
        <a:effectStyle>
          <a:effectLst>
            <a:outerShdw blurRad="50800" dist="19050" dir="5400000" algn="tl" rotWithShape="0">
              <a:srgbClr val="000000">
                <a:alpha val="60000"/>
              </a:srgbClr>
            </a:outerShdw>
            <a:softEdge rad="12700"/>
          </a:effectLst>
        </a:effectStyle>
      </a:effectStyleLst>
      <a:bgFillStyleLst>
        <a:solidFill>
          <a:schemeClr val="phClr"/>
        </a:solidFill>
        <a:solidFill>
          <a:schemeClr val="phClr">
            <a:shade val="97000"/>
            <a:satMod val="150000"/>
          </a:schemeClr>
        </a:solidFill>
        <a:blipFill rotWithShape="1">
          <a:blip xmlns:r="http://schemas.openxmlformats.org/officeDocument/2006/relationships" r:embed="rId1">
            <a:duotone>
              <a:schemeClr val="phClr">
                <a:tint val="75000"/>
                <a:shade val="58000"/>
                <a:satMod val="120000"/>
              </a:schemeClr>
              <a:schemeClr val="phClr">
                <a:tint val="50000"/>
                <a:shade val="96000"/>
              </a:schemeClr>
            </a:duotone>
          </a:blip>
          <a:tile tx="0" ty="0" sx="100000" sy="100000" flip="none" algn="tl"/>
        </a:blipFill>
      </a:bgFillStyleLst>
    </a:fmtScheme>
  </a:themeElements>
  <a:objectDefaults/>
  <a:extraClrSchemeLst/>
  <a:extLst>
    <a:ext uri="{05A4C25C-085E-4340-85A3-A5531E510DB2}">
      <thm15:themeFamily xmlns:thm15="http://schemas.microsoft.com/office/thememl/2012/main" name="Wood Type" id="{7ACABC62-BF99-48CF-A9DC-4DB89C7B13DC}" vid="{142A1326-48AB-42A9-8428-CB14AA30176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Wood Type</Template>
  <TotalTime>650</TotalTime>
  <Words>6498</Words>
  <Application>Microsoft Office PowerPoint</Application>
  <PresentationFormat>Widescreen</PresentationFormat>
  <Paragraphs>822</Paragraphs>
  <Slides>73</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73</vt:i4>
      </vt:variant>
    </vt:vector>
  </HeadingPairs>
  <TitlesOfParts>
    <vt:vector size="80" baseType="lpstr">
      <vt:lpstr>Calibri</vt:lpstr>
      <vt:lpstr>Cambria Math</vt:lpstr>
      <vt:lpstr>Rockwell</vt:lpstr>
      <vt:lpstr>Rockwell Condensed</vt:lpstr>
      <vt:lpstr>Times New Roman</vt:lpstr>
      <vt:lpstr>Wingdings</vt:lpstr>
      <vt:lpstr>Wood Type</vt:lpstr>
      <vt:lpstr>Computer Architecture CSE – 3521 MID-Term</vt:lpstr>
      <vt:lpstr>Segment - 1</vt:lpstr>
      <vt:lpstr>Computer Architecture Basics</vt:lpstr>
      <vt:lpstr>Computer Architecture Basics</vt:lpstr>
      <vt:lpstr>Computer Architecture Basics</vt:lpstr>
      <vt:lpstr>Von Neumann Architecture</vt:lpstr>
      <vt:lpstr>Von Neumann Architecture</vt:lpstr>
      <vt:lpstr>System bus</vt:lpstr>
      <vt:lpstr>RISC (Reduced Instruction Set Computer) Architecture</vt:lpstr>
      <vt:lpstr>CISC (Complex Instruction Set Computer) Architecture:</vt:lpstr>
      <vt:lpstr>Understanding Program Performance</vt:lpstr>
      <vt:lpstr>Understanding Program Performance</vt:lpstr>
      <vt:lpstr>Understanding Program Performance</vt:lpstr>
      <vt:lpstr>Amdahl’s Law</vt:lpstr>
      <vt:lpstr>MIPS (Millions Instructions Per Second) - 32 bits</vt:lpstr>
      <vt:lpstr>MIPS (Millions Instructions Per Second) - 32 bits</vt:lpstr>
      <vt:lpstr>MIPS (Millions Instructions Per Second) - 32 bits</vt:lpstr>
      <vt:lpstr>MIPS (Millions Instructions Per Second) - 32 bits</vt:lpstr>
      <vt:lpstr>MIPS (Millions Instructions Per Second) - 32 bits</vt:lpstr>
      <vt:lpstr>MIPS (Millions Instructions Per Second) - 32 bits</vt:lpstr>
      <vt:lpstr>MIPS (Millions Instructions Per Second) - 32 bits</vt:lpstr>
      <vt:lpstr>Segment-2</vt:lpstr>
      <vt:lpstr>Instruction Set Architecture</vt:lpstr>
      <vt:lpstr>Instruction Set Architecture</vt:lpstr>
      <vt:lpstr>Instruction Set Architecture</vt:lpstr>
      <vt:lpstr>Instruction Set Architecture</vt:lpstr>
      <vt:lpstr>Stored-Program Concept</vt:lpstr>
      <vt:lpstr>Operations of the Computer Hardware</vt:lpstr>
      <vt:lpstr>Operands of the computer hardware</vt:lpstr>
      <vt:lpstr>Representation of Instructions in the Computer</vt:lpstr>
      <vt:lpstr>MIPS Addressing for 32-bit Immediate and Addresses</vt:lpstr>
      <vt:lpstr>Instruction formats/MIPS Addressing Modes</vt:lpstr>
      <vt:lpstr>Instruction formats/MIPS Addressing Modes</vt:lpstr>
      <vt:lpstr>Instruction formats/MIPS Addressing Modes</vt:lpstr>
      <vt:lpstr>MIPS register mapping</vt:lpstr>
      <vt:lpstr>MIPS register mapping</vt:lpstr>
      <vt:lpstr>MIPS register mapping: Function Codes</vt:lpstr>
      <vt:lpstr>MIPS register mapping: Operation Codes</vt:lpstr>
      <vt:lpstr>MIPS REGISTER MAPPING: FUNCTION CODES (R-Type)</vt:lpstr>
      <vt:lpstr>MIPS register mapping: EXamples</vt:lpstr>
      <vt:lpstr>MIPS register mapping: EXamples</vt:lpstr>
      <vt:lpstr>MIPS register mapping: EXamples</vt:lpstr>
      <vt:lpstr>Important questions: 1</vt:lpstr>
      <vt:lpstr>Important questions: 1</vt:lpstr>
      <vt:lpstr>Important questions: 2</vt:lpstr>
      <vt:lpstr>Important questions: 2</vt:lpstr>
      <vt:lpstr>Important questions: 3</vt:lpstr>
      <vt:lpstr>Segment-3</vt:lpstr>
      <vt:lpstr>Arithmetic and Logical Operations</vt:lpstr>
      <vt:lpstr>Signed and Unsigned Numbers</vt:lpstr>
      <vt:lpstr>Number Conversion and Representation</vt:lpstr>
      <vt:lpstr>First Version of Multiplication Algorithm</vt:lpstr>
      <vt:lpstr>Second Version of Multiplication Algorithm</vt:lpstr>
      <vt:lpstr>First-second Version of Multiplication Algorithm: Example</vt:lpstr>
      <vt:lpstr>FINAL (REFINED) Version of Multiplication Algorithm</vt:lpstr>
      <vt:lpstr>First and Final Version of the Division Algorithm</vt:lpstr>
      <vt:lpstr>Resources for the algorithms</vt:lpstr>
      <vt:lpstr>Floating Point Representation</vt:lpstr>
      <vt:lpstr>Floating Point Representation</vt:lpstr>
      <vt:lpstr>Floating Point Representation</vt:lpstr>
      <vt:lpstr>Floating Point Representation: Example</vt:lpstr>
      <vt:lpstr>Floating Point Representation: Example</vt:lpstr>
      <vt:lpstr>Floating Point Representation: Example</vt:lpstr>
      <vt:lpstr>Floating Point Representation: Example</vt:lpstr>
      <vt:lpstr>Floating Point Representation: Example</vt:lpstr>
      <vt:lpstr>Longest Common Subsequence (LCS)</vt:lpstr>
      <vt:lpstr>Complexity Analysis of Algorithms</vt:lpstr>
      <vt:lpstr>Complexity Analysis of Algorithms</vt:lpstr>
      <vt:lpstr>Complexity Analysis of Algorithms</vt:lpstr>
      <vt:lpstr>Matrix-Chain Multiplication</vt:lpstr>
      <vt:lpstr>Matrix-Chain Multiplication</vt:lpstr>
      <vt:lpstr>Practice in class</vt:lpstr>
      <vt:lpstr>The end</vt:lpstr>
    </vt:vector>
  </TitlesOfParts>
  <Company>CyberSpace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Computer Architecture CSE – 3521 MID-Term</dc:title>
  <dc:creator>Microsoft account</dc:creator>
  <cp:lastModifiedBy>mahir shadid</cp:lastModifiedBy>
  <cp:revision>82</cp:revision>
  <cp:lastPrinted>2025-09-16T05:39:26Z</cp:lastPrinted>
  <dcterms:created xsi:type="dcterms:W3CDTF">2025-08-10T04:57:43Z</dcterms:created>
  <dcterms:modified xsi:type="dcterms:W3CDTF">2026-04-03T10:34:32Z</dcterms:modified>
</cp:coreProperties>
</file>