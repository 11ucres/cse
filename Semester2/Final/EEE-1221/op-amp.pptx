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388" r:id="rId2"/>
    <p:sldId id="256" r:id="rId3"/>
    <p:sldId id="384" r:id="rId4"/>
    <p:sldId id="385" r:id="rId5"/>
    <p:sldId id="271" r:id="rId6"/>
    <p:sldId id="386" r:id="rId7"/>
    <p:sldId id="277" r:id="rId8"/>
    <p:sldId id="288" r:id="rId9"/>
    <p:sldId id="290" r:id="rId10"/>
    <p:sldId id="291" r:id="rId11"/>
    <p:sldId id="289" r:id="rId12"/>
    <p:sldId id="257" r:id="rId13"/>
    <p:sldId id="258" r:id="rId14"/>
    <p:sldId id="259" r:id="rId15"/>
    <p:sldId id="297" r:id="rId16"/>
    <p:sldId id="298" r:id="rId17"/>
    <p:sldId id="306" r:id="rId18"/>
    <p:sldId id="299" r:id="rId19"/>
    <p:sldId id="262" r:id="rId20"/>
    <p:sldId id="263" r:id="rId21"/>
    <p:sldId id="264" r:id="rId22"/>
    <p:sldId id="266" r:id="rId23"/>
    <p:sldId id="382" r:id="rId24"/>
    <p:sldId id="375" r:id="rId25"/>
    <p:sldId id="376" r:id="rId26"/>
    <p:sldId id="267" r:id="rId27"/>
    <p:sldId id="381" r:id="rId28"/>
    <p:sldId id="377" r:id="rId29"/>
  </p:sldIdLst>
  <p:sldSz cx="6076950" cy="45529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73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0E0B21-64B4-4651-82A3-B1AF45B94D9E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0013" y="1143000"/>
            <a:ext cx="4117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8F75CB-A5C4-42F5-97F3-DDC8B8F9C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789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500812-C015-4DE5-9287-1A5C349033D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lum bright="-20000" contrast="40000"/>
          </a:blip>
          <a:srcRect r="8394"/>
          <a:stretch>
            <a:fillRect/>
          </a:stretch>
        </p:blipFill>
        <p:spPr bwMode="auto">
          <a:xfrm>
            <a:off x="53763" y="2707783"/>
            <a:ext cx="2300807" cy="1553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329617" y="1183807"/>
            <a:ext cx="5370381" cy="10732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187" b="1" dirty="0">
                <a:solidFill>
                  <a:srgbClr val="C00000"/>
                </a:solidFill>
                <a:latin typeface="Comic Sans MS" pitchFamily="66" charset="0"/>
              </a:rPr>
              <a:t>The Operational Amplifier</a:t>
            </a:r>
          </a:p>
          <a:p>
            <a:pPr algn="ctr"/>
            <a:r>
              <a:rPr lang="en-US" sz="3187" b="1" dirty="0">
                <a:solidFill>
                  <a:srgbClr val="C00000"/>
                </a:solidFill>
                <a:latin typeface="Comic Sans MS" pitchFamily="66" charset="0"/>
              </a:rPr>
              <a:t>(op-amp)</a:t>
            </a:r>
          </a:p>
        </p:txBody>
      </p:sp>
      <p:sp>
        <p:nvSpPr>
          <p:cNvPr id="6" name="TextBox 5"/>
          <p:cNvSpPr txBox="1"/>
          <p:nvPr/>
        </p:nvSpPr>
        <p:spPr>
          <a:xfrm rot="19800000">
            <a:off x="1155653" y="3761683"/>
            <a:ext cx="756938" cy="2966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28" b="1" dirty="0"/>
              <a:t>Op-amp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4B82EA-59AF-11B4-AEE8-1BA4A3983735}"/>
              </a:ext>
            </a:extLst>
          </p:cNvPr>
          <p:cNvSpPr txBox="1"/>
          <p:nvPr/>
        </p:nvSpPr>
        <p:spPr>
          <a:xfrm>
            <a:off x="4161357" y="3492500"/>
            <a:ext cx="1854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Sahariar Reza</a:t>
            </a:r>
          </a:p>
          <a:p>
            <a:r>
              <a:rPr lang="en-US" dirty="0"/>
              <a:t>Lecturer</a:t>
            </a:r>
          </a:p>
          <a:p>
            <a:r>
              <a:rPr lang="en-US" dirty="0"/>
              <a:t>Dept. of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E7BC26-5E62-8B43-90C4-2E5B1CD6920C}"/>
              </a:ext>
            </a:extLst>
          </p:cNvPr>
          <p:cNvSpPr txBox="1"/>
          <p:nvPr/>
        </p:nvSpPr>
        <p:spPr>
          <a:xfrm>
            <a:off x="400050" y="819150"/>
            <a:ext cx="30607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In </a:t>
            </a:r>
            <a:r>
              <a:rPr lang="en-US" b="0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opamps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 the term virtual ground means that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the voltage at that particular node is almost equal to ground voltage (0V)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 It is not physically connected to ground. This concept is very useful in analysis of </a:t>
            </a:r>
            <a:r>
              <a:rPr lang="en-US" b="0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opamp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 circuits </a:t>
            </a:r>
            <a:endParaRPr lang="en-US" dirty="0"/>
          </a:p>
        </p:txBody>
      </p:sp>
      <p:pic>
        <p:nvPicPr>
          <p:cNvPr id="1028" name="Picture 4" descr="Image result for virtual ground in op amp">
            <a:extLst>
              <a:ext uri="{FF2B5EF4-FFF2-40B4-BE49-F238E27FC236}">
                <a16:creationId xmlns:a16="http://schemas.microsoft.com/office/drawing/2014/main" id="{6B8AE5CF-A285-82E0-4BC6-96348D026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7775" y="1511736"/>
            <a:ext cx="206692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D4CBDE-DB3C-6C7A-B947-B6165CA1EF50}"/>
              </a:ext>
            </a:extLst>
          </p:cNvPr>
          <p:cNvSpPr txBox="1"/>
          <p:nvPr/>
        </p:nvSpPr>
        <p:spPr>
          <a:xfrm>
            <a:off x="1314450" y="63500"/>
            <a:ext cx="2774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Virtual ground</a:t>
            </a:r>
          </a:p>
        </p:txBody>
      </p:sp>
    </p:spTree>
    <p:extLst>
      <p:ext uri="{BB962C8B-B14F-4D97-AF65-F5344CB8AC3E}">
        <p14:creationId xmlns:p14="http://schemas.microsoft.com/office/powerpoint/2010/main" val="2481086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75" y="35926"/>
            <a:ext cx="6070600" cy="501035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56" dirty="0">
                <a:latin typeface="Comic Sans MS" pitchFamily="66" charset="0"/>
                <a:cs typeface="Times New Roman" pitchFamily="18" charset="0"/>
              </a:rPr>
              <a:t>Characteristics of op-amp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lum bright="-20000" contrast="40000"/>
          </a:blip>
          <a:srcRect t="2500" b="7500"/>
          <a:stretch>
            <a:fillRect/>
          </a:stretch>
        </p:blipFill>
        <p:spPr bwMode="auto">
          <a:xfrm>
            <a:off x="3089063" y="2646971"/>
            <a:ext cx="2984712" cy="1905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9" name="Group 8"/>
          <p:cNvGrpSpPr/>
          <p:nvPr/>
        </p:nvGrpSpPr>
        <p:grpSpPr>
          <a:xfrm>
            <a:off x="104352" y="607060"/>
            <a:ext cx="3288242" cy="2276475"/>
            <a:chOff x="6765581" y="1585913"/>
            <a:chExt cx="2387670" cy="1996975"/>
          </a:xfrm>
        </p:grpSpPr>
        <p:sp>
          <p:nvSpPr>
            <p:cNvPr id="10" name="Rectangle 9"/>
            <p:cNvSpPr/>
            <p:nvPr/>
          </p:nvSpPr>
          <p:spPr>
            <a:xfrm>
              <a:off x="6903146" y="1825516"/>
              <a:ext cx="2250105" cy="175737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0706" tIns="364236" bIns="60706" rtlCol="0" anchor="t"/>
            <a:lstStyle/>
            <a:p>
              <a:pPr marL="113826" indent="-113826" algn="ctr"/>
              <a:endParaRPr lang="en-US" sz="664" b="1" dirty="0">
                <a:solidFill>
                  <a:srgbClr val="000000"/>
                </a:solidFill>
                <a:latin typeface="Comic Sans MS" pitchFamily="66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765581" y="1585913"/>
              <a:ext cx="1418525" cy="427572"/>
            </a:xfrm>
            <a:prstGeom prst="rect">
              <a:avLst/>
            </a:prstGeom>
            <a:solidFill>
              <a:srgbClr val="2A9B1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24" b="1" dirty="0">
                  <a:solidFill>
                    <a:schemeClr val="bg1"/>
                  </a:solidFill>
                  <a:latin typeface="Comic Sans MS" pitchFamily="66" charset="0"/>
                </a:rPr>
                <a:t>Ideal op-amp</a:t>
              </a:r>
            </a:p>
          </p:txBody>
        </p:sp>
        <p:sp>
          <p:nvSpPr>
            <p:cNvPr id="12" name="Right Triangle 11"/>
            <p:cNvSpPr/>
            <p:nvPr/>
          </p:nvSpPr>
          <p:spPr>
            <a:xfrm flipH="1" flipV="1">
              <a:off x="6765581" y="2013485"/>
              <a:ext cx="137564" cy="137564"/>
            </a:xfrm>
            <a:prstGeom prst="rtTriangle">
              <a:avLst/>
            </a:prstGeom>
            <a:solidFill>
              <a:srgbClr val="073D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64"/>
            </a:p>
          </p:txBody>
        </p:sp>
        <p:sp>
          <p:nvSpPr>
            <p:cNvPr id="13" name="Right Triangle 12"/>
            <p:cNvSpPr/>
            <p:nvPr/>
          </p:nvSpPr>
          <p:spPr>
            <a:xfrm flipV="1">
              <a:off x="6903145" y="2013485"/>
              <a:ext cx="1280961" cy="142032"/>
            </a:xfrm>
            <a:prstGeom prst="rtTriangle">
              <a:avLst/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5"/>
            </a:p>
          </p:txBody>
        </p:sp>
      </p:grpSp>
      <p:sp>
        <p:nvSpPr>
          <p:cNvPr id="14" name="Rectangle 13"/>
          <p:cNvSpPr/>
          <p:nvPr/>
        </p:nvSpPr>
        <p:spPr>
          <a:xfrm>
            <a:off x="306705" y="1163532"/>
            <a:ext cx="3085888" cy="2063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124" dirty="0">
                <a:latin typeface="Times New Roman" pitchFamily="18" charset="0"/>
                <a:cs typeface="Times New Roman" pitchFamily="18" charset="0"/>
              </a:rPr>
              <a:t> Infinite voltage gain</a:t>
            </a:r>
          </a:p>
          <a:p>
            <a:pPr>
              <a:buFont typeface="Wingdings" pitchFamily="2" charset="2"/>
              <a:buChar char="q"/>
            </a:pPr>
            <a:endParaRPr lang="en-US" sz="73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124" dirty="0">
                <a:latin typeface="Times New Roman" pitchFamily="18" charset="0"/>
                <a:cs typeface="Times New Roman" pitchFamily="18" charset="0"/>
              </a:rPr>
              <a:t> Infinite bandwidth</a:t>
            </a:r>
          </a:p>
          <a:p>
            <a:pPr>
              <a:buFont typeface="Wingdings" pitchFamily="2" charset="2"/>
              <a:buChar char="q"/>
            </a:pPr>
            <a:endParaRPr lang="en-US" sz="73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124" dirty="0">
                <a:latin typeface="Times New Roman" pitchFamily="18" charset="0"/>
                <a:cs typeface="Times New Roman" pitchFamily="18" charset="0"/>
              </a:rPr>
              <a:t> Infinite input impedance</a:t>
            </a:r>
          </a:p>
          <a:p>
            <a:pPr>
              <a:buFont typeface="Wingdings" pitchFamily="2" charset="2"/>
              <a:buChar char="q"/>
            </a:pPr>
            <a:endParaRPr lang="en-US" sz="73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124" dirty="0">
                <a:latin typeface="Times New Roman" pitchFamily="18" charset="0"/>
                <a:cs typeface="Times New Roman" pitchFamily="18" charset="0"/>
              </a:rPr>
              <a:t> Zero output impedance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3175" y="35926"/>
            <a:ext cx="6070600" cy="501035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56" dirty="0">
                <a:latin typeface="Comic Sans MS" pitchFamily="66" charset="0"/>
                <a:cs typeface="Times New Roman" pitchFamily="18" charset="0"/>
              </a:rPr>
              <a:t>Characteristics of op-amp</a:t>
            </a:r>
          </a:p>
        </p:txBody>
      </p:sp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2">
            <a:lum bright="-20000" contrast="40000"/>
          </a:blip>
          <a:srcRect t="3552" b="11197"/>
          <a:stretch>
            <a:fillRect/>
          </a:stretch>
        </p:blipFill>
        <p:spPr bwMode="auto">
          <a:xfrm>
            <a:off x="3392593" y="2910775"/>
            <a:ext cx="2668535" cy="164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6" name="Group 15"/>
          <p:cNvGrpSpPr/>
          <p:nvPr/>
        </p:nvGrpSpPr>
        <p:grpSpPr>
          <a:xfrm>
            <a:off x="104351" y="607060"/>
            <a:ext cx="3591771" cy="2276475"/>
            <a:chOff x="6765581" y="1585913"/>
            <a:chExt cx="2608070" cy="1996975"/>
          </a:xfrm>
        </p:grpSpPr>
        <p:sp>
          <p:nvSpPr>
            <p:cNvPr id="17" name="Rectangle 16"/>
            <p:cNvSpPr/>
            <p:nvPr/>
          </p:nvSpPr>
          <p:spPr>
            <a:xfrm>
              <a:off x="6903146" y="1825516"/>
              <a:ext cx="2470505" cy="175737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0706" tIns="364236" bIns="60706" rtlCol="0" anchor="t"/>
            <a:lstStyle/>
            <a:p>
              <a:pPr marL="113826" indent="-113826" algn="ctr"/>
              <a:endParaRPr lang="en-US" sz="664" b="1" dirty="0">
                <a:solidFill>
                  <a:srgbClr val="000000"/>
                </a:solidFill>
                <a:latin typeface="Comic Sans MS" pitchFamily="66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765581" y="1585913"/>
              <a:ext cx="1726469" cy="42757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24" b="1" dirty="0">
                  <a:solidFill>
                    <a:schemeClr val="bg1"/>
                  </a:solidFill>
                  <a:latin typeface="Comic Sans MS" pitchFamily="66" charset="0"/>
                </a:rPr>
                <a:t>Practical op-amp</a:t>
              </a:r>
            </a:p>
          </p:txBody>
        </p:sp>
        <p:sp>
          <p:nvSpPr>
            <p:cNvPr id="19" name="Right Triangle 18"/>
            <p:cNvSpPr/>
            <p:nvPr/>
          </p:nvSpPr>
          <p:spPr>
            <a:xfrm flipH="1" flipV="1">
              <a:off x="6765581" y="2013485"/>
              <a:ext cx="137564" cy="137564"/>
            </a:xfrm>
            <a:prstGeom prst="rtTriangle">
              <a:avLst/>
            </a:prstGeom>
            <a:solidFill>
              <a:srgbClr val="073D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64"/>
            </a:p>
          </p:txBody>
        </p:sp>
        <p:sp>
          <p:nvSpPr>
            <p:cNvPr id="20" name="Right Triangle 19"/>
            <p:cNvSpPr/>
            <p:nvPr/>
          </p:nvSpPr>
          <p:spPr>
            <a:xfrm flipV="1">
              <a:off x="6903145" y="2013485"/>
              <a:ext cx="1280961" cy="142032"/>
            </a:xfrm>
            <a:prstGeom prst="rtTriangle">
              <a:avLst/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5"/>
            </a:p>
          </p:txBody>
        </p:sp>
      </p:grpSp>
      <p:sp>
        <p:nvSpPr>
          <p:cNvPr id="21" name="Rectangle 20"/>
          <p:cNvSpPr/>
          <p:nvPr/>
        </p:nvSpPr>
        <p:spPr>
          <a:xfrm>
            <a:off x="306705" y="1163532"/>
            <a:ext cx="3591772" cy="1736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124" dirty="0">
                <a:latin typeface="Times New Roman" pitchFamily="18" charset="0"/>
                <a:cs typeface="Times New Roman" pitchFamily="18" charset="0"/>
              </a:rPr>
              <a:t> Very high voltage gain</a:t>
            </a:r>
          </a:p>
          <a:p>
            <a:pPr>
              <a:buFont typeface="Wingdings" pitchFamily="2" charset="2"/>
              <a:buChar char="q"/>
            </a:pPr>
            <a:endParaRPr lang="en-US" sz="73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124" dirty="0">
                <a:latin typeface="Times New Roman" pitchFamily="18" charset="0"/>
                <a:cs typeface="Times New Roman" pitchFamily="18" charset="0"/>
              </a:rPr>
              <a:t> Wide bandwidth</a:t>
            </a:r>
          </a:p>
          <a:p>
            <a:pPr>
              <a:buFont typeface="Wingdings" pitchFamily="2" charset="2"/>
              <a:buChar char="q"/>
            </a:pPr>
            <a:endParaRPr lang="en-US" sz="73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124" dirty="0">
                <a:latin typeface="Times New Roman" pitchFamily="18" charset="0"/>
                <a:cs typeface="Times New Roman" pitchFamily="18" charset="0"/>
              </a:rPr>
              <a:t> Very high input impedance</a:t>
            </a:r>
          </a:p>
          <a:p>
            <a:pPr>
              <a:buFont typeface="Wingdings" pitchFamily="2" charset="2"/>
              <a:buChar char="q"/>
            </a:pPr>
            <a:endParaRPr lang="en-US" sz="73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124" dirty="0">
                <a:latin typeface="Times New Roman" pitchFamily="18" charset="0"/>
                <a:cs typeface="Times New Roman" pitchFamily="18" charset="0"/>
              </a:rPr>
              <a:t> Very low output impedance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75" y="35926"/>
            <a:ext cx="6070600" cy="501035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56" dirty="0">
                <a:latin typeface="Comic Sans MS" pitchFamily="66" charset="0"/>
                <a:cs typeface="Times New Roman" pitchFamily="18" charset="0"/>
              </a:rPr>
              <a:t>Op-amp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7294" y="1467062"/>
            <a:ext cx="5599931" cy="17271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1477" indent="-341477"/>
            <a:r>
              <a:rPr lang="en-US" sz="2656" dirty="0">
                <a:latin typeface="Times New Roman" pitchFamily="18" charset="0"/>
                <a:cs typeface="Times New Roman" pitchFamily="18" charset="0"/>
              </a:rPr>
              <a:t>1.    Common mode input voltage   </a:t>
            </a:r>
          </a:p>
          <a:p>
            <a:pPr marL="341477" indent="-341477">
              <a:buAutoNum type="arabicPeriod" startAt="2"/>
            </a:pPr>
            <a:r>
              <a:rPr lang="en-US" sz="2656" dirty="0">
                <a:latin typeface="Times New Roman" pitchFamily="18" charset="0"/>
                <a:cs typeface="Times New Roman" pitchFamily="18" charset="0"/>
              </a:rPr>
              <a:t>   CMRR</a:t>
            </a:r>
          </a:p>
          <a:p>
            <a:pPr marL="341477" indent="-341477">
              <a:buAutoNum type="arabicPeriod" startAt="2"/>
            </a:pPr>
            <a:r>
              <a:rPr lang="en-US" sz="2656" dirty="0">
                <a:latin typeface="Times New Roman" pitchFamily="18" charset="0"/>
                <a:cs typeface="Times New Roman" pitchFamily="18" charset="0"/>
              </a:rPr>
              <a:t>   Common mode input voltage range</a:t>
            </a:r>
          </a:p>
          <a:p>
            <a:pPr marL="341477" indent="-341477"/>
            <a:r>
              <a:rPr lang="en-US" sz="2656" dirty="0">
                <a:latin typeface="Times New Roman" pitchFamily="18" charset="0"/>
                <a:cs typeface="Times New Roman" pitchFamily="18" charset="0"/>
              </a:rPr>
              <a:t>4.    Slew 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75" y="26203"/>
            <a:ext cx="6070600" cy="460126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390" dirty="0">
                <a:latin typeface="Comic Sans MS" pitchFamily="66" charset="0"/>
                <a:cs typeface="Times New Roman" pitchFamily="18" charset="0"/>
              </a:rPr>
              <a:t>Common mode input voltage</a:t>
            </a:r>
            <a:endParaRPr lang="en-US" sz="2390" b="1" dirty="0"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76" y="607060"/>
            <a:ext cx="6070600" cy="705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24" dirty="0">
                <a:latin typeface="Times New Roman" pitchFamily="18" charset="0"/>
                <a:cs typeface="Times New Roman" pitchFamily="18" charset="0"/>
              </a:rPr>
              <a:t>It is the voltage that appears </a:t>
            </a:r>
            <a:r>
              <a:rPr lang="en-US" sz="1859" dirty="0">
                <a:latin typeface="Times New Roman" pitchFamily="18" charset="0"/>
                <a:cs typeface="Times New Roman" pitchFamily="18" charset="0"/>
              </a:rPr>
              <a:t>on the </a:t>
            </a:r>
            <a:r>
              <a:rPr lang="en-US" sz="2124" dirty="0">
                <a:latin typeface="Times New Roman" pitchFamily="18" charset="0"/>
                <a:cs typeface="Times New Roman" pitchFamily="18" charset="0"/>
              </a:rPr>
              <a:t>both input with </a:t>
            </a:r>
            <a:r>
              <a:rPr lang="en-US" sz="1859" dirty="0">
                <a:latin typeface="Times New Roman" pitchFamily="18" charset="0"/>
                <a:cs typeface="Times New Roman" pitchFamily="18" charset="0"/>
              </a:rPr>
              <a:t>same</a:t>
            </a:r>
            <a:endParaRPr lang="en-US" sz="1328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75" y="3573157"/>
            <a:ext cx="6070600" cy="909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24" dirty="0">
                <a:latin typeface="Times New Roman" pitchFamily="18" charset="0"/>
                <a:cs typeface="Times New Roman" pitchFamily="18" charset="0"/>
              </a:rPr>
              <a:t>When </a:t>
            </a:r>
            <a:r>
              <a:rPr lang="en-US" sz="2124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equal input </a:t>
            </a:r>
            <a:r>
              <a:rPr lang="en-US" sz="2124" dirty="0">
                <a:latin typeface="Times New Roman" pitchFamily="18" charset="0"/>
                <a:cs typeface="Times New Roman" pitchFamily="18" charset="0"/>
              </a:rPr>
              <a:t>signal are applied </a:t>
            </a:r>
            <a:r>
              <a:rPr lang="en-US" sz="2124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to both inputs</a:t>
            </a:r>
            <a:r>
              <a:rPr lang="en-US" sz="2124" dirty="0">
                <a:latin typeface="Times New Roman" pitchFamily="18" charset="0"/>
                <a:cs typeface="Times New Roman" pitchFamily="18" charset="0"/>
              </a:rPr>
              <a:t>, they cancel, resulting in a </a:t>
            </a:r>
            <a:r>
              <a:rPr lang="en-US" sz="3187" b="1" dirty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zero</a:t>
            </a:r>
            <a:r>
              <a:rPr lang="en-US" sz="2124" dirty="0">
                <a:latin typeface="Times New Roman" pitchFamily="18" charset="0"/>
                <a:cs typeface="Times New Roman" pitchFamily="18" charset="0"/>
              </a:rPr>
              <a:t> output voltage.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lum bright="-20000" contrast="40000"/>
          </a:blip>
          <a:srcRect/>
          <a:stretch>
            <a:fillRect/>
          </a:stretch>
        </p:blipFill>
        <p:spPr bwMode="auto">
          <a:xfrm>
            <a:off x="2482004" y="1416473"/>
            <a:ext cx="3389418" cy="1627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154940" y="1720004"/>
            <a:ext cx="1720003" cy="1726755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1477" indent="-341477" algn="ctr"/>
            <a:r>
              <a:rPr lang="en-US" sz="2124" dirty="0">
                <a:latin typeface="Times New Roman" pitchFamily="18" charset="0"/>
                <a:cs typeface="Times New Roman" pitchFamily="18" charset="0"/>
              </a:rPr>
              <a:t>Amplitude (A)</a:t>
            </a:r>
          </a:p>
          <a:p>
            <a:pPr marL="341477" indent="-341477" algn="ctr"/>
            <a:r>
              <a:rPr lang="en-US" sz="2124" dirty="0">
                <a:latin typeface="Times New Roman" pitchFamily="18" charset="0"/>
                <a:cs typeface="Times New Roman" pitchFamily="18" charset="0"/>
              </a:rPr>
              <a:t>Frequency (f )</a:t>
            </a:r>
          </a:p>
          <a:p>
            <a:pPr marL="341477" indent="-341477" algn="ctr"/>
            <a:r>
              <a:rPr lang="en-US" sz="2124" dirty="0">
                <a:latin typeface="Times New Roman" pitchFamily="18" charset="0"/>
                <a:cs typeface="Times New Roman" pitchFamily="18" charset="0"/>
              </a:rPr>
              <a:t>Phase (</a:t>
            </a:r>
            <a:r>
              <a:rPr lang="el-GR" sz="2124" dirty="0">
                <a:latin typeface="Times New Roman"/>
                <a:cs typeface="Times New Roman"/>
              </a:rPr>
              <a:t>φ</a:t>
            </a:r>
            <a:r>
              <a:rPr lang="en-US" sz="2124" dirty="0">
                <a:latin typeface="Times New Roman"/>
                <a:cs typeface="Times New Roman"/>
              </a:rPr>
              <a:t>)</a:t>
            </a:r>
            <a:endParaRPr lang="en-US" sz="2124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Curved Down Arrow 7"/>
          <p:cNvSpPr/>
          <p:nvPr/>
        </p:nvSpPr>
        <p:spPr>
          <a:xfrm>
            <a:off x="913765" y="1163532"/>
            <a:ext cx="2276475" cy="556472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5">
              <a:solidFill>
                <a:schemeClr val="tx1"/>
              </a:solidFill>
            </a:endParaRPr>
          </a:p>
        </p:txBody>
      </p:sp>
      <p:sp>
        <p:nvSpPr>
          <p:cNvPr id="9" name="Curved Down Arrow 8"/>
          <p:cNvSpPr/>
          <p:nvPr/>
        </p:nvSpPr>
        <p:spPr>
          <a:xfrm flipV="1">
            <a:off x="913765" y="2782358"/>
            <a:ext cx="2276475" cy="556472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5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5" grpId="0" build="allAtOnce"/>
      <p:bldP spid="7" grpId="0" build="allAtOnce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75" y="26203"/>
            <a:ext cx="6070600" cy="460126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390" b="1" dirty="0">
                <a:solidFill>
                  <a:srgbClr val="FFFF00"/>
                </a:solidFill>
                <a:latin typeface="Comic Sans MS" pitchFamily="66" charset="0"/>
                <a:cs typeface="Times New Roman" pitchFamily="18" charset="0"/>
              </a:rPr>
              <a:t>C</a:t>
            </a:r>
            <a:r>
              <a:rPr lang="en-US" sz="2390" dirty="0">
                <a:latin typeface="Comic Sans MS" pitchFamily="66" charset="0"/>
                <a:cs typeface="Times New Roman" pitchFamily="18" charset="0"/>
              </a:rPr>
              <a:t>ommon </a:t>
            </a:r>
            <a:r>
              <a:rPr lang="en-US" sz="2390" b="1" dirty="0">
                <a:solidFill>
                  <a:srgbClr val="FFFF00"/>
                </a:solidFill>
                <a:latin typeface="Comic Sans MS" pitchFamily="66" charset="0"/>
                <a:cs typeface="Times New Roman" pitchFamily="18" charset="0"/>
              </a:rPr>
              <a:t>M</a:t>
            </a:r>
            <a:r>
              <a:rPr lang="en-US" sz="2390" dirty="0">
                <a:latin typeface="Comic Sans MS" pitchFamily="66" charset="0"/>
                <a:cs typeface="Times New Roman" pitchFamily="18" charset="0"/>
              </a:rPr>
              <a:t>ode </a:t>
            </a:r>
            <a:r>
              <a:rPr lang="en-US" sz="2390" b="1" dirty="0">
                <a:solidFill>
                  <a:srgbClr val="FFFF00"/>
                </a:solidFill>
                <a:latin typeface="Comic Sans MS" pitchFamily="66" charset="0"/>
                <a:cs typeface="Times New Roman" pitchFamily="18" charset="0"/>
              </a:rPr>
              <a:t>R</a:t>
            </a:r>
            <a:r>
              <a:rPr lang="en-US" sz="2390" dirty="0">
                <a:latin typeface="Comic Sans MS" pitchFamily="66" charset="0"/>
                <a:cs typeface="Times New Roman" pitchFamily="18" charset="0"/>
              </a:rPr>
              <a:t>ejection </a:t>
            </a:r>
            <a:r>
              <a:rPr lang="en-US" sz="2390" b="1" dirty="0">
                <a:solidFill>
                  <a:srgbClr val="FFFF00"/>
                </a:solidFill>
                <a:latin typeface="Comic Sans MS" pitchFamily="66" charset="0"/>
                <a:cs typeface="Times New Roman" pitchFamily="18" charset="0"/>
              </a:rPr>
              <a:t>R</a:t>
            </a:r>
            <a:r>
              <a:rPr lang="en-US" sz="2390" dirty="0">
                <a:latin typeface="Comic Sans MS" pitchFamily="66" charset="0"/>
                <a:cs typeface="Times New Roman" pitchFamily="18" charset="0"/>
              </a:rPr>
              <a:t>atio (</a:t>
            </a:r>
            <a:r>
              <a:rPr lang="en-US" sz="2390" dirty="0">
                <a:solidFill>
                  <a:srgbClr val="FFFF00"/>
                </a:solidFill>
                <a:latin typeface="Comic Sans MS" pitchFamily="66" charset="0"/>
                <a:cs typeface="Times New Roman" pitchFamily="18" charset="0"/>
              </a:rPr>
              <a:t>CMRR</a:t>
            </a:r>
            <a:r>
              <a:rPr lang="en-US" sz="2390" dirty="0">
                <a:latin typeface="Comic Sans MS" pitchFamily="66" charset="0"/>
                <a:cs typeface="Times New Roman" pitchFamily="18" charset="0"/>
              </a:rPr>
              <a:t>)</a:t>
            </a:r>
            <a:endParaRPr lang="en-US" sz="2390" b="1" dirty="0"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76" y="549555"/>
            <a:ext cx="6070600" cy="746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124" dirty="0">
                <a:latin typeface="Times New Roman" pitchFamily="18" charset="0"/>
                <a:cs typeface="Times New Roman" pitchFamily="18" charset="0"/>
              </a:rPr>
              <a:t>It is a measure of ability of an amplifier to reject common mode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76" y="1358969"/>
            <a:ext cx="6070600" cy="746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124" dirty="0">
                <a:latin typeface="Times New Roman" pitchFamily="18" charset="0"/>
                <a:cs typeface="Times New Roman" pitchFamily="18" charset="0"/>
              </a:rPr>
              <a:t>Practical op-amp exhibits a very small common mode gain </a:t>
            </a:r>
            <a:r>
              <a:rPr lang="en-US" sz="2124" b="1" dirty="0">
                <a:latin typeface="Times New Roman" pitchFamily="18" charset="0"/>
                <a:cs typeface="Times New Roman" pitchFamily="18" charset="0"/>
              </a:rPr>
              <a:t>(&lt;1).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lum bright="-20000" contrast="40000"/>
          </a:blip>
          <a:srcRect/>
          <a:stretch>
            <a:fillRect/>
          </a:stretch>
        </p:blipFill>
        <p:spPr bwMode="auto">
          <a:xfrm>
            <a:off x="1723179" y="2124711"/>
            <a:ext cx="1625021" cy="708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lum bright="-20000" contrast="40000"/>
          </a:blip>
          <a:srcRect/>
          <a:stretch>
            <a:fillRect/>
          </a:stretch>
        </p:blipFill>
        <p:spPr bwMode="auto">
          <a:xfrm>
            <a:off x="1672590" y="2782359"/>
            <a:ext cx="2934123" cy="8610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3175" y="3736620"/>
            <a:ext cx="6070600" cy="746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124" dirty="0">
                <a:latin typeface="Times New Roman" pitchFamily="18" charset="0"/>
                <a:cs typeface="Times New Roman" pitchFamily="18" charset="0"/>
              </a:rPr>
              <a:t>It measure how much higher Open-loop gain with respect to common mode gain.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75" y="1214120"/>
            <a:ext cx="6070600" cy="1767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21" b="1" dirty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Open-Loop Voltage Gain</a:t>
            </a:r>
          </a:p>
          <a:p>
            <a:pPr algn="just"/>
            <a:endParaRPr lang="en-US" sz="1593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124" dirty="0">
                <a:latin typeface="Times New Roman" pitchFamily="18" charset="0"/>
                <a:cs typeface="Times New Roman" pitchFamily="18" charset="0"/>
              </a:rPr>
              <a:t>Ratio of output voltage to input voltage when there is no external component. It is the internal voltage gain. It is set entirely by the internal design.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202353"/>
            <a:ext cx="4966424" cy="419217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124" dirty="0">
                <a:latin typeface="Times New Roman" pitchFamily="18" charset="0"/>
                <a:cs typeface="Times New Roman" pitchFamily="18" charset="0"/>
              </a:rPr>
              <a:t>What does it mean by “CMRR is 100,000”?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75" y="1660522"/>
            <a:ext cx="6070600" cy="99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124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01. </a:t>
            </a:r>
            <a:r>
              <a:rPr lang="en-US" sz="1859" dirty="0">
                <a:latin typeface="Times New Roman" pitchFamily="18" charset="0"/>
                <a:cs typeface="Times New Roman" pitchFamily="18" charset="0"/>
              </a:rPr>
              <a:t>It means that the desired input signal (differential) is amplified 100,000 times more than the unwanted noise (common-mode)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75" y="2832947"/>
            <a:ext cx="6070600" cy="1563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124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02. </a:t>
            </a:r>
            <a:r>
              <a:rPr lang="en-US" sz="1859" dirty="0">
                <a:latin typeface="Times New Roman" pitchFamily="18" charset="0"/>
                <a:cs typeface="Times New Roman" pitchFamily="18" charset="0"/>
              </a:rPr>
              <a:t>If the amplitudes of the differential input signal and the common-mode noise are equal, the desired signal, the desired signal will be appeared on the output 100,000 times larger than common-mode noise.</a:t>
            </a:r>
          </a:p>
          <a:p>
            <a:pPr algn="ctr"/>
            <a:r>
              <a:rPr lang="en-US" sz="1859" dirty="0">
                <a:latin typeface="Times New Roman" pitchFamily="18" charset="0"/>
                <a:cs typeface="Times New Roman" pitchFamily="18" charset="0"/>
              </a:rPr>
              <a:t>Thus the noise/interference has been essentially eliminated.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lum bright="-20000" contrast="40000"/>
          </a:blip>
          <a:srcRect/>
          <a:stretch>
            <a:fillRect/>
          </a:stretch>
        </p:blipFill>
        <p:spPr bwMode="auto">
          <a:xfrm>
            <a:off x="3234634" y="859401"/>
            <a:ext cx="1625021" cy="708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413453" y="960578"/>
            <a:ext cx="1762662" cy="419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24" dirty="0">
                <a:latin typeface="Times New Roman" pitchFamily="18" charset="0"/>
                <a:cs typeface="Times New Roman" pitchFamily="18" charset="0"/>
              </a:rPr>
              <a:t>We know that: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4" grpId="0" build="allAtOnce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75" y="101177"/>
            <a:ext cx="6070600" cy="501035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56" dirty="0">
                <a:latin typeface="Comic Sans MS" pitchFamily="66" charset="0"/>
                <a:cs typeface="Times New Roman" pitchFamily="18" charset="0"/>
              </a:rPr>
              <a:t>Common mode input voltage range</a:t>
            </a:r>
            <a:endParaRPr lang="en-US" sz="2656" b="1" dirty="0">
              <a:latin typeface="Comic Sans MS" pitchFamily="66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lum bright="-20000" contrast="40000"/>
          </a:blip>
          <a:srcRect/>
          <a:stretch>
            <a:fillRect/>
          </a:stretch>
        </p:blipFill>
        <p:spPr bwMode="auto">
          <a:xfrm>
            <a:off x="27519" y="607060"/>
            <a:ext cx="5995668" cy="860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lum bright="-20000" contrast="40000"/>
          </a:blip>
          <a:srcRect/>
          <a:stretch>
            <a:fillRect/>
          </a:stretch>
        </p:blipFill>
        <p:spPr bwMode="auto">
          <a:xfrm>
            <a:off x="1217295" y="1669415"/>
            <a:ext cx="3490595" cy="2558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75" y="505883"/>
            <a:ext cx="6070600" cy="501035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56" dirty="0">
                <a:latin typeface="Comic Sans MS" pitchFamily="66" charset="0"/>
                <a:cs typeface="Times New Roman" pitchFamily="18" charset="0"/>
              </a:rPr>
              <a:t>Negative Feedback</a:t>
            </a:r>
            <a:endParaRPr lang="en-US" sz="2656" b="1" dirty="0"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1318472" y="1878527"/>
            <a:ext cx="758825" cy="80941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5"/>
          </a:p>
        </p:txBody>
      </p:sp>
      <p:sp>
        <p:nvSpPr>
          <p:cNvPr id="4" name="Rectangle 3"/>
          <p:cNvSpPr/>
          <p:nvPr/>
        </p:nvSpPr>
        <p:spPr>
          <a:xfrm>
            <a:off x="2886710" y="1827938"/>
            <a:ext cx="1416473" cy="8600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24" dirty="0">
                <a:solidFill>
                  <a:schemeClr val="tx1"/>
                </a:solidFill>
                <a:latin typeface="Comic Sans MS" pitchFamily="66" charset="0"/>
              </a:rPr>
              <a:t>Controller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127885" y="2283234"/>
            <a:ext cx="708237" cy="105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4303183" y="2283234"/>
            <a:ext cx="708237" cy="105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559647" y="2283234"/>
            <a:ext cx="708237" cy="105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rot="5400000">
            <a:off x="4151418" y="2789117"/>
            <a:ext cx="1011767" cy="1054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>
            <a:off x="1723179" y="3295000"/>
            <a:ext cx="2934123" cy="1054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5400000" flipH="1" flipV="1">
            <a:off x="1470237" y="3042059"/>
            <a:ext cx="505883" cy="105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Sun 10"/>
          <p:cNvSpPr/>
          <p:nvPr/>
        </p:nvSpPr>
        <p:spPr>
          <a:xfrm>
            <a:off x="5062009" y="1979703"/>
            <a:ext cx="657648" cy="607060"/>
          </a:xfrm>
          <a:prstGeom prst="su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5"/>
          </a:p>
        </p:txBody>
      </p:sp>
      <p:sp>
        <p:nvSpPr>
          <p:cNvPr id="12" name="TextBox 11"/>
          <p:cNvSpPr txBox="1"/>
          <p:nvPr/>
        </p:nvSpPr>
        <p:spPr>
          <a:xfrm>
            <a:off x="256117" y="1878527"/>
            <a:ext cx="694421" cy="378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59" dirty="0"/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8471" y="2097361"/>
            <a:ext cx="320922" cy="419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24" b="1" dirty="0"/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0237" y="2299715"/>
            <a:ext cx="521297" cy="419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24" b="1" dirty="0"/>
              <a:t>-/+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76170" y="1625585"/>
            <a:ext cx="855812" cy="378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59" dirty="0"/>
              <a:t>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8475" y="3295000"/>
            <a:ext cx="1101327" cy="378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59" dirty="0"/>
              <a:t>Feedback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ve 1"/>
          <p:cNvSpPr/>
          <p:nvPr/>
        </p:nvSpPr>
        <p:spPr>
          <a:xfrm>
            <a:off x="913765" y="151765"/>
            <a:ext cx="4350597" cy="1163532"/>
          </a:xfrm>
          <a:prstGeom prst="wav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0" b="1" dirty="0">
                <a:solidFill>
                  <a:schemeClr val="tx1"/>
                </a:solidFill>
                <a:latin typeface="Comic Sans MS" pitchFamily="66" charset="0"/>
              </a:rPr>
              <a:t>What is negative feedback?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lum bright="-20000" contrast="40000"/>
          </a:blip>
          <a:srcRect/>
          <a:stretch>
            <a:fillRect/>
          </a:stretch>
        </p:blipFill>
        <p:spPr bwMode="auto">
          <a:xfrm>
            <a:off x="711412" y="1561914"/>
            <a:ext cx="4730965" cy="2687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lum bright="-20000" contrast="40000"/>
          </a:blip>
          <a:srcRect/>
          <a:stretch>
            <a:fillRect/>
          </a:stretch>
        </p:blipFill>
        <p:spPr bwMode="auto">
          <a:xfrm>
            <a:off x="1166707" y="1112943"/>
            <a:ext cx="3820907" cy="2428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ve 1"/>
          <p:cNvSpPr/>
          <p:nvPr/>
        </p:nvSpPr>
        <p:spPr>
          <a:xfrm>
            <a:off x="812588" y="151765"/>
            <a:ext cx="4401185" cy="1163532"/>
          </a:xfrm>
          <a:prstGeom prst="wav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0" b="1" dirty="0">
                <a:solidFill>
                  <a:schemeClr val="tx1"/>
                </a:solidFill>
                <a:latin typeface="Comic Sans MS" pitchFamily="66" charset="0"/>
              </a:rPr>
              <a:t>Why use negative feedback?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76" y="1611910"/>
            <a:ext cx="6070600" cy="746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Font typeface="Wingdings" pitchFamily="2" charset="2"/>
              <a:buChar char="q"/>
            </a:pPr>
            <a:r>
              <a:rPr lang="en-US" sz="2124" dirty="0">
                <a:latin typeface="Times New Roman" pitchFamily="18" charset="0"/>
                <a:cs typeface="Times New Roman" pitchFamily="18" charset="0"/>
              </a:rPr>
              <a:t>  Gain is reduced and can be controlled so that the</a:t>
            </a:r>
          </a:p>
          <a:p>
            <a:pPr algn="ctr"/>
            <a:r>
              <a:rPr lang="en-US" sz="2124" dirty="0">
                <a:latin typeface="Times New Roman" pitchFamily="18" charset="0"/>
                <a:cs typeface="Times New Roman" pitchFamily="18" charset="0"/>
              </a:rPr>
              <a:t>op-amp can function as a linear amplifier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76" y="3136477"/>
            <a:ext cx="6070600" cy="746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Font typeface="Wingdings" pitchFamily="2" charset="2"/>
              <a:buChar char="q"/>
            </a:pPr>
            <a:r>
              <a:rPr lang="en-US" sz="2124" dirty="0">
                <a:latin typeface="Times New Roman" pitchFamily="18" charset="0"/>
                <a:cs typeface="Times New Roman" pitchFamily="18" charset="0"/>
              </a:rPr>
              <a:t>  Control of input &amp; output impedances amplifier bandwidth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71049" y="2361013"/>
            <a:ext cx="1818126" cy="7053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28" dirty="0">
                <a:latin typeface="Times New Roman" pitchFamily="18" charset="0"/>
                <a:cs typeface="Times New Roman" pitchFamily="18" charset="0"/>
              </a:rPr>
              <a:t>Non-inverting amplifier</a:t>
            </a:r>
          </a:p>
          <a:p>
            <a:r>
              <a:rPr lang="en-US" sz="1328" dirty="0">
                <a:latin typeface="Times New Roman" pitchFamily="18" charset="0"/>
                <a:cs typeface="Times New Roman" pitchFamily="18" charset="0"/>
              </a:rPr>
              <a:t>Voltage follower</a:t>
            </a:r>
          </a:p>
          <a:p>
            <a:r>
              <a:rPr lang="en-US" sz="1328" dirty="0">
                <a:latin typeface="Times New Roman" pitchFamily="18" charset="0"/>
                <a:cs typeface="Times New Roman" pitchFamily="18" charset="0"/>
              </a:rPr>
              <a:t>Inverting amplifier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lum bright="-20000" contrast="40000"/>
          </a:blip>
          <a:srcRect l="15920" t="82258" r="24378"/>
          <a:stretch>
            <a:fillRect/>
          </a:stretch>
        </p:blipFill>
        <p:spPr bwMode="auto">
          <a:xfrm>
            <a:off x="3089064" y="3541183"/>
            <a:ext cx="2483427" cy="910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Straight Arrow Connector 4"/>
          <p:cNvCxnSpPr/>
          <p:nvPr/>
        </p:nvCxnSpPr>
        <p:spPr>
          <a:xfrm rot="10800000">
            <a:off x="4030006" y="1417528"/>
            <a:ext cx="7284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801195" y="1261745"/>
            <a:ext cx="1233799" cy="337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93" dirty="0">
                <a:latin typeface="Times New Roman" pitchFamily="18" charset="0"/>
                <a:cs typeface="Times New Roman" pitchFamily="18" charset="0"/>
              </a:rPr>
              <a:t>0 - Vo = - 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94206" y="654685"/>
            <a:ext cx="1089401" cy="337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93" dirty="0">
                <a:latin typeface="Times New Roman" pitchFamily="18" charset="0"/>
                <a:cs typeface="Times New Roman" pitchFamily="18" charset="0"/>
              </a:rPr>
              <a:t>Vi – 0 = Vi</a:t>
            </a: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>
            <a:lum bright="-20000" contrast="40000"/>
          </a:blip>
          <a:srcRect l="25870" t="30645" r="32338" b="46774"/>
          <a:stretch>
            <a:fillRect/>
          </a:stretch>
        </p:blipFill>
        <p:spPr bwMode="auto">
          <a:xfrm>
            <a:off x="3266122" y="2225887"/>
            <a:ext cx="2048828" cy="1365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2">
            <a:lum bright="-20000" contrast="40000"/>
          </a:blip>
          <a:srcRect l="37810" r="42289" b="91935"/>
          <a:stretch>
            <a:fillRect/>
          </a:stretch>
        </p:blipFill>
        <p:spPr bwMode="auto">
          <a:xfrm>
            <a:off x="3746712" y="1770592"/>
            <a:ext cx="1112943" cy="556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2">
            <a:lum bright="-20000" contrast="40000"/>
          </a:blip>
          <a:srcRect l="15920" t="11291" r="60199" b="75806"/>
          <a:stretch>
            <a:fillRect/>
          </a:stretch>
        </p:blipFill>
        <p:spPr bwMode="auto">
          <a:xfrm>
            <a:off x="2684357" y="354118"/>
            <a:ext cx="1062355" cy="708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2">
            <a:lum bright="-20000" contrast="40000"/>
          </a:blip>
          <a:srcRect l="45771" t="11291" r="22388" b="75806"/>
          <a:stretch>
            <a:fillRect/>
          </a:stretch>
        </p:blipFill>
        <p:spPr bwMode="auto">
          <a:xfrm>
            <a:off x="2734945" y="1062355"/>
            <a:ext cx="1315297" cy="657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8" name="Straight Arrow Connector 17"/>
          <p:cNvCxnSpPr/>
          <p:nvPr/>
        </p:nvCxnSpPr>
        <p:spPr>
          <a:xfrm rot="10800000">
            <a:off x="3726476" y="809413"/>
            <a:ext cx="103200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3">
            <a:lum bright="-20000" contrast="40000"/>
          </a:blip>
          <a:srcRect t="50612" b="5306"/>
          <a:stretch>
            <a:fillRect/>
          </a:stretch>
        </p:blipFill>
        <p:spPr bwMode="auto">
          <a:xfrm>
            <a:off x="53763" y="556472"/>
            <a:ext cx="2542766" cy="1669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0" name="TextBox 29"/>
          <p:cNvSpPr txBox="1"/>
          <p:nvPr/>
        </p:nvSpPr>
        <p:spPr>
          <a:xfrm>
            <a:off x="1028291" y="989358"/>
            <a:ext cx="349776" cy="255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62" dirty="0">
                <a:latin typeface="Times New Roman" pitchFamily="18" charset="0"/>
                <a:cs typeface="Times New Roman" pitchFamily="18" charset="0"/>
              </a:rPr>
              <a:t>0A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853" y="1292888"/>
            <a:ext cx="349776" cy="255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62" dirty="0">
                <a:latin typeface="Times New Roman" pitchFamily="18" charset="0"/>
                <a:cs typeface="Times New Roman" pitchFamily="18" charset="0"/>
              </a:rPr>
              <a:t>0V</a:t>
            </a: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1180056" y="1191711"/>
            <a:ext cx="151765" cy="105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175" y="0"/>
            <a:ext cx="6070600" cy="541815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921" dirty="0">
                <a:latin typeface="Times New Roman" pitchFamily="18" charset="0"/>
                <a:cs typeface="Times New Roman" pitchFamily="18" charset="0"/>
              </a:rPr>
              <a:t>Integrator</a:t>
            </a: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4">
            <a:lum bright="-20000" contrast="40000"/>
          </a:blip>
          <a:srcRect/>
          <a:stretch>
            <a:fillRect/>
          </a:stretch>
        </p:blipFill>
        <p:spPr bwMode="auto">
          <a:xfrm>
            <a:off x="449895" y="2499970"/>
            <a:ext cx="2550189" cy="1672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lum bright="-20000" contrast="40000"/>
          </a:blip>
          <a:srcRect/>
          <a:stretch>
            <a:fillRect/>
          </a:stretch>
        </p:blipFill>
        <p:spPr bwMode="auto">
          <a:xfrm>
            <a:off x="306705" y="101177"/>
            <a:ext cx="5564717" cy="2287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lum bright="-20000" contrast="40000"/>
          </a:blip>
          <a:srcRect/>
          <a:stretch>
            <a:fillRect/>
          </a:stretch>
        </p:blipFill>
        <p:spPr bwMode="auto">
          <a:xfrm>
            <a:off x="660823" y="2478829"/>
            <a:ext cx="4805892" cy="19629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lum bright="-20000" contrast="40000"/>
          </a:blip>
          <a:srcRect/>
          <a:stretch>
            <a:fillRect/>
          </a:stretch>
        </p:blipFill>
        <p:spPr bwMode="auto">
          <a:xfrm>
            <a:off x="913765" y="354118"/>
            <a:ext cx="3838390" cy="2365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lum bright="-20000" contrast="40000"/>
          </a:blip>
          <a:srcRect/>
          <a:stretch>
            <a:fillRect/>
          </a:stretch>
        </p:blipFill>
        <p:spPr bwMode="auto">
          <a:xfrm>
            <a:off x="256117" y="2984712"/>
            <a:ext cx="5652472" cy="75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lum bright="-20000" contrast="40000"/>
          </a:blip>
          <a:srcRect/>
          <a:stretch>
            <a:fillRect/>
          </a:stretch>
        </p:blipFill>
        <p:spPr bwMode="auto">
          <a:xfrm>
            <a:off x="207728" y="505883"/>
            <a:ext cx="3134277" cy="1922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lum bright="-20000" contrast="40000"/>
          </a:blip>
          <a:srcRect l="9113" t="32381" r="62031" b="48571"/>
          <a:stretch>
            <a:fillRect/>
          </a:stretch>
        </p:blipFill>
        <p:spPr bwMode="auto">
          <a:xfrm>
            <a:off x="3746712" y="758825"/>
            <a:ext cx="1153414" cy="607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4">
            <a:lum bright="-20000" contrast="40000"/>
          </a:blip>
          <a:srcRect l="37810" t="733" r="45003" b="93401"/>
          <a:stretch>
            <a:fillRect/>
          </a:stretch>
        </p:blipFill>
        <p:spPr bwMode="auto">
          <a:xfrm>
            <a:off x="1217296" y="2443416"/>
            <a:ext cx="961178" cy="4047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lum bright="-20000" contrast="40000"/>
          </a:blip>
          <a:srcRect l="52270" t="28889" r="14064" b="46666"/>
          <a:stretch>
            <a:fillRect/>
          </a:stretch>
        </p:blipFill>
        <p:spPr bwMode="auto">
          <a:xfrm>
            <a:off x="3746712" y="1467062"/>
            <a:ext cx="1223318" cy="708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lum bright="-20000" contrast="40000"/>
          </a:blip>
          <a:srcRect l="21263" t="65294" r="25581"/>
          <a:stretch>
            <a:fillRect/>
          </a:stretch>
        </p:blipFill>
        <p:spPr bwMode="auto">
          <a:xfrm>
            <a:off x="863177" y="3657536"/>
            <a:ext cx="1720004" cy="895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lum bright="-20000" contrast="40000"/>
          </a:blip>
          <a:srcRect l="24300" t="32381" r="62031" b="48571"/>
          <a:stretch>
            <a:fillRect/>
          </a:stretch>
        </p:blipFill>
        <p:spPr bwMode="auto">
          <a:xfrm>
            <a:off x="964354" y="2949299"/>
            <a:ext cx="546354" cy="607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lum bright="-20000" contrast="40000"/>
          </a:blip>
          <a:srcRect l="60623" t="28889" r="14064" b="46666"/>
          <a:stretch>
            <a:fillRect/>
          </a:stretch>
        </p:blipFill>
        <p:spPr bwMode="auto">
          <a:xfrm>
            <a:off x="1511628" y="2898711"/>
            <a:ext cx="919788" cy="708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5">
            <a:lum bright="-20000" contrast="40000"/>
          </a:blip>
          <a:srcRect/>
          <a:stretch>
            <a:fillRect/>
          </a:stretch>
        </p:blipFill>
        <p:spPr bwMode="auto">
          <a:xfrm>
            <a:off x="3212602" y="2731770"/>
            <a:ext cx="2810585" cy="17200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3175" y="50589"/>
            <a:ext cx="6070600" cy="541815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921" dirty="0">
                <a:latin typeface="Times New Roman" pitchFamily="18" charset="0"/>
                <a:cs typeface="Times New Roman" pitchFamily="18" charset="0"/>
              </a:rPr>
              <a:t>Differentiator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lum bright="-20000" contrast="40000"/>
          </a:blip>
          <a:srcRect/>
          <a:stretch>
            <a:fillRect/>
          </a:stretch>
        </p:blipFill>
        <p:spPr bwMode="auto">
          <a:xfrm>
            <a:off x="235121" y="50588"/>
            <a:ext cx="5686889" cy="207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lum bright="-20000" contrast="40000"/>
          </a:blip>
          <a:srcRect/>
          <a:stretch>
            <a:fillRect/>
          </a:stretch>
        </p:blipFill>
        <p:spPr bwMode="auto">
          <a:xfrm>
            <a:off x="1419648" y="2074617"/>
            <a:ext cx="3490595" cy="2377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372</Words>
  <Application>Microsoft Office PowerPoint</Application>
  <PresentationFormat>Custom</PresentationFormat>
  <Paragraphs>72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arial</vt:lpstr>
      <vt:lpstr>Calibri</vt:lpstr>
      <vt:lpstr>Comic Sans MS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sahariar pollob</cp:lastModifiedBy>
  <cp:revision>5</cp:revision>
  <dcterms:created xsi:type="dcterms:W3CDTF">2013-01-27T09:14:16Z</dcterms:created>
  <dcterms:modified xsi:type="dcterms:W3CDTF">2024-03-25T05:56:06Z</dcterms:modified>
  <cp:category/>
</cp:coreProperties>
</file>